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Lst>
  <p:sldSz cy="5143500" cx="9144000"/>
  <p:notesSz cx="6858000" cy="9144000"/>
  <p:embeddedFontLst>
    <p:embeddedFont>
      <p:font typeface="Raleway"/>
      <p:regular r:id="rId119"/>
      <p:bold r:id="rId120"/>
      <p:italic r:id="rId121"/>
      <p:boldItalic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121" Type="http://schemas.openxmlformats.org/officeDocument/2006/relationships/font" Target="fonts/Raleway-italic.fntdata"/><Relationship Id="rId25" Type="http://schemas.openxmlformats.org/officeDocument/2006/relationships/slide" Target="slides/slide21.xml"/><Relationship Id="rId120" Type="http://schemas.openxmlformats.org/officeDocument/2006/relationships/font" Target="fonts/Raleway-bold.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22" Type="http://schemas.openxmlformats.org/officeDocument/2006/relationships/font" Target="fonts/Raleway-boldItalic.fntdata"/><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9" Type="http://schemas.openxmlformats.org/officeDocument/2006/relationships/font" Target="fonts/Raleway-regular.fntdata"/><Relationship Id="rId15" Type="http://schemas.openxmlformats.org/officeDocument/2006/relationships/slide" Target="slides/slide11.xml"/><Relationship Id="rId110" Type="http://schemas.openxmlformats.org/officeDocument/2006/relationships/slide" Target="slides/slide106.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14" Type="http://schemas.openxmlformats.org/officeDocument/2006/relationships/slide" Target="slides/slide110.xml"/><Relationship Id="rId18" Type="http://schemas.openxmlformats.org/officeDocument/2006/relationships/slide" Target="slides/slide14.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74efaa2a6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74efaa2a6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dk1"/>
                </a:solidFill>
              </a:rPr>
              <a:t>[PRESENTACIÓN GENERAL DEL GRUPO]</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rPr>
              <a:t>El objetivo principal de esta prueba de concepto es analizar y comparar tres tecnologías ORM utilizadas dentro del ecosistema de JavaScript y TypeScript: Prisma, MikroORM y Drizzle ORM. Con el fin de ofrecer un marco de decisión aplicable a proyectos reales de software, la investigación no se limita a describir las herramientas de manera aislada, sino que articula el análisis en torno a cuatro bloques o ejes fundamentales de evaluación que vamos a explicar más adelante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ba07d2dfa_2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ba07d2dfa_2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dk1"/>
                </a:solidFill>
              </a:rPr>
              <a:t>En una aplicación moderna, los datos se manipulan utilizando las estructuras propias del lenguaje de programación. En JavaScript o TypeScript, por ejemplo, se trabaja con objetos, clases, propiedades y arreglos para representar la información del sistema. Sin embargo, cuando esa información debe almacenarse de manera persistente, normalmente se recurre a una base de datos relacional cuya forma de organización es tabular (tablas, filas, columnas, claves primarias y foráneas).</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s" sz="1300">
                <a:solidFill>
                  <a:schemeClr val="dk1"/>
                </a:solidFill>
              </a:rPr>
              <a:t>Como consecuencia, los desarrolladores históricamente debían realizar de forma manual una conversión constante entre ambos entornos: traducir filas de la base de datos a objetos en memoria y, a la inversa, transformar los cambios de la aplicación en sentencias SQL (INSERT, UPDATE, DELETE). Es precisamente esta fricción y la sobrecarga de código repetitivo lo que los ORM buscan simplificar.</a:t>
            </a:r>
            <a:endParaRPr sz="13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ba07d2dfa_2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ba07d2dfa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dk1"/>
                </a:solidFill>
              </a:rPr>
              <a:t>Esto genera un conflicto estructural conocido como desfase objeto-relacional (Object-Relational Impedance Mismatch).</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s" sz="1300">
                <a:solidFill>
                  <a:schemeClr val="dk1"/>
                </a:solidFill>
              </a:rPr>
              <a:t>Como consecuencia, los desarrolladores históricamente debían asumir una enorme sobrecarga de código repetitivo para realizar esta conversión de forma manual: transformar filas en objetos y construir cada sentencia SQL (INSERT, UPDATE, DELETE) manualmente.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s" sz="1300">
                <a:solidFill>
                  <a:schemeClr val="dk1"/>
                </a:solidFill>
              </a:rPr>
              <a:t>Este enfoque no solo ralentizaba el desarrollo, sino que representaba una fuente crítica de errores en tiempo de ejecución, ya que cualquier errata en el nombre de una columna, un desajuste en los tipos de datos o un parámetro mal posicionado pasaba inadvertido en desarrollo y hacía fallar la aplicación recién en producción.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ba07d2dfa_2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ba07d2dfa_2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300">
                <a:solidFill>
                  <a:schemeClr val="dk1"/>
                </a:solidFill>
              </a:rPr>
              <a:t>Un ORM (Object-Relational Mapping) es una capa intermedia entre la aplicación y el motor de base de datos que automatiza la correspondencia entre las estructuras del código y los registros de persistencia. De esta forma, el desarrollador interactúa con la base de datos mediante entidades y métodos nativos del lenguaje.</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rPr>
              <a:t>Es crucial destacar que utilizar un ORM no significa que SQL desaparezca. La base de datos continúa procesando sentencias SQL tradicionales; lo que cambia es que el desarrollador delega la construcción, ejecución, parametrización y mapeo de esas consultas a una interfaz de alto nivel más segura y mantenible.</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6a5ff23f8518624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6a5ff23f8518624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ba07d2dfa_2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ba07d2dfa_2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ba07d2dfa_2_1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ba07d2dfa_2_1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Clr>
                <a:schemeClr val="dk1"/>
              </a:buClr>
              <a:buSzPts val="1100"/>
              <a:buFont typeface="Arial"/>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Implementación y demostración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VAMOS A HABLAR DE ESTO MAS ADELANTE</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Clr>
                <a:schemeClr val="dk1"/>
              </a:buClr>
              <a:buSzPts val="1100"/>
              <a:buFont typeface="Arial"/>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ba07d2dfa_2_1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ba07d2dfa_2_1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92ef9b4d161b9a3_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h92ef9b4d161b9a3_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a48d0a6c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a48d0a6c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a48d0a6c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a48d0a6c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a48d0a6c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a48d0a6c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a48d0a6c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a48d0a6c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a48d0a6c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a48d0a6c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a48d0a6c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a48d0a6c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a48d0a6c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a48d0a6c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74efaa2a6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74efaa2a6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16c1ea4f3a31c382_2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16c1ea4f3a31c382_2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5fbb8a2397861ef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5fbb8a2397861e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ba07d2dfa_2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8ba07d2dfa_2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74efaa2a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74efaa2a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696a2d4bbb0dc7c6_2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696a2d4bbb0dc7c6_2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74efaa2a6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74efaa2a6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a48d0a6c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fa48d0a6c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696a2d4bbb0dc7c6_22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696a2d4bbb0dc7c6_22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a48d0a6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a48d0a6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a9cab6615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a9cab6615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a9cab6615_8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fa9cab6615_8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30848607e0f05a8c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h30848607e0f05a8c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a9cab6615_2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fa9cab6615_2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3b6391733f20b6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h3b6391733f20b6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ba07d2dfa_2_1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8ba07d2dfa_2_1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74efaa2a6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74efaa2a6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74efaa2a6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f74efaa2a6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74efaa2a6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74efaa2a6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h16c1ea4f3a31c382_24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h16c1ea4f3a31c382_24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16c1ea4f3a31c382_24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h16c1ea4f3a31c382_24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16c1ea4f3a31c382_24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h16c1ea4f3a31c382_24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h16c1ea4f3a31c382_24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h16c1ea4f3a31c382_24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4e35e7dc016297fd_7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4e35e7dc016297fd_7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5fbb8a2397861ef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h5fbb8a2397861ef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5fbb8a2397861ef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5fbb8a2397861ef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h5fbb8a2397861ef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h5fbb8a2397861ef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74efaa2a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f74efaa2a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a48d0a6c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fa48d0a6c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fa48d0a6c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fa48d0a6c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fa48d0a6c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fa48d0a6c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fa48d0a6c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fa48d0a6c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fa48d0a6c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fa48d0a6c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fa48d0a6c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fa48d0a6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8ba07d2dfa_2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8ba07d2dfa_2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f74efaa2a6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f74efaa2a6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a48d0a6c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fa48d0a6c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a48d0a6c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fa48d0a6c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30848607e0f05a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h30848607e0f05a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h30848607e0f05a8c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h30848607e0f05a8c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h30848607e0f05a8c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h30848607e0f05a8c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8ba07d2dfa_2_1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8ba07d2dfa_2_1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3b6177f4eda2fb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h3b6177f4eda2fb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h3b6177f4eda2fb10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h3b6177f4eda2fb10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h696a2d4bbb0dc7c6_22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h696a2d4bbb0dc7c6_22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h696a2d4bbb0dc7c6_2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h696a2d4bbb0dc7c6_2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696a2d4bbb0dc7c6_2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h696a2d4bbb0dc7c6_2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f74efaa2a6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f74efaa2a6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h696a2d4bbb0dc7c6_2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h696a2d4bbb0dc7c6_2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h696a2d4bbb0dc7c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h696a2d4bbb0dc7c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h696a2d4bbb0dc7c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h696a2d4bbb0dc7c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h696a2d4bbb0dc7c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h696a2d4bbb0dc7c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h696a2d4bbb0dc7c6_2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h696a2d4bbb0dc7c6_2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h2c94c7eb97eebad1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h2c94c7eb97eebad1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h696a2d4bbb0dc7c6_2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h696a2d4bbb0dc7c6_2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h2c94c7eb97eebad1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h2c94c7eb97eebad1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h696a2d4bbb0dc7c6_2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h696a2d4bbb0dc7c6_2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h2c94c7eb97eebad1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h2c94c7eb97eebad1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h696a2d4bbb0dc7c6_2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h696a2d4bbb0dc7c6_2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h2c94c7eb97eebad1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h2c94c7eb97eebad1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h696a2d4bbb0dc7c6_2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h696a2d4bbb0dc7c6_2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h696a2d4bbb0dc7c6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h696a2d4bbb0dc7c6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h696a2d4bbb0dc7c6_2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h696a2d4bbb0dc7c6_2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h2c94c7eb97eebad1_6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h2c94c7eb97eebad1_6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h696a2d4bbb0dc7c6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h696a2d4bbb0dc7c6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h696a2d4bbb0dc7c6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h696a2d4bbb0dc7c6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h696a2d4bbb0dc7c6_22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h696a2d4bbb0dc7c6_2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h2c94c7eb97eebad1_6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h2c94c7eb97eebad1_6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h2c94c7eb97eebad1_6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h2c94c7eb97eebad1_6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h2c94c7eb97eebad1_6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h2c94c7eb97eebad1_6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h696a2d4bbb0dc7c6_2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h696a2d4bbb0dc7c6_2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696a2d4bbb0dc7c6_2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h696a2d4bbb0dc7c6_2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h2c94c7eb97eebad1_6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h2c94c7eb97eebad1_6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h2c94c7eb97eebad1_6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h2c94c7eb97eebad1_6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h2c94c7eb97eebad1_6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h2c94c7eb97eebad1_6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h696a2d4bbb0dc7c6_22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h696a2d4bbb0dc7c6_2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h696a2d4bbb0dc7c6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h696a2d4bbb0dc7c6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h696a2d4bbb0dc7c6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h696a2d4bbb0dc7c6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h696a2d4bbb0dc7c6_22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h696a2d4bbb0dc7c6_2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h2c94c7eb97eebad1_6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h2c94c7eb97eebad1_6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h2c94c7eb97eebad1_6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h2c94c7eb97eebad1_6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h696a2d4bbb0dc7c6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h696a2d4bbb0dc7c6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h696a2d4bbb0dc7c6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h696a2d4bbb0dc7c6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696a2d4bbb0dc7c6_22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h696a2d4bbb0dc7c6_22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h696a2d4bbb0dc7c6_2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h696a2d4bbb0dc7c6_2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h696a2d4bbb0dc7c6_2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h696a2d4bbb0dc7c6_2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696a2d4bbb0dc7c6_2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h696a2d4bbb0dc7c6_2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h696a2d4bbb0dc7c6_2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h696a2d4bbb0dc7c6_2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696a2d4bbb0dc7c6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h696a2d4bbb0dc7c6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h696a2d4bbb0dc7c6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h696a2d4bbb0dc7c6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h696a2d4bbb0dc7c6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h696a2d4bbb0dc7c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696a2d4bbb0dc7c6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h696a2d4bbb0dc7c6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8ba07d2dfa_2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38ba07d2dfa_2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Para llevar a cabo una evaluación exhaustiva, objetiva y reproducible de las tecnologías seleccionadas, el presente informe estructura su análisis y desarrollo en seis bloques fundamentales:</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Presentación de cada tecnología: el año de surgimiento de cada una y el contexto de la industria en el que aparecieron.</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No Técnicos (Ecosistema y Comunidad): Evalúa el respaldo comunitario de cada ORM (métricas de estrellas en GitHub, volumen de descargas mensuales en npm y actividad en sus canales oficiales de Discord), los circuitos y metodologías para el reporte y resolución de bugs (procesos de triaje, diagnóstico de componentes, pruebas de regresión y canales de soporte), la documentación y la curva de aprendizaje exigida a los desarrolladores en función de sus conocimientos previos en SQL, JavaScript y TypeScript.</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Factores Técnicos (Arquitectura y Rendimiento): y otras cosas como el peso final del paquete</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Mercado Laboral y Empleabilidad: Analiza la inserción de cada ORM en la industria tecnológica contemporánea. Se identifica el perfil de las organizaciones que demandan cada tecnología y se evalúa si su conocimiento constituye un estándar de mercado prioritario o un valor agregado diferencial en el perfil profesional.</a:t>
            </a:r>
            <a:endParaRPr sz="1300">
              <a:solidFill>
                <a:schemeClr val="dk1"/>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Validación Práctica (PoC): </a:t>
            </a:r>
            <a:r>
              <a:rPr b="1" lang="es" sz="1300">
                <a:solidFill>
                  <a:srgbClr val="FF0000"/>
                </a:solidFill>
              </a:rPr>
              <a:t>Comprende el diseño y la implementación de un caso de uso común sobre un modelo de datos relacional para resolver de forma equivalente las operaciones cotidianas de un sistema real. ACA VOY A EXPLICAR QUE SE HACE HACE FALTA DETERMINARLO</a:t>
            </a:r>
            <a:endParaRPr b="1" sz="1300">
              <a:solidFill>
                <a:srgbClr val="FF0000"/>
              </a:solidFill>
            </a:endParaRPr>
          </a:p>
          <a:p>
            <a:pPr indent="-311150" lvl="0" marL="457200" rtl="0" algn="l">
              <a:lnSpc>
                <a:spcPct val="138000"/>
              </a:lnSpc>
              <a:spcBef>
                <a:spcPts val="0"/>
              </a:spcBef>
              <a:spcAft>
                <a:spcPts val="0"/>
              </a:spcAft>
              <a:buClr>
                <a:schemeClr val="dk1"/>
              </a:buClr>
              <a:buSzPts val="1300"/>
              <a:buAutoNum type="arabicPeriod"/>
            </a:pPr>
            <a:r>
              <a:rPr lang="es" sz="1300">
                <a:solidFill>
                  <a:schemeClr val="dk1"/>
                </a:solidFill>
              </a:rPr>
              <a:t>Conclusiones y Veredicto Final: Presenta un balance crítico de ventajas, desventajas identificados en cada tecnología, proporcionando una matriz de decisión orientada a determinar qué herramienta resulta más conveniente adoptar según las prioridades de rendimiento, arquitectura y equipo de un proyecto determinado.</a:t>
            </a:r>
            <a:endParaRPr sz="1300">
              <a:solidFill>
                <a:schemeClr val="dk1"/>
              </a:solidFill>
            </a:endParaRPr>
          </a:p>
          <a:p>
            <a:pPr indent="0" lvl="0" marL="0" rtl="0" algn="l">
              <a:lnSpc>
                <a:spcPct val="138000"/>
              </a:lnSpc>
              <a:spcBef>
                <a:spcPts val="0"/>
              </a:spcBef>
              <a:spcAft>
                <a:spcPts val="0"/>
              </a:spcAft>
              <a:buNone/>
            </a:pPr>
            <a:r>
              <a:t/>
            </a:r>
            <a:endParaRPr sz="1300">
              <a:solidFill>
                <a:schemeClr val="dk1"/>
              </a:solidFill>
            </a:endParaRPr>
          </a:p>
          <a:p>
            <a:pPr indent="0" lvl="0" marL="0" rtl="0" algn="l">
              <a:lnSpc>
                <a:spcPct val="138000"/>
              </a:lnSpc>
              <a:spcBef>
                <a:spcPts val="0"/>
              </a:spcBef>
              <a:spcAft>
                <a:spcPts val="0"/>
              </a:spcAft>
              <a:buNone/>
            </a:pPr>
            <a:r>
              <a:rPr lang="es" sz="1300">
                <a:solidFill>
                  <a:schemeClr val="dk1"/>
                </a:solidFill>
              </a:rPr>
              <a:t>A través de esta metodología integral, la investigación busca proporcionar un criterio fundamentado y aplicable para la toma de decisiones técnicas en entornos de desarrollo reales.</a:t>
            </a:r>
            <a:endParaRPr sz="1300">
              <a:solidFill>
                <a:schemeClr val="dk1"/>
              </a:solidFil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f74efaa2a6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f74efaa2a6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h642ecef25ec17607_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h642ecef25ec17607_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h642ecef25ec17607_3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h642ecef25ec17607_3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h642ecef25ec17607_36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h642ecef25ec17607_36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h696a2d4bbb0dc7c6_3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h696a2d4bbb0dc7c6_3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dk1"/>
                </a:solidFill>
              </a:rPr>
              <a:t>[PRESENTACIÓN GENERAL DEL GRUPO]</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300">
                <a:solidFill>
                  <a:schemeClr val="dk1"/>
                </a:solidFill>
              </a:rPr>
              <a:t>El objetivo principal de esta prueba de concepto es analizar y comparar tres tecnologías ORM utilizadas dentro del ecosistema de JavaScript y TypeScript: Prisma, MikroORM y Drizzle ORM. Con el fin de ofrecer un marco de decisión aplicable a proyectos reales de software, la investigación no se limita a describir las herramientas de manera aislada, sino que articula el análisis en torno a cuatro bloques o ejes fundamentales de evaluación que vamos a explicar más adelante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3b6177f4eda2fb10_31_0)">
  <p:cSld name="Generated (h3b6177f4eda2fb10_31_0)">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hyperlink" Target="http://next.j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8.pn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3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3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3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3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4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3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3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4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4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4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5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5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5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5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4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5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4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5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5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5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5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5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6.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8" name="Shape 58"/>
        <p:cNvGrpSpPr/>
        <p:nvPr/>
      </p:nvGrpSpPr>
      <p:grpSpPr>
        <a:xfrm>
          <a:off x="0" y="0"/>
          <a:ext cx="0" cy="0"/>
          <a:chOff x="0" y="0"/>
          <a:chExt cx="0" cy="0"/>
        </a:xfrm>
      </p:grpSpPr>
      <p:sp>
        <p:nvSpPr>
          <p:cNvPr id="59" name="Google Shape;59;p14"/>
          <p:cNvSpPr/>
          <p:nvPr/>
        </p:nvSpPr>
        <p:spPr>
          <a:xfrm>
            <a:off x="0" y="1744025"/>
            <a:ext cx="9144000" cy="33996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0" name="Google Shape;60;p14"/>
          <p:cNvSpPr txBox="1"/>
          <p:nvPr/>
        </p:nvSpPr>
        <p:spPr>
          <a:xfrm>
            <a:off x="3074400" y="448275"/>
            <a:ext cx="2995200" cy="8772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s" sz="4500">
                <a:solidFill>
                  <a:schemeClr val="lt1"/>
                </a:solidFill>
                <a:latin typeface="Source Sans Pro"/>
                <a:ea typeface="Source Sans Pro"/>
                <a:cs typeface="Source Sans Pro"/>
                <a:sym typeface="Source Sans Pro"/>
              </a:rPr>
              <a:t>POC ORM</a:t>
            </a:r>
            <a:endParaRPr b="1" sz="4500">
              <a:solidFill>
                <a:schemeClr val="lt1"/>
              </a:solidFill>
              <a:latin typeface="Source Sans Pro"/>
              <a:ea typeface="Source Sans Pro"/>
              <a:cs typeface="Source Sans Pro"/>
              <a:sym typeface="Source Sans Pro"/>
            </a:endParaRPr>
          </a:p>
        </p:txBody>
      </p:sp>
      <p:sp>
        <p:nvSpPr>
          <p:cNvPr id="61" name="Google Shape;61;p14"/>
          <p:cNvSpPr txBox="1"/>
          <p:nvPr/>
        </p:nvSpPr>
        <p:spPr>
          <a:xfrm>
            <a:off x="1378625" y="3307450"/>
            <a:ext cx="2796600" cy="15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lt1"/>
                </a:solidFill>
                <a:latin typeface="Source Sans Pro"/>
                <a:ea typeface="Source Sans Pro"/>
                <a:cs typeface="Source Sans Pro"/>
                <a:sym typeface="Source Sans Pro"/>
              </a:rPr>
              <a:t>53742 - Nicolás Bolzico</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000">
                <a:solidFill>
                  <a:schemeClr val="lt1"/>
                </a:solidFill>
                <a:latin typeface="Source Sans Pro"/>
                <a:ea typeface="Source Sans Pro"/>
                <a:cs typeface="Source Sans Pro"/>
                <a:sym typeface="Source Sans Pro"/>
              </a:rPr>
              <a:t>53952 - Martín Cabrera</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000">
                <a:solidFill>
                  <a:schemeClr val="lt1"/>
                </a:solidFill>
                <a:latin typeface="Source Sans Pro"/>
                <a:ea typeface="Source Sans Pro"/>
                <a:cs typeface="Source Sans Pro"/>
                <a:sym typeface="Source Sans Pro"/>
              </a:rPr>
              <a:t>52285 - Agustín Gregoret</a:t>
            </a:r>
            <a:endParaRPr sz="2000">
              <a:solidFill>
                <a:schemeClr val="lt1"/>
              </a:solidFill>
              <a:latin typeface="Source Sans Pro"/>
              <a:ea typeface="Source Sans Pro"/>
              <a:cs typeface="Source Sans Pro"/>
              <a:sym typeface="Source Sans Pro"/>
            </a:endParaRPr>
          </a:p>
        </p:txBody>
      </p:sp>
      <p:sp>
        <p:nvSpPr>
          <p:cNvPr id="62" name="Google Shape;62;p14"/>
          <p:cNvSpPr txBox="1"/>
          <p:nvPr/>
        </p:nvSpPr>
        <p:spPr>
          <a:xfrm>
            <a:off x="4851207" y="3307450"/>
            <a:ext cx="2874900" cy="1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lt1"/>
                </a:solidFill>
                <a:latin typeface="Source Sans Pro"/>
                <a:ea typeface="Source Sans Pro"/>
                <a:cs typeface="Source Sans Pro"/>
                <a:sym typeface="Source Sans Pro"/>
              </a:rPr>
              <a:t>54326- Roque Doino</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000">
                <a:solidFill>
                  <a:schemeClr val="lt1"/>
                </a:solidFill>
                <a:latin typeface="Source Sans Pro"/>
                <a:ea typeface="Source Sans Pro"/>
                <a:cs typeface="Source Sans Pro"/>
                <a:sym typeface="Source Sans Pro"/>
              </a:rPr>
              <a:t>54689- Juan Pablo Villa</a:t>
            </a:r>
            <a:endParaRPr sz="2000">
              <a:solidFill>
                <a:schemeClr val="lt1"/>
              </a:solidFill>
              <a:latin typeface="Source Sans Pro"/>
              <a:ea typeface="Source Sans Pro"/>
              <a:cs typeface="Source Sans Pro"/>
              <a:sym typeface="Source Sans Pro"/>
            </a:endParaRPr>
          </a:p>
        </p:txBody>
      </p:sp>
      <p:sp>
        <p:nvSpPr>
          <p:cNvPr id="63" name="Google Shape;63;p14"/>
          <p:cNvSpPr/>
          <p:nvPr/>
        </p:nvSpPr>
        <p:spPr>
          <a:xfrm>
            <a:off x="5283796" y="1956150"/>
            <a:ext cx="2009700" cy="1231200"/>
          </a:xfrm>
          <a:prstGeom prst="rect">
            <a:avLst/>
          </a:prstGeom>
          <a:noFill/>
          <a:ln cap="flat" cmpd="sng" w="38100">
            <a:solidFill>
              <a:srgbClr val="C5F74F"/>
            </a:solidFill>
            <a:prstDash val="solid"/>
            <a:round/>
            <a:headEnd len="sm" w="sm" type="none"/>
            <a:tailEnd len="sm" w="sm" type="none"/>
          </a:ln>
        </p:spPr>
        <p:txBody>
          <a:bodyPr anchorCtr="0" anchor="b"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Raleway"/>
                <a:ea typeface="Raleway"/>
                <a:cs typeface="Raleway"/>
                <a:sym typeface="Raleway"/>
              </a:rPr>
              <a:t>DRIZZLE</a:t>
            </a:r>
            <a:endParaRPr sz="3100">
              <a:solidFill>
                <a:schemeClr val="lt1"/>
              </a:solidFill>
              <a:latin typeface="Source Sans Pro"/>
              <a:ea typeface="Source Sans Pro"/>
              <a:cs typeface="Source Sans Pro"/>
              <a:sym typeface="Source Sans Pro"/>
            </a:endParaRPr>
          </a:p>
        </p:txBody>
      </p:sp>
      <p:grpSp>
        <p:nvGrpSpPr>
          <p:cNvPr id="64" name="Google Shape;64;p14"/>
          <p:cNvGrpSpPr/>
          <p:nvPr/>
        </p:nvGrpSpPr>
        <p:grpSpPr>
          <a:xfrm>
            <a:off x="1802978" y="1956149"/>
            <a:ext cx="1947900" cy="1231200"/>
            <a:chOff x="590925" y="1908362"/>
            <a:chExt cx="1947900" cy="1231200"/>
          </a:xfrm>
        </p:grpSpPr>
        <p:sp>
          <p:nvSpPr>
            <p:cNvPr id="65" name="Google Shape;65;p14"/>
            <p:cNvSpPr/>
            <p:nvPr/>
          </p:nvSpPr>
          <p:spPr>
            <a:xfrm>
              <a:off x="590925" y="1908362"/>
              <a:ext cx="1947900" cy="1231200"/>
            </a:xfrm>
            <a:prstGeom prst="rect">
              <a:avLst/>
            </a:prstGeom>
            <a:noFill/>
            <a:ln cap="flat" cmpd="sng" w="38100">
              <a:solidFill>
                <a:srgbClr val="6178F2"/>
              </a:solidFill>
              <a:prstDash val="solid"/>
              <a:round/>
              <a:headEnd len="sm" w="sm" type="none"/>
              <a:tailEnd len="sm" w="sm" type="none"/>
            </a:ln>
          </p:spPr>
          <p:txBody>
            <a:bodyPr anchorCtr="0" anchor="b"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Raleway"/>
                  <a:ea typeface="Raleway"/>
                  <a:cs typeface="Raleway"/>
                  <a:sym typeface="Raleway"/>
                </a:rPr>
                <a:t>PRISMA</a:t>
              </a:r>
              <a:endParaRPr sz="3100">
                <a:solidFill>
                  <a:schemeClr val="lt1"/>
                </a:solidFill>
                <a:latin typeface="Source Sans Pro"/>
                <a:ea typeface="Source Sans Pro"/>
                <a:cs typeface="Source Sans Pro"/>
                <a:sym typeface="Source Sans Pro"/>
              </a:endParaRPr>
            </a:p>
          </p:txBody>
        </p:sp>
        <p:pic>
          <p:nvPicPr>
            <p:cNvPr id="66" name="Google Shape;66;p14" title="images.jpg"/>
            <p:cNvPicPr preferRelativeResize="0"/>
            <p:nvPr/>
          </p:nvPicPr>
          <p:blipFill>
            <a:blip r:embed="rId3">
              <a:alphaModFix/>
            </a:blip>
            <a:stretch>
              <a:fillRect/>
            </a:stretch>
          </p:blipFill>
          <p:spPr>
            <a:xfrm>
              <a:off x="1187775" y="1925600"/>
              <a:ext cx="754200" cy="754200"/>
            </a:xfrm>
            <a:prstGeom prst="rect">
              <a:avLst/>
            </a:prstGeom>
            <a:noFill/>
            <a:ln>
              <a:noFill/>
            </a:ln>
          </p:spPr>
        </p:pic>
      </p:grpSp>
      <p:pic>
        <p:nvPicPr>
          <p:cNvPr id="67" name="Google Shape;67;p14"/>
          <p:cNvPicPr preferRelativeResize="0"/>
          <p:nvPr/>
        </p:nvPicPr>
        <p:blipFill>
          <a:blip r:embed="rId4">
            <a:alphaModFix/>
          </a:blip>
          <a:stretch>
            <a:fillRect/>
          </a:stretch>
        </p:blipFill>
        <p:spPr>
          <a:xfrm>
            <a:off x="5920946" y="2051025"/>
            <a:ext cx="735400" cy="603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1" name="Shape 71"/>
        <p:cNvGrpSpPr/>
        <p:nvPr/>
      </p:nvGrpSpPr>
      <p:grpSpPr>
        <a:xfrm>
          <a:off x="0" y="0"/>
          <a:ext cx="0" cy="0"/>
          <a:chOff x="0" y="0"/>
          <a:chExt cx="0" cy="0"/>
        </a:xfrm>
      </p:grpSpPr>
      <p:sp>
        <p:nvSpPr>
          <p:cNvPr id="72" name="Google Shape;72;p1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3" name="Google Shape;73;p15"/>
          <p:cNvSpPr/>
          <p:nvPr/>
        </p:nvSpPr>
        <p:spPr>
          <a:xfrm>
            <a:off x="1376400" y="190500"/>
            <a:ext cx="6377100" cy="4572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400">
                <a:solidFill>
                  <a:srgbClr val="FFFFFF"/>
                </a:solidFill>
                <a:latin typeface="Source Sans Pro"/>
                <a:ea typeface="Source Sans Pro"/>
                <a:cs typeface="Source Sans Pro"/>
                <a:sym typeface="Source Sans Pro"/>
              </a:rPr>
              <a:t>Introducción a ORM</a:t>
            </a:r>
            <a:endParaRPr b="1" sz="2400">
              <a:solidFill>
                <a:srgbClr val="FFFFFF"/>
              </a:solidFill>
              <a:latin typeface="Source Sans Pro"/>
              <a:ea typeface="Source Sans Pro"/>
              <a:cs typeface="Source Sans Pro"/>
              <a:sym typeface="Source Sans Pro"/>
            </a:endParaRPr>
          </a:p>
        </p:txBody>
      </p:sp>
      <p:sp>
        <p:nvSpPr>
          <p:cNvPr id="74" name="Google Shape;74;p15"/>
          <p:cNvSpPr/>
          <p:nvPr/>
        </p:nvSpPr>
        <p:spPr>
          <a:xfrm>
            <a:off x="2338425" y="733425"/>
            <a:ext cx="4467300" cy="209700"/>
          </a:xfrm>
          <a:prstGeom prst="roundRect">
            <a:avLst>
              <a:gd fmla="val 50000" name="adj"/>
            </a:avLst>
          </a:prstGeom>
          <a:solidFill>
            <a:srgbClr val="262626"/>
          </a:solidFill>
          <a:ln cap="flat" cmpd="sng" w="9525">
            <a:solidFill>
              <a:srgbClr val="525252"/>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0"/>
              </a:spcAft>
              <a:buNone/>
            </a:pPr>
            <a:r>
              <a:rPr i="1" lang="es" sz="1000">
                <a:solidFill>
                  <a:srgbClr val="A3A3A3"/>
                </a:solidFill>
              </a:rPr>
              <a:t>Desfase Objeto-Relacional (Object-Relational Impedance Mismatch).</a:t>
            </a:r>
            <a:endParaRPr i="1" sz="1000">
              <a:solidFill>
                <a:srgbClr val="A3A3A3"/>
              </a:solidFill>
            </a:endParaRPr>
          </a:p>
          <a:p>
            <a:pPr indent="0" lvl="0" marL="0" rtl="0" algn="l">
              <a:spcBef>
                <a:spcPts val="0"/>
              </a:spcBef>
              <a:spcAft>
                <a:spcPts val="0"/>
              </a:spcAft>
              <a:buNone/>
            </a:pPr>
            <a:r>
              <a:t/>
            </a:r>
            <a:endParaRPr sz="1000"/>
          </a:p>
        </p:txBody>
      </p:sp>
      <p:grpSp>
        <p:nvGrpSpPr>
          <p:cNvPr id="75" name="Google Shape;75;p15"/>
          <p:cNvGrpSpPr/>
          <p:nvPr/>
        </p:nvGrpSpPr>
        <p:grpSpPr>
          <a:xfrm>
            <a:off x="4400550" y="1819275"/>
            <a:ext cx="342900" cy="342900"/>
            <a:chOff x="-38100" y="-38100"/>
            <a:chExt cx="342900" cy="342900"/>
          </a:xfrm>
        </p:grpSpPr>
        <p:sp>
          <p:nvSpPr>
            <p:cNvPr id="76" name="Google Shape;76;p15"/>
            <p:cNvSpPr/>
            <p:nvPr/>
          </p:nvSpPr>
          <p:spPr>
            <a:xfrm>
              <a:off x="-38100" y="-38100"/>
              <a:ext cx="342900" cy="342900"/>
            </a:xfrm>
            <a:prstGeom prst="ellipse">
              <a:avLst/>
            </a:prstGeom>
            <a:solidFill>
              <a:srgbClr val="0F172A"/>
            </a:solidFill>
            <a:ln cap="flat" cmpd="sng" w="19050">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txBox="1"/>
            <p:nvPr/>
          </p:nvSpPr>
          <p:spPr>
            <a:xfrm>
              <a:off x="-38100" y="-381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100">
                  <a:solidFill>
                    <a:srgbClr val="F59E0B"/>
                  </a:solidFill>
                  <a:latin typeface="Source Sans Pro"/>
                  <a:ea typeface="Source Sans Pro"/>
                  <a:cs typeface="Source Sans Pro"/>
                  <a:sym typeface="Source Sans Pro"/>
                </a:rPr>
                <a:t>VS</a:t>
              </a:r>
              <a:endParaRPr b="0" sz="1100">
                <a:solidFill>
                  <a:srgbClr val="F59E0B"/>
                </a:solidFill>
                <a:latin typeface="Source Sans Pro"/>
                <a:ea typeface="Source Sans Pro"/>
                <a:cs typeface="Source Sans Pro"/>
                <a:sym typeface="Source Sans Pro"/>
              </a:endParaRPr>
            </a:p>
          </p:txBody>
        </p:sp>
      </p:grpSp>
      <p:grpSp>
        <p:nvGrpSpPr>
          <p:cNvPr id="78" name="Google Shape;78;p15"/>
          <p:cNvGrpSpPr/>
          <p:nvPr/>
        </p:nvGrpSpPr>
        <p:grpSpPr>
          <a:xfrm>
            <a:off x="295275" y="1162050"/>
            <a:ext cx="4030500" cy="1647831"/>
            <a:chOff x="-133350" y="0"/>
            <a:chExt cx="4030500" cy="1779900"/>
          </a:xfrm>
        </p:grpSpPr>
        <p:sp>
          <p:nvSpPr>
            <p:cNvPr id="79" name="Google Shape;79;p15"/>
            <p:cNvSpPr/>
            <p:nvPr/>
          </p:nvSpPr>
          <p:spPr>
            <a:xfrm>
              <a:off x="-133350" y="0"/>
              <a:ext cx="4030500" cy="1779900"/>
            </a:xfrm>
            <a:prstGeom prst="roundRect">
              <a:avLst>
                <a:gd fmla="val 4571" name="adj"/>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txBox="1"/>
            <p:nvPr/>
          </p:nvSpPr>
          <p:spPr>
            <a:xfrm>
              <a:off x="0" y="95161"/>
              <a:ext cx="3810000" cy="15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000">
                  <a:solidFill>
                    <a:srgbClr val="60A5FA"/>
                  </a:solidFill>
                  <a:latin typeface="Source Sans Pro"/>
                  <a:ea typeface="Source Sans Pro"/>
                  <a:cs typeface="Source Sans Pro"/>
                  <a:sym typeface="Source Sans Pro"/>
                </a:rPr>
                <a:t>Aplicación</a:t>
              </a:r>
              <a:endParaRPr b="1" sz="2000">
                <a:latin typeface="Source Sans Pro"/>
                <a:ea typeface="Source Sans Pro"/>
                <a:cs typeface="Source Sans Pro"/>
                <a:sym typeface="Source Sans Pro"/>
              </a:endParaRPr>
            </a:p>
            <a:p>
              <a:pPr indent="0" lvl="0" marL="0" rtl="0" algn="l">
                <a:spcBef>
                  <a:spcPts val="0"/>
                </a:spcBef>
                <a:spcAft>
                  <a:spcPts val="0"/>
                </a:spcAft>
                <a:buNone/>
              </a:pPr>
              <a:r>
                <a:rPr b="0" lang="es" sz="1100">
                  <a:solidFill>
                    <a:srgbClr val="94A3B8"/>
                  </a:solidFill>
                  <a:latin typeface="Source Sans Pro"/>
                  <a:ea typeface="Source Sans Pro"/>
                  <a:cs typeface="Source Sans Pro"/>
                  <a:sym typeface="Source Sans Pro"/>
                </a:rPr>
                <a:t>(TypeScript / JavaScript)</a:t>
              </a:r>
              <a:endParaRPr b="0" sz="1100">
                <a:solidFill>
                  <a:srgbClr val="94A3B8"/>
                </a:solidFill>
                <a:latin typeface="Source Sans Pro"/>
                <a:ea typeface="Source Sans Pro"/>
                <a:cs typeface="Source Sans Pro"/>
                <a:sym typeface="Source Sans Pro"/>
              </a:endParaRPr>
            </a:p>
            <a:p>
              <a:pPr indent="0" lvl="0" marL="0" rtl="0" algn="l">
                <a:spcBef>
                  <a:spcPts val="900"/>
                </a:spcBef>
                <a:spcAft>
                  <a:spcPts val="0"/>
                </a:spcAft>
                <a:buNone/>
              </a:pPr>
              <a:r>
                <a:rPr lang="es" sz="1220">
                  <a:solidFill>
                    <a:srgbClr val="E2E8F0"/>
                  </a:solidFill>
                </a:rPr>
                <a:t>Modela en memoria con estructura orientada a objetos:</a:t>
              </a:r>
              <a:endParaRPr sz="1220">
                <a:solidFill>
                  <a:srgbClr val="E2E8F0"/>
                </a:solidFill>
              </a:endParaRPr>
            </a:p>
            <a:p>
              <a:pPr indent="0" lvl="0" marL="0" rtl="0" algn="l">
                <a:spcBef>
                  <a:spcPts val="0"/>
                </a:spcBef>
                <a:spcAft>
                  <a:spcPts val="0"/>
                </a:spcAft>
                <a:buNone/>
              </a:pPr>
              <a:r>
                <a:t/>
              </a:r>
              <a:endParaRPr sz="1220">
                <a:solidFill>
                  <a:srgbClr val="E2E8F0"/>
                </a:solidFill>
              </a:endParaRPr>
            </a:p>
            <a:p>
              <a:pPr indent="-336550" lvl="0" marL="457200" rtl="0" algn="l">
                <a:spcBef>
                  <a:spcPts val="600"/>
                </a:spcBef>
                <a:spcAft>
                  <a:spcPts val="300"/>
                </a:spcAft>
                <a:buClr>
                  <a:srgbClr val="93C5FD"/>
                </a:buClr>
                <a:buSzPts val="1700"/>
                <a:buFont typeface="Arial"/>
                <a:buChar char="●"/>
              </a:pPr>
              <a:r>
                <a:rPr b="1" lang="es" sz="1700">
                  <a:solidFill>
                    <a:srgbClr val="CBD5E1"/>
                  </a:solidFill>
                </a:rPr>
                <a:t>Objetos, Clases y Propiedades</a:t>
              </a:r>
              <a:endParaRPr b="1" sz="1700">
                <a:solidFill>
                  <a:srgbClr val="93C5FD"/>
                </a:solidFill>
              </a:endParaRPr>
            </a:p>
          </p:txBody>
        </p:sp>
      </p:grpSp>
      <p:grpSp>
        <p:nvGrpSpPr>
          <p:cNvPr id="81" name="Google Shape;81;p15"/>
          <p:cNvGrpSpPr/>
          <p:nvPr/>
        </p:nvGrpSpPr>
        <p:grpSpPr>
          <a:xfrm>
            <a:off x="4818300" y="1162050"/>
            <a:ext cx="3897000" cy="1647831"/>
            <a:chOff x="55800" y="0"/>
            <a:chExt cx="3897000" cy="1779900"/>
          </a:xfrm>
        </p:grpSpPr>
        <p:sp>
          <p:nvSpPr>
            <p:cNvPr id="82" name="Google Shape;82;p15"/>
            <p:cNvSpPr/>
            <p:nvPr/>
          </p:nvSpPr>
          <p:spPr>
            <a:xfrm>
              <a:off x="55800" y="0"/>
              <a:ext cx="3897000" cy="1779900"/>
            </a:xfrm>
            <a:prstGeom prst="roundRect">
              <a:avLst>
                <a:gd fmla="val 4571" name="adj"/>
              </a:avLst>
            </a:prstGeom>
            <a:solidFill>
              <a:srgbClr val="1E293B"/>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txBox="1"/>
            <p:nvPr/>
          </p:nvSpPr>
          <p:spPr>
            <a:xfrm>
              <a:off x="190575" y="95152"/>
              <a:ext cx="3571800" cy="15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000">
                  <a:solidFill>
                    <a:srgbClr val="34D399"/>
                  </a:solidFill>
                  <a:latin typeface="Source Sans Pro"/>
                  <a:ea typeface="Source Sans Pro"/>
                  <a:cs typeface="Source Sans Pro"/>
                  <a:sym typeface="Source Sans Pro"/>
                </a:rPr>
                <a:t>Persistencia</a:t>
              </a:r>
              <a:endParaRPr b="1" sz="2000">
                <a:solidFill>
                  <a:srgbClr val="34D399"/>
                </a:solidFill>
                <a:latin typeface="Source Sans Pro"/>
                <a:ea typeface="Source Sans Pro"/>
                <a:cs typeface="Source Sans Pro"/>
                <a:sym typeface="Source Sans Pro"/>
              </a:endParaRPr>
            </a:p>
            <a:p>
              <a:pPr indent="0" lvl="0" marL="0" rtl="0" algn="l">
                <a:spcBef>
                  <a:spcPts val="0"/>
                </a:spcBef>
                <a:spcAft>
                  <a:spcPts val="0"/>
                </a:spcAft>
                <a:buNone/>
              </a:pPr>
              <a:r>
                <a:rPr b="0" lang="es" sz="1100">
                  <a:solidFill>
                    <a:srgbClr val="94A3B8"/>
                  </a:solidFill>
                  <a:latin typeface="Source Sans Pro"/>
                  <a:ea typeface="Source Sans Pro"/>
                  <a:cs typeface="Source Sans Pro"/>
                  <a:sym typeface="Source Sans Pro"/>
                </a:rPr>
                <a:t>(Bases de Datos Relacionales)</a:t>
              </a:r>
              <a:endParaRPr b="0" sz="1100">
                <a:solidFill>
                  <a:srgbClr val="94A3B8"/>
                </a:solidFill>
                <a:latin typeface="Source Sans Pro"/>
                <a:ea typeface="Source Sans Pro"/>
                <a:cs typeface="Source Sans Pro"/>
                <a:sym typeface="Source Sans Pro"/>
              </a:endParaRPr>
            </a:p>
            <a:p>
              <a:pPr indent="0" lvl="0" marL="0" rtl="0" algn="l">
                <a:spcBef>
                  <a:spcPts val="900"/>
                </a:spcBef>
                <a:spcAft>
                  <a:spcPts val="0"/>
                </a:spcAft>
                <a:buNone/>
              </a:pPr>
              <a:r>
                <a:rPr lang="es" sz="1200">
                  <a:solidFill>
                    <a:srgbClr val="E2E8F0"/>
                  </a:solidFill>
                  <a:latin typeface="Arial"/>
                  <a:ea typeface="Arial"/>
                  <a:cs typeface="Arial"/>
                  <a:sym typeface="Arial"/>
                </a:rPr>
                <a:t>Almacena datos de forma relacional y tabular:</a:t>
              </a:r>
              <a:endParaRPr sz="1200">
                <a:solidFill>
                  <a:srgbClr val="E2E8F0"/>
                </a:solidFill>
              </a:endParaRPr>
            </a:p>
            <a:p>
              <a:pPr indent="-336550" lvl="0" marL="457200" rtl="0" algn="l">
                <a:spcBef>
                  <a:spcPts val="600"/>
                </a:spcBef>
                <a:spcAft>
                  <a:spcPts val="0"/>
                </a:spcAft>
                <a:buClr>
                  <a:srgbClr val="6EE7B7"/>
                </a:buClr>
                <a:buSzPts val="1700"/>
                <a:buFont typeface="Arial"/>
                <a:buChar char="●"/>
              </a:pPr>
              <a:r>
                <a:rPr b="1" lang="es" sz="1700">
                  <a:solidFill>
                    <a:srgbClr val="CBD5E1"/>
                  </a:solidFill>
                </a:rPr>
                <a:t>Tablas, Filas y Columnas</a:t>
              </a:r>
              <a:endParaRPr b="1" sz="1700">
                <a:solidFill>
                  <a:srgbClr val="6EE7B7"/>
                </a:solidFill>
              </a:endParaRPr>
            </a:p>
            <a:p>
              <a:pPr indent="-336550" lvl="0" marL="457200" rtl="0" algn="l">
                <a:spcBef>
                  <a:spcPts val="300"/>
                </a:spcBef>
                <a:spcAft>
                  <a:spcPts val="300"/>
                </a:spcAft>
                <a:buClr>
                  <a:srgbClr val="6EE7B7"/>
                </a:buClr>
                <a:buSzPts val="1700"/>
                <a:buFont typeface="Arial"/>
                <a:buChar char="●"/>
              </a:pPr>
              <a:r>
                <a:rPr b="1" lang="es" sz="1700">
                  <a:solidFill>
                    <a:srgbClr val="CBD5E1"/>
                  </a:solidFill>
                </a:rPr>
                <a:t>Claves Primarias y Foráneas</a:t>
              </a:r>
              <a:endParaRPr b="1" sz="1700">
                <a:solidFill>
                  <a:srgbClr val="6EE7B7"/>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7" name="Shape 87"/>
        <p:cNvGrpSpPr/>
        <p:nvPr/>
      </p:nvGrpSpPr>
      <p:grpSpPr>
        <a:xfrm>
          <a:off x="0" y="0"/>
          <a:ext cx="0" cy="0"/>
          <a:chOff x="0" y="0"/>
          <a:chExt cx="0" cy="0"/>
        </a:xfrm>
      </p:grpSpPr>
      <p:sp>
        <p:nvSpPr>
          <p:cNvPr id="88" name="Google Shape;88;p1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9" name="Google Shape;89;p16"/>
          <p:cNvSpPr/>
          <p:nvPr/>
        </p:nvSpPr>
        <p:spPr>
          <a:xfrm>
            <a:off x="1376400" y="190500"/>
            <a:ext cx="6377100" cy="4572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400">
                <a:solidFill>
                  <a:srgbClr val="FFFFFF"/>
                </a:solidFill>
                <a:latin typeface="Source Sans Pro"/>
                <a:ea typeface="Source Sans Pro"/>
                <a:cs typeface="Source Sans Pro"/>
                <a:sym typeface="Source Sans Pro"/>
              </a:rPr>
              <a:t>Introducción a ORM</a:t>
            </a:r>
            <a:endParaRPr b="1" sz="2400">
              <a:solidFill>
                <a:srgbClr val="FFFFFF"/>
              </a:solidFill>
              <a:latin typeface="Source Sans Pro"/>
              <a:ea typeface="Source Sans Pro"/>
              <a:cs typeface="Source Sans Pro"/>
              <a:sym typeface="Source Sans Pro"/>
            </a:endParaRPr>
          </a:p>
        </p:txBody>
      </p:sp>
      <p:sp>
        <p:nvSpPr>
          <p:cNvPr id="90" name="Google Shape;90;p16"/>
          <p:cNvSpPr/>
          <p:nvPr/>
        </p:nvSpPr>
        <p:spPr>
          <a:xfrm>
            <a:off x="2338425" y="733425"/>
            <a:ext cx="4467300" cy="209700"/>
          </a:xfrm>
          <a:prstGeom prst="roundRect">
            <a:avLst>
              <a:gd fmla="val 50000" name="adj"/>
            </a:avLst>
          </a:prstGeom>
          <a:solidFill>
            <a:srgbClr val="262626"/>
          </a:solidFill>
          <a:ln cap="flat" cmpd="sng" w="9525">
            <a:solidFill>
              <a:srgbClr val="525252"/>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0"/>
              </a:spcAft>
              <a:buNone/>
            </a:pPr>
            <a:r>
              <a:rPr i="1" lang="es" sz="1000">
                <a:solidFill>
                  <a:srgbClr val="A3A3A3"/>
                </a:solidFill>
              </a:rPr>
              <a:t>Desfase Objeto-Relacional (Object-Relational Impedance Mismatch).</a:t>
            </a:r>
            <a:endParaRPr i="1" sz="1000">
              <a:solidFill>
                <a:srgbClr val="A3A3A3"/>
              </a:solidFill>
            </a:endParaRPr>
          </a:p>
          <a:p>
            <a:pPr indent="0" lvl="0" marL="0" rtl="0" algn="l">
              <a:spcBef>
                <a:spcPts val="0"/>
              </a:spcBef>
              <a:spcAft>
                <a:spcPts val="0"/>
              </a:spcAft>
              <a:buNone/>
            </a:pPr>
            <a:r>
              <a:t/>
            </a:r>
            <a:endParaRPr sz="1000"/>
          </a:p>
        </p:txBody>
      </p:sp>
      <p:grpSp>
        <p:nvGrpSpPr>
          <p:cNvPr id="91" name="Google Shape;91;p16"/>
          <p:cNvGrpSpPr/>
          <p:nvPr/>
        </p:nvGrpSpPr>
        <p:grpSpPr>
          <a:xfrm>
            <a:off x="4400550" y="1819275"/>
            <a:ext cx="342900" cy="342900"/>
            <a:chOff x="-38100" y="-38100"/>
            <a:chExt cx="342900" cy="342900"/>
          </a:xfrm>
        </p:grpSpPr>
        <p:sp>
          <p:nvSpPr>
            <p:cNvPr id="92" name="Google Shape;92;p16"/>
            <p:cNvSpPr/>
            <p:nvPr/>
          </p:nvSpPr>
          <p:spPr>
            <a:xfrm>
              <a:off x="-38100" y="-38100"/>
              <a:ext cx="342900" cy="342900"/>
            </a:xfrm>
            <a:prstGeom prst="ellipse">
              <a:avLst/>
            </a:prstGeom>
            <a:solidFill>
              <a:srgbClr val="0F172A"/>
            </a:solidFill>
            <a:ln cap="flat" cmpd="sng" w="19050">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txBox="1"/>
            <p:nvPr/>
          </p:nvSpPr>
          <p:spPr>
            <a:xfrm>
              <a:off x="-38100" y="-381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100">
                  <a:solidFill>
                    <a:srgbClr val="F59E0B"/>
                  </a:solidFill>
                  <a:latin typeface="Source Sans Pro"/>
                  <a:ea typeface="Source Sans Pro"/>
                  <a:cs typeface="Source Sans Pro"/>
                  <a:sym typeface="Source Sans Pro"/>
                </a:rPr>
                <a:t>VS</a:t>
              </a:r>
              <a:endParaRPr b="0" sz="1100">
                <a:solidFill>
                  <a:srgbClr val="F59E0B"/>
                </a:solidFill>
                <a:latin typeface="Source Sans Pro"/>
                <a:ea typeface="Source Sans Pro"/>
                <a:cs typeface="Source Sans Pro"/>
                <a:sym typeface="Source Sans Pro"/>
              </a:endParaRPr>
            </a:p>
          </p:txBody>
        </p:sp>
      </p:grpSp>
      <p:grpSp>
        <p:nvGrpSpPr>
          <p:cNvPr id="94" name="Google Shape;94;p16"/>
          <p:cNvGrpSpPr/>
          <p:nvPr/>
        </p:nvGrpSpPr>
        <p:grpSpPr>
          <a:xfrm>
            <a:off x="428625" y="3047775"/>
            <a:ext cx="8286900" cy="1752525"/>
            <a:chOff x="0" y="75975"/>
            <a:chExt cx="8286900" cy="1752525"/>
          </a:xfrm>
        </p:grpSpPr>
        <p:sp>
          <p:nvSpPr>
            <p:cNvPr id="95" name="Google Shape;95;p16"/>
            <p:cNvSpPr/>
            <p:nvPr/>
          </p:nvSpPr>
          <p:spPr>
            <a:xfrm>
              <a:off x="0" y="75975"/>
              <a:ext cx="8286900" cy="1600200"/>
            </a:xfrm>
            <a:prstGeom prst="roundRect">
              <a:avLst>
                <a:gd fmla="val 4040" name="adj"/>
              </a:avLst>
            </a:prstGeom>
            <a:solidFill>
              <a:srgbClr val="18181B"/>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6"/>
            <p:cNvSpPr txBox="1"/>
            <p:nvPr/>
          </p:nvSpPr>
          <p:spPr>
            <a:xfrm>
              <a:off x="228600" y="114300"/>
              <a:ext cx="7829400" cy="171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500">
                  <a:solidFill>
                    <a:srgbClr val="F87171"/>
                  </a:solidFill>
                  <a:latin typeface="Source Sans Pro"/>
                  <a:ea typeface="Source Sans Pro"/>
                  <a:cs typeface="Source Sans Pro"/>
                  <a:sym typeface="Source Sans Pro"/>
                </a:rPr>
                <a:t>Mapeo Manual</a:t>
              </a:r>
              <a:endParaRPr b="1" sz="2500">
                <a:solidFill>
                  <a:srgbClr val="F87171"/>
                </a:solidFill>
                <a:latin typeface="Source Sans Pro"/>
                <a:ea typeface="Source Sans Pro"/>
                <a:cs typeface="Source Sans Pro"/>
                <a:sym typeface="Source Sans Pro"/>
              </a:endParaRPr>
            </a:p>
            <a:p>
              <a:pPr indent="0" lvl="0" marL="0" rtl="0" algn="l">
                <a:spcBef>
                  <a:spcPts val="900"/>
                </a:spcBef>
                <a:spcAft>
                  <a:spcPts val="0"/>
                </a:spcAft>
                <a:buNone/>
              </a:pPr>
              <a:r>
                <a:rPr b="1" lang="es" sz="1700">
                  <a:solidFill>
                    <a:srgbClr val="FEE2E2"/>
                  </a:solidFill>
                  <a:highlight>
                    <a:srgbClr val="27272A"/>
                  </a:highlight>
                  <a:latin typeface="Arial"/>
                  <a:ea typeface="Arial"/>
                  <a:cs typeface="Arial"/>
                  <a:sym typeface="Arial"/>
                </a:rPr>
                <a:t>Conversión Bidireccional Constante</a:t>
              </a:r>
              <a:endParaRPr b="1" sz="1700">
                <a:solidFill>
                  <a:srgbClr val="FEE2E2"/>
                </a:solidFill>
                <a:highlight>
                  <a:srgbClr val="27272A"/>
                </a:highlight>
                <a:latin typeface="Arial"/>
                <a:ea typeface="Arial"/>
                <a:cs typeface="Arial"/>
                <a:sym typeface="Arial"/>
              </a:endParaRPr>
            </a:p>
            <a:p>
              <a:pPr indent="0" lvl="0" marL="0" rtl="0" algn="l">
                <a:spcBef>
                  <a:spcPts val="300"/>
                </a:spcBef>
                <a:spcAft>
                  <a:spcPts val="0"/>
                </a:spcAft>
                <a:buNone/>
              </a:pPr>
              <a:r>
                <a:rPr lang="es" sz="1050">
                  <a:solidFill>
                    <a:srgbClr val="D4D4D8"/>
                  </a:solidFill>
                  <a:highlight>
                    <a:srgbClr val="27272A"/>
                  </a:highlight>
                  <a:latin typeface="Arial"/>
                  <a:ea typeface="Arial"/>
                  <a:cs typeface="Arial"/>
                  <a:sym typeface="Arial"/>
                </a:rPr>
                <a:t>Transformación manual de filas a objetos y de objetos a sentencias SQL </a:t>
              </a:r>
              <a:r>
                <a:rPr b="1" lang="es" sz="1050">
                  <a:solidFill>
                    <a:srgbClr val="F43F5E"/>
                  </a:solidFill>
                  <a:latin typeface="Courier New"/>
                  <a:ea typeface="Courier New"/>
                  <a:cs typeface="Courier New"/>
                  <a:sym typeface="Courier New"/>
                </a:rPr>
                <a:t>INSERT</a:t>
              </a:r>
              <a:r>
                <a:rPr lang="es" sz="1050">
                  <a:solidFill>
                    <a:srgbClr val="D4D4D8"/>
                  </a:solidFill>
                  <a:highlight>
                    <a:srgbClr val="27272A"/>
                  </a:highlight>
                  <a:latin typeface="Arial"/>
                  <a:ea typeface="Arial"/>
                  <a:cs typeface="Arial"/>
                  <a:sym typeface="Arial"/>
                </a:rPr>
                <a:t>, </a:t>
              </a:r>
              <a:r>
                <a:rPr b="1" lang="es" sz="1050">
                  <a:solidFill>
                    <a:srgbClr val="F43F5E"/>
                  </a:solidFill>
                  <a:latin typeface="Courier New"/>
                  <a:ea typeface="Courier New"/>
                  <a:cs typeface="Courier New"/>
                  <a:sym typeface="Courier New"/>
                </a:rPr>
                <a:t>UPDATE</a:t>
              </a:r>
              <a:r>
                <a:rPr lang="es" sz="1050">
                  <a:solidFill>
                    <a:srgbClr val="D4D4D8"/>
                  </a:solidFill>
                  <a:highlight>
                    <a:srgbClr val="27272A"/>
                  </a:highlight>
                  <a:latin typeface="Arial"/>
                  <a:ea typeface="Arial"/>
                  <a:cs typeface="Arial"/>
                  <a:sym typeface="Arial"/>
                </a:rPr>
                <a:t>, </a:t>
              </a:r>
              <a:r>
                <a:rPr b="1" lang="es" sz="1050">
                  <a:solidFill>
                    <a:srgbClr val="F43F5E"/>
                  </a:solidFill>
                  <a:latin typeface="Courier New"/>
                  <a:ea typeface="Courier New"/>
                  <a:cs typeface="Courier New"/>
                  <a:sym typeface="Courier New"/>
                </a:rPr>
                <a:t>DELETE</a:t>
              </a:r>
              <a:r>
                <a:rPr lang="es" sz="1050">
                  <a:solidFill>
                    <a:srgbClr val="D4D4D8"/>
                  </a:solidFill>
                  <a:highlight>
                    <a:srgbClr val="27272A"/>
                  </a:highlight>
                  <a:latin typeface="Arial"/>
                  <a:ea typeface="Arial"/>
                  <a:cs typeface="Arial"/>
                  <a:sym typeface="Arial"/>
                </a:rPr>
                <a:t>.</a:t>
              </a:r>
              <a:endParaRPr sz="1050">
                <a:solidFill>
                  <a:srgbClr val="D4D4D8"/>
                </a:solidFill>
                <a:highlight>
                  <a:srgbClr val="27272A"/>
                </a:highlight>
                <a:latin typeface="Arial"/>
                <a:ea typeface="Arial"/>
                <a:cs typeface="Arial"/>
                <a:sym typeface="Arial"/>
              </a:endParaRPr>
            </a:p>
            <a:p>
              <a:pPr indent="0" lvl="0" marL="0" rtl="0" algn="l">
                <a:spcBef>
                  <a:spcPts val="0"/>
                </a:spcBef>
                <a:spcAft>
                  <a:spcPts val="0"/>
                </a:spcAft>
                <a:buNone/>
              </a:pPr>
              <a:r>
                <a:rPr b="1" lang="es" sz="1700">
                  <a:solidFill>
                    <a:srgbClr val="FEE2E2"/>
                  </a:solidFill>
                  <a:highlight>
                    <a:srgbClr val="27272A"/>
                  </a:highlight>
                  <a:latin typeface="Arial"/>
                  <a:ea typeface="Arial"/>
                  <a:cs typeface="Arial"/>
                  <a:sym typeface="Arial"/>
                </a:rPr>
                <a:t>Ineficiencia de código y Riesgos en tiempo de ejecución</a:t>
              </a:r>
              <a:endParaRPr b="1" sz="1700">
                <a:solidFill>
                  <a:srgbClr val="FEE2E2"/>
                </a:solidFill>
                <a:highlight>
                  <a:srgbClr val="27272A"/>
                </a:highlight>
                <a:latin typeface="Arial"/>
                <a:ea typeface="Arial"/>
                <a:cs typeface="Arial"/>
                <a:sym typeface="Arial"/>
              </a:endParaRPr>
            </a:p>
            <a:p>
              <a:pPr indent="0" lvl="0" marL="0" rtl="0" algn="l">
                <a:spcBef>
                  <a:spcPts val="300"/>
                </a:spcBef>
                <a:spcAft>
                  <a:spcPts val="0"/>
                </a:spcAft>
                <a:buNone/>
              </a:pPr>
              <a:r>
                <a:rPr lang="es" sz="1050">
                  <a:solidFill>
                    <a:srgbClr val="D4D4D8"/>
                  </a:solidFill>
                  <a:highlight>
                    <a:srgbClr val="27272A"/>
                  </a:highlight>
                  <a:latin typeface="Arial"/>
                  <a:ea typeface="Arial"/>
                  <a:cs typeface="Arial"/>
                  <a:sym typeface="Arial"/>
                </a:rPr>
                <a:t>Alta sobrecarga de código repetitivo y elevado riesgo de errores e inconsistencias en tiempo de ejecución.</a:t>
              </a:r>
              <a:endParaRPr sz="1050">
                <a:solidFill>
                  <a:srgbClr val="D4D4D8"/>
                </a:solidFill>
                <a:highlight>
                  <a:srgbClr val="27272A"/>
                </a:highlight>
                <a:latin typeface="Arial"/>
                <a:ea typeface="Arial"/>
                <a:cs typeface="Arial"/>
                <a:sym typeface="Arial"/>
              </a:endParaRPr>
            </a:p>
          </p:txBody>
        </p:sp>
      </p:grpSp>
      <p:grpSp>
        <p:nvGrpSpPr>
          <p:cNvPr id="97" name="Google Shape;97;p16"/>
          <p:cNvGrpSpPr/>
          <p:nvPr/>
        </p:nvGrpSpPr>
        <p:grpSpPr>
          <a:xfrm>
            <a:off x="295275" y="1162050"/>
            <a:ext cx="4030500" cy="1647831"/>
            <a:chOff x="-133350" y="0"/>
            <a:chExt cx="4030500" cy="1779900"/>
          </a:xfrm>
        </p:grpSpPr>
        <p:sp>
          <p:nvSpPr>
            <p:cNvPr id="98" name="Google Shape;98;p16"/>
            <p:cNvSpPr/>
            <p:nvPr/>
          </p:nvSpPr>
          <p:spPr>
            <a:xfrm>
              <a:off x="-133350" y="0"/>
              <a:ext cx="4030500" cy="1779900"/>
            </a:xfrm>
            <a:prstGeom prst="roundRect">
              <a:avLst>
                <a:gd fmla="val 4571" name="adj"/>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6"/>
            <p:cNvSpPr txBox="1"/>
            <p:nvPr/>
          </p:nvSpPr>
          <p:spPr>
            <a:xfrm>
              <a:off x="0" y="95161"/>
              <a:ext cx="3810000" cy="15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000">
                  <a:solidFill>
                    <a:srgbClr val="60A5FA"/>
                  </a:solidFill>
                  <a:latin typeface="Source Sans Pro"/>
                  <a:ea typeface="Source Sans Pro"/>
                  <a:cs typeface="Source Sans Pro"/>
                  <a:sym typeface="Source Sans Pro"/>
                </a:rPr>
                <a:t>Aplicación</a:t>
              </a:r>
              <a:endParaRPr b="1" sz="2000">
                <a:latin typeface="Source Sans Pro"/>
                <a:ea typeface="Source Sans Pro"/>
                <a:cs typeface="Source Sans Pro"/>
                <a:sym typeface="Source Sans Pro"/>
              </a:endParaRPr>
            </a:p>
            <a:p>
              <a:pPr indent="0" lvl="0" marL="0" rtl="0" algn="l">
                <a:spcBef>
                  <a:spcPts val="0"/>
                </a:spcBef>
                <a:spcAft>
                  <a:spcPts val="0"/>
                </a:spcAft>
                <a:buNone/>
              </a:pPr>
              <a:r>
                <a:rPr b="0" lang="es" sz="1100">
                  <a:solidFill>
                    <a:srgbClr val="94A3B8"/>
                  </a:solidFill>
                  <a:latin typeface="Source Sans Pro"/>
                  <a:ea typeface="Source Sans Pro"/>
                  <a:cs typeface="Source Sans Pro"/>
                  <a:sym typeface="Source Sans Pro"/>
                </a:rPr>
                <a:t>(TypeScript / JavaScript)</a:t>
              </a:r>
              <a:endParaRPr b="0" sz="1100">
                <a:solidFill>
                  <a:srgbClr val="94A3B8"/>
                </a:solidFill>
                <a:latin typeface="Source Sans Pro"/>
                <a:ea typeface="Source Sans Pro"/>
                <a:cs typeface="Source Sans Pro"/>
                <a:sym typeface="Source Sans Pro"/>
              </a:endParaRPr>
            </a:p>
            <a:p>
              <a:pPr indent="0" lvl="0" marL="0" rtl="0" algn="l">
                <a:spcBef>
                  <a:spcPts val="900"/>
                </a:spcBef>
                <a:spcAft>
                  <a:spcPts val="0"/>
                </a:spcAft>
                <a:buNone/>
              </a:pPr>
              <a:r>
                <a:rPr lang="es" sz="1220">
                  <a:solidFill>
                    <a:srgbClr val="E2E8F0"/>
                  </a:solidFill>
                </a:rPr>
                <a:t>Modela en memoria con estructura orientada a objetos:</a:t>
              </a:r>
              <a:endParaRPr sz="1220">
                <a:solidFill>
                  <a:srgbClr val="E2E8F0"/>
                </a:solidFill>
              </a:endParaRPr>
            </a:p>
            <a:p>
              <a:pPr indent="0" lvl="0" marL="0" rtl="0" algn="l">
                <a:spcBef>
                  <a:spcPts val="0"/>
                </a:spcBef>
                <a:spcAft>
                  <a:spcPts val="0"/>
                </a:spcAft>
                <a:buNone/>
              </a:pPr>
              <a:r>
                <a:t/>
              </a:r>
              <a:endParaRPr sz="1220">
                <a:solidFill>
                  <a:srgbClr val="E2E8F0"/>
                </a:solidFill>
              </a:endParaRPr>
            </a:p>
            <a:p>
              <a:pPr indent="-336550" lvl="0" marL="457200" rtl="0" algn="l">
                <a:spcBef>
                  <a:spcPts val="600"/>
                </a:spcBef>
                <a:spcAft>
                  <a:spcPts val="300"/>
                </a:spcAft>
                <a:buClr>
                  <a:srgbClr val="93C5FD"/>
                </a:buClr>
                <a:buSzPts val="1700"/>
                <a:buFont typeface="Arial"/>
                <a:buChar char="●"/>
              </a:pPr>
              <a:r>
                <a:rPr b="1" lang="es" sz="1700">
                  <a:solidFill>
                    <a:srgbClr val="CBD5E1"/>
                  </a:solidFill>
                </a:rPr>
                <a:t>Objetos, Clases y Propiedades</a:t>
              </a:r>
              <a:endParaRPr b="1" sz="1700">
                <a:solidFill>
                  <a:srgbClr val="93C5FD"/>
                </a:solidFill>
              </a:endParaRPr>
            </a:p>
          </p:txBody>
        </p:sp>
      </p:grpSp>
      <p:grpSp>
        <p:nvGrpSpPr>
          <p:cNvPr id="100" name="Google Shape;100;p16"/>
          <p:cNvGrpSpPr/>
          <p:nvPr/>
        </p:nvGrpSpPr>
        <p:grpSpPr>
          <a:xfrm>
            <a:off x="4818300" y="1162050"/>
            <a:ext cx="3897000" cy="1647831"/>
            <a:chOff x="55800" y="0"/>
            <a:chExt cx="3897000" cy="1779900"/>
          </a:xfrm>
        </p:grpSpPr>
        <p:sp>
          <p:nvSpPr>
            <p:cNvPr id="101" name="Google Shape;101;p16"/>
            <p:cNvSpPr/>
            <p:nvPr/>
          </p:nvSpPr>
          <p:spPr>
            <a:xfrm>
              <a:off x="55800" y="0"/>
              <a:ext cx="3897000" cy="1779900"/>
            </a:xfrm>
            <a:prstGeom prst="roundRect">
              <a:avLst>
                <a:gd fmla="val 4571" name="adj"/>
              </a:avLst>
            </a:prstGeom>
            <a:solidFill>
              <a:srgbClr val="1E293B"/>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6"/>
            <p:cNvSpPr txBox="1"/>
            <p:nvPr/>
          </p:nvSpPr>
          <p:spPr>
            <a:xfrm>
              <a:off x="190575" y="95152"/>
              <a:ext cx="3571800" cy="154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000">
                  <a:solidFill>
                    <a:srgbClr val="34D399"/>
                  </a:solidFill>
                  <a:latin typeface="Source Sans Pro"/>
                  <a:ea typeface="Source Sans Pro"/>
                  <a:cs typeface="Source Sans Pro"/>
                  <a:sym typeface="Source Sans Pro"/>
                </a:rPr>
                <a:t>Persistencia</a:t>
              </a:r>
              <a:endParaRPr b="1" sz="2000">
                <a:solidFill>
                  <a:srgbClr val="34D399"/>
                </a:solidFill>
                <a:latin typeface="Source Sans Pro"/>
                <a:ea typeface="Source Sans Pro"/>
                <a:cs typeface="Source Sans Pro"/>
                <a:sym typeface="Source Sans Pro"/>
              </a:endParaRPr>
            </a:p>
            <a:p>
              <a:pPr indent="0" lvl="0" marL="0" rtl="0" algn="l">
                <a:spcBef>
                  <a:spcPts val="0"/>
                </a:spcBef>
                <a:spcAft>
                  <a:spcPts val="0"/>
                </a:spcAft>
                <a:buNone/>
              </a:pPr>
              <a:r>
                <a:rPr b="0" lang="es" sz="1100">
                  <a:solidFill>
                    <a:srgbClr val="94A3B8"/>
                  </a:solidFill>
                  <a:latin typeface="Source Sans Pro"/>
                  <a:ea typeface="Source Sans Pro"/>
                  <a:cs typeface="Source Sans Pro"/>
                  <a:sym typeface="Source Sans Pro"/>
                </a:rPr>
                <a:t>(Bases de Datos Relacionales)</a:t>
              </a:r>
              <a:endParaRPr b="0" sz="1100">
                <a:solidFill>
                  <a:srgbClr val="94A3B8"/>
                </a:solidFill>
                <a:latin typeface="Source Sans Pro"/>
                <a:ea typeface="Source Sans Pro"/>
                <a:cs typeface="Source Sans Pro"/>
                <a:sym typeface="Source Sans Pro"/>
              </a:endParaRPr>
            </a:p>
            <a:p>
              <a:pPr indent="0" lvl="0" marL="0" rtl="0" algn="l">
                <a:spcBef>
                  <a:spcPts val="900"/>
                </a:spcBef>
                <a:spcAft>
                  <a:spcPts val="0"/>
                </a:spcAft>
                <a:buNone/>
              </a:pPr>
              <a:r>
                <a:rPr lang="es" sz="1200">
                  <a:solidFill>
                    <a:srgbClr val="E2E8F0"/>
                  </a:solidFill>
                  <a:latin typeface="Arial"/>
                  <a:ea typeface="Arial"/>
                  <a:cs typeface="Arial"/>
                  <a:sym typeface="Arial"/>
                </a:rPr>
                <a:t>Almacena datos de forma relacional y tabular:</a:t>
              </a:r>
              <a:endParaRPr sz="1200">
                <a:solidFill>
                  <a:srgbClr val="E2E8F0"/>
                </a:solidFill>
              </a:endParaRPr>
            </a:p>
            <a:p>
              <a:pPr indent="-336550" lvl="0" marL="457200" rtl="0" algn="l">
                <a:spcBef>
                  <a:spcPts val="600"/>
                </a:spcBef>
                <a:spcAft>
                  <a:spcPts val="0"/>
                </a:spcAft>
                <a:buClr>
                  <a:srgbClr val="6EE7B7"/>
                </a:buClr>
                <a:buSzPts val="1700"/>
                <a:buFont typeface="Arial"/>
                <a:buChar char="●"/>
              </a:pPr>
              <a:r>
                <a:rPr b="1" lang="es" sz="1700">
                  <a:solidFill>
                    <a:srgbClr val="CBD5E1"/>
                  </a:solidFill>
                </a:rPr>
                <a:t>Tablas, Filas y Columnas</a:t>
              </a:r>
              <a:endParaRPr b="1" sz="1700">
                <a:solidFill>
                  <a:srgbClr val="6EE7B7"/>
                </a:solidFill>
              </a:endParaRPr>
            </a:p>
            <a:p>
              <a:pPr indent="-336550" lvl="0" marL="457200" rtl="0" algn="l">
                <a:spcBef>
                  <a:spcPts val="300"/>
                </a:spcBef>
                <a:spcAft>
                  <a:spcPts val="300"/>
                </a:spcAft>
                <a:buClr>
                  <a:srgbClr val="6EE7B7"/>
                </a:buClr>
                <a:buSzPts val="1700"/>
                <a:buFont typeface="Arial"/>
                <a:buChar char="●"/>
              </a:pPr>
              <a:r>
                <a:rPr b="1" lang="es" sz="1700">
                  <a:solidFill>
                    <a:srgbClr val="CBD5E1"/>
                  </a:solidFill>
                </a:rPr>
                <a:t>Claves Primarias y Foráneas</a:t>
              </a:r>
              <a:endParaRPr b="1" sz="1700">
                <a:solidFill>
                  <a:srgbClr val="6EE7B7"/>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6" name="Shape 106"/>
        <p:cNvGrpSpPr/>
        <p:nvPr/>
      </p:nvGrpSpPr>
      <p:grpSpPr>
        <a:xfrm>
          <a:off x="0" y="0"/>
          <a:ext cx="0" cy="0"/>
          <a:chOff x="0" y="0"/>
          <a:chExt cx="0" cy="0"/>
        </a:xfrm>
      </p:grpSpPr>
      <p:sp>
        <p:nvSpPr>
          <p:cNvPr id="107" name="Google Shape;107;p1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8" name="Google Shape;108;p17"/>
          <p:cNvSpPr/>
          <p:nvPr/>
        </p:nvSpPr>
        <p:spPr>
          <a:xfrm>
            <a:off x="1383450" y="198600"/>
            <a:ext cx="6377100" cy="6096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Source Sans Pro"/>
                <a:ea typeface="Source Sans Pro"/>
                <a:cs typeface="Source Sans Pro"/>
                <a:sym typeface="Source Sans Pro"/>
              </a:rPr>
              <a:t>Introducción a ORM</a:t>
            </a:r>
            <a:endParaRPr b="1" sz="3200">
              <a:solidFill>
                <a:srgbClr val="FFFFFF"/>
              </a:solidFill>
              <a:latin typeface="Source Sans Pro"/>
              <a:ea typeface="Source Sans Pro"/>
              <a:cs typeface="Source Sans Pro"/>
              <a:sym typeface="Source Sans Pro"/>
            </a:endParaRPr>
          </a:p>
        </p:txBody>
      </p:sp>
      <p:grpSp>
        <p:nvGrpSpPr>
          <p:cNvPr id="109" name="Google Shape;109;p17"/>
          <p:cNvGrpSpPr/>
          <p:nvPr/>
        </p:nvGrpSpPr>
        <p:grpSpPr>
          <a:xfrm>
            <a:off x="486975" y="1865597"/>
            <a:ext cx="2275428" cy="1896763"/>
            <a:chOff x="381000" y="2686175"/>
            <a:chExt cx="2381400" cy="1885825"/>
          </a:xfrm>
        </p:grpSpPr>
        <p:sp>
          <p:nvSpPr>
            <p:cNvPr id="110" name="Google Shape;110;p17"/>
            <p:cNvSpPr/>
            <p:nvPr/>
          </p:nvSpPr>
          <p:spPr>
            <a:xfrm>
              <a:off x="381000" y="2686200"/>
              <a:ext cx="2381400" cy="1885800"/>
            </a:xfrm>
            <a:prstGeom prst="roundRect">
              <a:avLst>
                <a:gd fmla="val 4800" name="adj"/>
              </a:avLst>
            </a:prstGeom>
            <a:solidFill>
              <a:srgbClr val="1E293B"/>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7"/>
            <p:cNvSpPr txBox="1"/>
            <p:nvPr/>
          </p:nvSpPr>
          <p:spPr>
            <a:xfrm>
              <a:off x="381000" y="2686175"/>
              <a:ext cx="2381400" cy="18858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2400">
                  <a:solidFill>
                    <a:srgbClr val="60A5FA"/>
                  </a:solidFill>
                  <a:latin typeface="Source Sans Pro"/>
                  <a:ea typeface="Source Sans Pro"/>
                  <a:cs typeface="Source Sans Pro"/>
                  <a:sym typeface="Source Sans Pro"/>
                </a:rPr>
                <a:t>Aplicación</a:t>
              </a:r>
              <a:endParaRPr b="0" sz="2400">
                <a:solidFill>
                  <a:srgbClr val="94A3B8"/>
                </a:solidFill>
                <a:latin typeface="Source Sans Pro"/>
                <a:ea typeface="Source Sans Pro"/>
                <a:cs typeface="Source Sans Pro"/>
                <a:sym typeface="Source Sans Pro"/>
              </a:endParaRPr>
            </a:p>
            <a:p>
              <a:pPr indent="0" lvl="0" marL="0" rtl="0" algn="ctr">
                <a:spcBef>
                  <a:spcPts val="1500"/>
                </a:spcBef>
                <a:spcAft>
                  <a:spcPts val="900"/>
                </a:spcAft>
                <a:buNone/>
              </a:pPr>
              <a:r>
                <a:rPr b="1" lang="es" sz="1700">
                  <a:solidFill>
                    <a:srgbClr val="E2E8F0"/>
                  </a:solidFill>
                  <a:latin typeface="Source Sans Pro"/>
                  <a:ea typeface="Source Sans Pro"/>
                  <a:cs typeface="Source Sans Pro"/>
                  <a:sym typeface="Source Sans Pro"/>
                </a:rPr>
                <a:t>Código y métodos nativos de cada lenguaje</a:t>
              </a:r>
              <a:endParaRPr b="1" sz="1700">
                <a:solidFill>
                  <a:srgbClr val="E2E8F0"/>
                </a:solidFill>
                <a:latin typeface="Source Sans Pro"/>
                <a:ea typeface="Source Sans Pro"/>
                <a:cs typeface="Source Sans Pro"/>
                <a:sym typeface="Source Sans Pro"/>
              </a:endParaRPr>
            </a:p>
          </p:txBody>
        </p:sp>
      </p:grpSp>
      <p:grpSp>
        <p:nvGrpSpPr>
          <p:cNvPr id="112" name="Google Shape;112;p17"/>
          <p:cNvGrpSpPr/>
          <p:nvPr/>
        </p:nvGrpSpPr>
        <p:grpSpPr>
          <a:xfrm>
            <a:off x="2955400" y="2642525"/>
            <a:ext cx="285900" cy="342900"/>
            <a:chOff x="95250" y="19050"/>
            <a:chExt cx="285900" cy="342900"/>
          </a:xfrm>
        </p:grpSpPr>
        <p:sp>
          <p:nvSpPr>
            <p:cNvPr id="113" name="Google Shape;113;p17"/>
            <p:cNvSpPr/>
            <p:nvPr/>
          </p:nvSpPr>
          <p:spPr>
            <a:xfrm>
              <a:off x="95250" y="209550"/>
              <a:ext cx="285900" cy="152400"/>
            </a:xfrm>
            <a:custGeom>
              <a:rect b="b" l="l" r="r" t="t"/>
              <a:pathLst>
                <a:path extrusionOk="0" h="120000" w="120000">
                  <a:moveTo>
                    <a:pt x="0" y="60000"/>
                  </a:moveTo>
                  <a:lnTo>
                    <a:pt x="120000" y="60000"/>
                  </a:lnTo>
                  <a:moveTo>
                    <a:pt x="88000" y="0"/>
                  </a:moveTo>
                  <a:lnTo>
                    <a:pt x="120000" y="60000"/>
                  </a:lnTo>
                  <a:lnTo>
                    <a:pt x="88000" y="120000"/>
                  </a:lnTo>
                </a:path>
              </a:pathLst>
            </a:custGeom>
            <a:solidFill>
              <a:srgbClr val="000000">
                <a:alpha val="0"/>
              </a:srgbClr>
            </a:solidFill>
            <a:ln cap="rnd" cmpd="sng" w="28575">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7"/>
            <p:cNvSpPr/>
            <p:nvPr/>
          </p:nvSpPr>
          <p:spPr>
            <a:xfrm>
              <a:off x="95250" y="19050"/>
              <a:ext cx="285900" cy="152400"/>
            </a:xfrm>
            <a:custGeom>
              <a:rect b="b" l="l" r="r" t="t"/>
              <a:pathLst>
                <a:path extrusionOk="0" h="120000" w="120000">
                  <a:moveTo>
                    <a:pt x="120000" y="60000"/>
                  </a:moveTo>
                  <a:lnTo>
                    <a:pt x="0" y="60000"/>
                  </a:lnTo>
                  <a:moveTo>
                    <a:pt x="32000" y="0"/>
                  </a:moveTo>
                  <a:lnTo>
                    <a:pt x="0" y="60000"/>
                  </a:lnTo>
                  <a:lnTo>
                    <a:pt x="32000" y="120000"/>
                  </a:lnTo>
                </a:path>
              </a:pathLst>
            </a:custGeom>
            <a:solidFill>
              <a:srgbClr val="000000">
                <a:alpha val="0"/>
              </a:srgbClr>
            </a:solidFill>
            <a:ln cap="rnd" cmpd="sng" w="28575">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5" name="Google Shape;115;p17"/>
          <p:cNvGrpSpPr/>
          <p:nvPr/>
        </p:nvGrpSpPr>
        <p:grpSpPr>
          <a:xfrm>
            <a:off x="3434288" y="1865575"/>
            <a:ext cx="2275408" cy="1896789"/>
            <a:chOff x="0" y="0"/>
            <a:chExt cx="2476500" cy="3238500"/>
          </a:xfrm>
        </p:grpSpPr>
        <p:sp>
          <p:nvSpPr>
            <p:cNvPr id="116" name="Google Shape;116;p17"/>
            <p:cNvSpPr/>
            <p:nvPr/>
          </p:nvSpPr>
          <p:spPr>
            <a:xfrm>
              <a:off x="0" y="0"/>
              <a:ext cx="2476500" cy="3238500"/>
            </a:xfrm>
            <a:prstGeom prst="roundRect">
              <a:avLst>
                <a:gd fmla="val 4615" name="adj"/>
              </a:avLst>
            </a:prstGeom>
            <a:solidFill>
              <a:srgbClr val="1E293B"/>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7"/>
            <p:cNvSpPr txBox="1"/>
            <p:nvPr/>
          </p:nvSpPr>
          <p:spPr>
            <a:xfrm>
              <a:off x="0" y="0"/>
              <a:ext cx="2476500" cy="32385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2400">
                  <a:solidFill>
                    <a:srgbClr val="34D399"/>
                  </a:solidFill>
                  <a:latin typeface="Source Sans Pro"/>
                  <a:ea typeface="Source Sans Pro"/>
                  <a:cs typeface="Source Sans Pro"/>
                  <a:sym typeface="Source Sans Pro"/>
                </a:rPr>
                <a:t>ORM</a:t>
              </a:r>
              <a:endParaRPr b="1" sz="1000">
                <a:solidFill>
                  <a:srgbClr val="34D399"/>
                </a:solidFill>
                <a:latin typeface="Source Sans Pro"/>
                <a:ea typeface="Source Sans Pro"/>
                <a:cs typeface="Source Sans Pro"/>
                <a:sym typeface="Source Sans Pro"/>
              </a:endParaRPr>
            </a:p>
            <a:p>
              <a:pPr indent="0" lvl="0" marL="0" rtl="0" algn="ctr">
                <a:spcBef>
                  <a:spcPts val="1500"/>
                </a:spcBef>
                <a:spcAft>
                  <a:spcPts val="900"/>
                </a:spcAft>
                <a:buNone/>
              </a:pPr>
              <a:r>
                <a:rPr b="1" lang="es" sz="1700">
                  <a:solidFill>
                    <a:srgbClr val="E2E8F0"/>
                  </a:solidFill>
                  <a:latin typeface="Source Sans Pro"/>
                  <a:ea typeface="Source Sans Pro"/>
                  <a:cs typeface="Source Sans Pro"/>
                  <a:sym typeface="Source Sans Pro"/>
                </a:rPr>
                <a:t>Capa intermedia que automatiza la correspondencia </a:t>
              </a:r>
              <a:endParaRPr b="1" sz="1700">
                <a:solidFill>
                  <a:srgbClr val="E2E8F0"/>
                </a:solidFill>
                <a:latin typeface="Source Sans Pro"/>
                <a:ea typeface="Source Sans Pro"/>
                <a:cs typeface="Source Sans Pro"/>
                <a:sym typeface="Source Sans Pro"/>
              </a:endParaRPr>
            </a:p>
          </p:txBody>
        </p:sp>
      </p:grpSp>
      <p:grpSp>
        <p:nvGrpSpPr>
          <p:cNvPr id="118" name="Google Shape;118;p17"/>
          <p:cNvGrpSpPr/>
          <p:nvPr/>
        </p:nvGrpSpPr>
        <p:grpSpPr>
          <a:xfrm>
            <a:off x="5902700" y="2642525"/>
            <a:ext cx="285900" cy="342900"/>
            <a:chOff x="95250" y="19050"/>
            <a:chExt cx="285900" cy="342900"/>
          </a:xfrm>
        </p:grpSpPr>
        <p:sp>
          <p:nvSpPr>
            <p:cNvPr id="119" name="Google Shape;119;p17"/>
            <p:cNvSpPr/>
            <p:nvPr/>
          </p:nvSpPr>
          <p:spPr>
            <a:xfrm>
              <a:off x="95250" y="209550"/>
              <a:ext cx="285900" cy="152400"/>
            </a:xfrm>
            <a:custGeom>
              <a:rect b="b" l="l" r="r" t="t"/>
              <a:pathLst>
                <a:path extrusionOk="0" h="120000" w="120000">
                  <a:moveTo>
                    <a:pt x="0" y="60000"/>
                  </a:moveTo>
                  <a:lnTo>
                    <a:pt x="120000" y="60000"/>
                  </a:lnTo>
                  <a:moveTo>
                    <a:pt x="88000" y="0"/>
                  </a:moveTo>
                  <a:lnTo>
                    <a:pt x="120000" y="60000"/>
                  </a:lnTo>
                  <a:lnTo>
                    <a:pt x="88000" y="120000"/>
                  </a:lnTo>
                </a:path>
              </a:pathLst>
            </a:custGeom>
            <a:solidFill>
              <a:srgbClr val="000000">
                <a:alpha val="0"/>
              </a:srgbClr>
            </a:solidFill>
            <a:ln cap="rnd" cmpd="sng" w="28575">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p:nvPr/>
          </p:nvSpPr>
          <p:spPr>
            <a:xfrm>
              <a:off x="95250" y="19050"/>
              <a:ext cx="285900" cy="152400"/>
            </a:xfrm>
            <a:custGeom>
              <a:rect b="b" l="l" r="r" t="t"/>
              <a:pathLst>
                <a:path extrusionOk="0" h="120000" w="120000">
                  <a:moveTo>
                    <a:pt x="120000" y="60000"/>
                  </a:moveTo>
                  <a:lnTo>
                    <a:pt x="0" y="60000"/>
                  </a:lnTo>
                  <a:moveTo>
                    <a:pt x="32000" y="0"/>
                  </a:moveTo>
                  <a:lnTo>
                    <a:pt x="0" y="60000"/>
                  </a:lnTo>
                  <a:lnTo>
                    <a:pt x="32000" y="120000"/>
                  </a:lnTo>
                </a:path>
              </a:pathLst>
            </a:custGeom>
            <a:solidFill>
              <a:srgbClr val="000000">
                <a:alpha val="0"/>
              </a:srgbClr>
            </a:solidFill>
            <a:ln cap="rnd" cmpd="sng" w="28575">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1" name="Google Shape;121;p17"/>
          <p:cNvGrpSpPr/>
          <p:nvPr/>
        </p:nvGrpSpPr>
        <p:grpSpPr>
          <a:xfrm>
            <a:off x="6381600" y="1865575"/>
            <a:ext cx="2275428" cy="1896789"/>
            <a:chOff x="0" y="0"/>
            <a:chExt cx="2381400" cy="3238500"/>
          </a:xfrm>
        </p:grpSpPr>
        <p:sp>
          <p:nvSpPr>
            <p:cNvPr id="122" name="Google Shape;122;p17"/>
            <p:cNvSpPr/>
            <p:nvPr/>
          </p:nvSpPr>
          <p:spPr>
            <a:xfrm>
              <a:off x="0" y="0"/>
              <a:ext cx="2381400" cy="3238500"/>
            </a:xfrm>
            <a:prstGeom prst="roundRect">
              <a:avLst>
                <a:gd fmla="val 4800" name="adj"/>
              </a:avLst>
            </a:pr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7"/>
            <p:cNvSpPr txBox="1"/>
            <p:nvPr/>
          </p:nvSpPr>
          <p:spPr>
            <a:xfrm>
              <a:off x="0" y="0"/>
              <a:ext cx="2381400" cy="32385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2300">
                  <a:solidFill>
                    <a:srgbClr val="FBBF24"/>
                  </a:solidFill>
                  <a:latin typeface="Source Sans Pro"/>
                  <a:ea typeface="Source Sans Pro"/>
                  <a:cs typeface="Source Sans Pro"/>
                  <a:sym typeface="Source Sans Pro"/>
                </a:rPr>
                <a:t>Base de Datos</a:t>
              </a:r>
              <a:endParaRPr b="0" sz="2300">
                <a:solidFill>
                  <a:srgbClr val="94A3B8"/>
                </a:solidFill>
                <a:latin typeface="Source Sans Pro"/>
                <a:ea typeface="Source Sans Pro"/>
                <a:cs typeface="Source Sans Pro"/>
                <a:sym typeface="Source Sans Pro"/>
              </a:endParaRPr>
            </a:p>
            <a:p>
              <a:pPr indent="0" lvl="0" marL="0" rtl="0" algn="ctr">
                <a:spcBef>
                  <a:spcPts val="1500"/>
                </a:spcBef>
                <a:spcAft>
                  <a:spcPts val="0"/>
                </a:spcAft>
                <a:buNone/>
              </a:pPr>
              <a:r>
                <a:rPr b="1" lang="es" sz="1700">
                  <a:solidFill>
                    <a:srgbClr val="E2E8F0"/>
                  </a:solidFill>
                  <a:latin typeface="Source Sans Pro"/>
                  <a:ea typeface="Source Sans Pro"/>
                  <a:cs typeface="Source Sans Pro"/>
                  <a:sym typeface="Source Sans Pro"/>
                </a:rPr>
                <a:t>Ejecución de SQL  </a:t>
              </a:r>
              <a:endParaRPr b="1" sz="100">
                <a:solidFill>
                  <a:srgbClr val="E2E8F0"/>
                </a:solidFill>
                <a:latin typeface="Source Sans Pro"/>
                <a:ea typeface="Source Sans Pro"/>
                <a:cs typeface="Source Sans Pro"/>
                <a:sym typeface="Source Sans Pro"/>
              </a:endParaRPr>
            </a:p>
            <a:p>
              <a:pPr indent="0" lvl="0" marL="0" rtl="0" algn="ctr">
                <a:spcBef>
                  <a:spcPts val="900"/>
                </a:spcBef>
                <a:spcAft>
                  <a:spcPts val="900"/>
                </a:spcAft>
                <a:buNone/>
              </a:pPr>
              <a:r>
                <a:rPr b="1" lang="es" sz="1700">
                  <a:solidFill>
                    <a:srgbClr val="E2E8F0"/>
                  </a:solidFill>
                  <a:latin typeface="Source Sans Pro"/>
                  <a:ea typeface="Source Sans Pro"/>
                  <a:cs typeface="Source Sans Pro"/>
                  <a:sym typeface="Source Sans Pro"/>
                </a:rPr>
                <a:t> Almacenamiento en tablas</a:t>
              </a:r>
              <a:endParaRPr b="1" sz="1700">
                <a:solidFill>
                  <a:srgbClr val="E2E8F0"/>
                </a:solidFill>
                <a:latin typeface="Source Sans Pro"/>
                <a:ea typeface="Source Sans Pro"/>
                <a:cs typeface="Source Sans Pro"/>
                <a:sym typeface="Source Sans Pr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27" name="Shape 127"/>
        <p:cNvGrpSpPr/>
        <p:nvPr/>
      </p:nvGrpSpPr>
      <p:grpSpPr>
        <a:xfrm>
          <a:off x="0" y="0"/>
          <a:ext cx="0" cy="0"/>
          <a:chOff x="0" y="0"/>
          <a:chExt cx="0" cy="0"/>
        </a:xfrm>
      </p:grpSpPr>
      <p:sp>
        <p:nvSpPr>
          <p:cNvPr id="128" name="Google Shape;128;p18"/>
          <p:cNvSpPr/>
          <p:nvPr/>
        </p:nvSpPr>
        <p:spPr>
          <a:xfrm>
            <a:off x="0" y="0"/>
            <a:ext cx="9144000" cy="10002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9" name="Google Shape;129;p18"/>
          <p:cNvGrpSpPr/>
          <p:nvPr/>
        </p:nvGrpSpPr>
        <p:grpSpPr>
          <a:xfrm>
            <a:off x="1339100" y="271500"/>
            <a:ext cx="6381900" cy="457200"/>
            <a:chOff x="0" y="0"/>
            <a:chExt cx="6381900" cy="457200"/>
          </a:xfrm>
        </p:grpSpPr>
        <p:sp>
          <p:nvSpPr>
            <p:cNvPr id="130" name="Google Shape;130;p18"/>
            <p:cNvSpPr/>
            <p:nvPr/>
          </p:nvSpPr>
          <p:spPr>
            <a:xfrm>
              <a:off x="0" y="0"/>
              <a:ext cx="6381900" cy="4572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8"/>
            <p:cNvSpPr txBox="1"/>
            <p:nvPr/>
          </p:nvSpPr>
          <p:spPr>
            <a:xfrm>
              <a:off x="0" y="0"/>
              <a:ext cx="63819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2400">
                  <a:solidFill>
                    <a:srgbClr val="FFFFFF"/>
                  </a:solidFill>
                  <a:latin typeface="Source Sans Pro"/>
                  <a:ea typeface="Source Sans Pro"/>
                  <a:cs typeface="Source Sans Pro"/>
                  <a:sym typeface="Source Sans Pro"/>
                </a:rPr>
                <a:t>Evolución e Historia de los ORM</a:t>
              </a:r>
              <a:endParaRPr b="1" sz="2400">
                <a:solidFill>
                  <a:srgbClr val="FFFFFF"/>
                </a:solidFill>
                <a:latin typeface="Source Sans Pro"/>
                <a:ea typeface="Source Sans Pro"/>
                <a:cs typeface="Source Sans Pro"/>
                <a:sym typeface="Source Sans Pro"/>
              </a:endParaRPr>
            </a:p>
          </p:txBody>
        </p:sp>
      </p:grpSp>
      <p:pic>
        <p:nvPicPr>
          <p:cNvPr id="132" name="Google Shape;132;p18"/>
          <p:cNvPicPr preferRelativeResize="0"/>
          <p:nvPr/>
        </p:nvPicPr>
        <p:blipFill rotWithShape="1">
          <a:blip r:embed="rId3">
            <a:alphaModFix/>
          </a:blip>
          <a:srcRect b="0" l="0" r="0" t="0"/>
          <a:stretch/>
        </p:blipFill>
        <p:spPr>
          <a:xfrm>
            <a:off x="205638" y="1114425"/>
            <a:ext cx="8519400" cy="1827000"/>
          </a:xfrm>
          <a:prstGeom prst="rect">
            <a:avLst/>
          </a:prstGeom>
          <a:noFill/>
          <a:ln>
            <a:noFill/>
          </a:ln>
        </p:spPr>
      </p:pic>
      <p:sp>
        <p:nvSpPr>
          <p:cNvPr id="133" name="Google Shape;133;p18"/>
          <p:cNvSpPr txBox="1"/>
          <p:nvPr/>
        </p:nvSpPr>
        <p:spPr>
          <a:xfrm>
            <a:off x="410803" y="1221893"/>
            <a:ext cx="8109000" cy="312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s" sz="1600">
                <a:solidFill>
                  <a:srgbClr val="60A5FA"/>
                </a:solidFill>
                <a:latin typeface="Source Sans Pro"/>
                <a:ea typeface="Source Sans Pro"/>
                <a:cs typeface="Source Sans Pro"/>
                <a:sym typeface="Source Sans Pro"/>
              </a:rPr>
              <a:t>Orígenes y Consolidación</a:t>
            </a:r>
            <a:endParaRPr b="1" i="0" sz="1600">
              <a:solidFill>
                <a:srgbClr val="60A5FA"/>
              </a:solidFill>
              <a:latin typeface="Source Sans Pro"/>
              <a:ea typeface="Source Sans Pro"/>
              <a:cs typeface="Source Sans Pro"/>
              <a:sym typeface="Source Sans Pro"/>
            </a:endParaRPr>
          </a:p>
        </p:txBody>
      </p:sp>
      <p:cxnSp>
        <p:nvCxnSpPr>
          <p:cNvPr id="134" name="Google Shape;134;p18"/>
          <p:cNvCxnSpPr>
            <a:stCxn id="135" idx="6"/>
          </p:cNvCxnSpPr>
          <p:nvPr/>
        </p:nvCxnSpPr>
        <p:spPr>
          <a:xfrm>
            <a:off x="1621660" y="1661452"/>
            <a:ext cx="5882700" cy="0"/>
          </a:xfrm>
          <a:prstGeom prst="straightConnector1">
            <a:avLst/>
          </a:prstGeom>
          <a:solidFill>
            <a:srgbClr val="FFFFFF"/>
          </a:solidFill>
          <a:ln cap="flat" cmpd="sng" w="29300">
            <a:solidFill>
              <a:srgbClr val="334155"/>
            </a:solidFill>
            <a:prstDash val="solid"/>
            <a:round/>
            <a:headEnd len="sm" w="sm" type="none"/>
            <a:tailEnd len="sm" w="sm" type="none"/>
          </a:ln>
        </p:spPr>
      </p:cxnSp>
      <p:grpSp>
        <p:nvGrpSpPr>
          <p:cNvPr id="136" name="Google Shape;136;p18"/>
          <p:cNvGrpSpPr/>
          <p:nvPr/>
        </p:nvGrpSpPr>
        <p:grpSpPr>
          <a:xfrm>
            <a:off x="644290" y="1563754"/>
            <a:ext cx="1804719" cy="1084530"/>
            <a:chOff x="-563404" y="-95250"/>
            <a:chExt cx="1759500" cy="1057356"/>
          </a:xfrm>
        </p:grpSpPr>
        <p:sp>
          <p:nvSpPr>
            <p:cNvPr id="135" name="Google Shape;135;p18"/>
            <p:cNvSpPr/>
            <p:nvPr/>
          </p:nvSpPr>
          <p:spPr>
            <a:xfrm>
              <a:off x="198977" y="-95250"/>
              <a:ext cx="190500" cy="190500"/>
            </a:xfrm>
            <a:prstGeom prst="ellipse">
              <a:avLst/>
            </a:prstGeom>
            <a:solidFill>
              <a:srgbClr val="60A5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8"/>
            <p:cNvSpPr txBox="1"/>
            <p:nvPr/>
          </p:nvSpPr>
          <p:spPr>
            <a:xfrm>
              <a:off x="-563404" y="152406"/>
              <a:ext cx="175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s" sz="1400">
                  <a:solidFill>
                    <a:srgbClr val="60A5FA"/>
                  </a:solidFill>
                  <a:latin typeface="Source Sans Pro"/>
                  <a:ea typeface="Source Sans Pro"/>
                  <a:cs typeface="Source Sans Pro"/>
                  <a:sym typeface="Source Sans Pro"/>
                </a:rPr>
                <a:t>Década de 1990</a:t>
              </a:r>
              <a:endParaRPr b="0" i="0" sz="1400">
                <a:solidFill>
                  <a:srgbClr val="60A5FA"/>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600">
                  <a:solidFill>
                    <a:srgbClr val="FFFFFF"/>
                  </a:solidFill>
                  <a:latin typeface="Source Sans Pro"/>
                  <a:ea typeface="Source Sans Pro"/>
                  <a:cs typeface="Source Sans Pro"/>
                  <a:sym typeface="Source Sans Pro"/>
                </a:rPr>
                <a:t>TopLink</a:t>
              </a:r>
              <a:endParaRPr b="0" i="0" sz="1400">
                <a:solidFill>
                  <a:srgbClr val="60A5FA"/>
                </a:solidFill>
                <a:latin typeface="Source Sans Pro"/>
                <a:ea typeface="Source Sans Pro"/>
                <a:cs typeface="Source Sans Pro"/>
                <a:sym typeface="Source Sans Pro"/>
              </a:endParaRPr>
            </a:p>
            <a:p>
              <a:pPr indent="0" lvl="0" marL="0" rtl="0" algn="ctr">
                <a:spcBef>
                  <a:spcPts val="0"/>
                </a:spcBef>
                <a:spcAft>
                  <a:spcPts val="0"/>
                </a:spcAft>
                <a:buNone/>
              </a:pPr>
              <a:r>
                <a:rPr b="0" i="0" lang="es" sz="1200">
                  <a:solidFill>
                    <a:srgbClr val="94A3B8"/>
                  </a:solidFill>
                  <a:latin typeface="Source Sans Pro"/>
                  <a:ea typeface="Source Sans Pro"/>
                  <a:cs typeface="Source Sans Pro"/>
                  <a:sym typeface="Source Sans Pro"/>
                </a:rPr>
                <a:t>Primer ORM (Smalltalk)</a:t>
              </a:r>
              <a:endParaRPr b="0" i="0" sz="1200">
                <a:solidFill>
                  <a:srgbClr val="60A5FA"/>
                </a:solidFill>
                <a:latin typeface="Source Sans Pro"/>
                <a:ea typeface="Source Sans Pro"/>
                <a:cs typeface="Source Sans Pro"/>
                <a:sym typeface="Source Sans Pro"/>
              </a:endParaRPr>
            </a:p>
          </p:txBody>
        </p:sp>
      </p:grpSp>
      <p:sp>
        <p:nvSpPr>
          <p:cNvPr id="138" name="Google Shape;138;p18"/>
          <p:cNvSpPr txBox="1"/>
          <p:nvPr/>
        </p:nvSpPr>
        <p:spPr>
          <a:xfrm>
            <a:off x="3445478" y="1822466"/>
            <a:ext cx="2039700" cy="830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s" sz="1400">
                <a:solidFill>
                  <a:srgbClr val="34D399"/>
                </a:solidFill>
                <a:latin typeface="Source Sans Pro"/>
                <a:ea typeface="Source Sans Pro"/>
                <a:cs typeface="Source Sans Pro"/>
                <a:sym typeface="Source Sans Pro"/>
              </a:rPr>
              <a:t>Principios de </a:t>
            </a:r>
            <a:r>
              <a:rPr b="0" i="0" lang="es" sz="1400">
                <a:solidFill>
                  <a:srgbClr val="34D399"/>
                </a:solidFill>
                <a:latin typeface="Source Sans Pro"/>
                <a:ea typeface="Source Sans Pro"/>
                <a:cs typeface="Source Sans Pro"/>
                <a:sym typeface="Source Sans Pro"/>
              </a:rPr>
              <a:t>los 2000</a:t>
            </a:r>
            <a:endParaRPr b="0" i="0" sz="1400">
              <a:solidFill>
                <a:srgbClr val="34D399"/>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600">
                <a:solidFill>
                  <a:srgbClr val="FFFFFF"/>
                </a:solidFill>
                <a:latin typeface="Source Sans Pro"/>
                <a:ea typeface="Source Sans Pro"/>
                <a:cs typeface="Source Sans Pro"/>
                <a:sym typeface="Source Sans Pro"/>
              </a:rPr>
              <a:t>Hibernate</a:t>
            </a:r>
            <a:endParaRPr b="0" i="0" sz="1400">
              <a:solidFill>
                <a:srgbClr val="34D399"/>
              </a:solidFill>
              <a:latin typeface="Source Sans Pro"/>
              <a:ea typeface="Source Sans Pro"/>
              <a:cs typeface="Source Sans Pro"/>
              <a:sym typeface="Source Sans Pro"/>
            </a:endParaRPr>
          </a:p>
          <a:p>
            <a:pPr indent="0" lvl="0" marL="0" rtl="0" algn="ctr">
              <a:spcBef>
                <a:spcPts val="0"/>
              </a:spcBef>
              <a:spcAft>
                <a:spcPts val="0"/>
              </a:spcAft>
              <a:buNone/>
            </a:pPr>
            <a:r>
              <a:rPr b="0" i="0" lang="es" sz="1200">
                <a:solidFill>
                  <a:srgbClr val="94A3B8"/>
                </a:solidFill>
                <a:latin typeface="Source Sans Pro"/>
                <a:ea typeface="Source Sans Pro"/>
                <a:cs typeface="Source Sans Pro"/>
                <a:sym typeface="Source Sans Pro"/>
              </a:rPr>
              <a:t>Estándar Java</a:t>
            </a:r>
            <a:endParaRPr b="0" i="0" sz="1200">
              <a:solidFill>
                <a:srgbClr val="34D399"/>
              </a:solidFill>
              <a:latin typeface="Source Sans Pro"/>
              <a:ea typeface="Source Sans Pro"/>
              <a:cs typeface="Source Sans Pro"/>
              <a:sym typeface="Source Sans Pro"/>
            </a:endParaRPr>
          </a:p>
        </p:txBody>
      </p:sp>
      <p:grpSp>
        <p:nvGrpSpPr>
          <p:cNvPr id="139" name="Google Shape;139;p18"/>
          <p:cNvGrpSpPr/>
          <p:nvPr/>
        </p:nvGrpSpPr>
        <p:grpSpPr>
          <a:xfrm>
            <a:off x="6243065" y="1563754"/>
            <a:ext cx="2386906" cy="1089118"/>
            <a:chOff x="-1010412" y="-95250"/>
            <a:chExt cx="2327100" cy="1061829"/>
          </a:xfrm>
        </p:grpSpPr>
        <p:sp>
          <p:nvSpPr>
            <p:cNvPr id="140" name="Google Shape;140;p18"/>
            <p:cNvSpPr/>
            <p:nvPr/>
          </p:nvSpPr>
          <p:spPr>
            <a:xfrm>
              <a:off x="28766" y="-95250"/>
              <a:ext cx="190500" cy="1905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8"/>
            <p:cNvSpPr txBox="1"/>
            <p:nvPr/>
          </p:nvSpPr>
          <p:spPr>
            <a:xfrm>
              <a:off x="-1010412" y="156879"/>
              <a:ext cx="23271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s" sz="1400">
                  <a:solidFill>
                    <a:srgbClr val="38BDF8"/>
                  </a:solidFill>
                  <a:latin typeface="Source Sans Pro"/>
                  <a:ea typeface="Source Sans Pro"/>
                  <a:cs typeface="Source Sans Pro"/>
                  <a:sym typeface="Source Sans Pro"/>
                </a:rPr>
                <a:t>Mediados de los 2000</a:t>
              </a:r>
              <a:endParaRPr b="0" i="0" sz="1400">
                <a:solidFill>
                  <a:srgbClr val="38BDF8"/>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600">
                  <a:solidFill>
                    <a:srgbClr val="FFFFFF"/>
                  </a:solidFill>
                  <a:latin typeface="Source Sans Pro"/>
                  <a:ea typeface="Source Sans Pro"/>
                  <a:cs typeface="Source Sans Pro"/>
                  <a:sym typeface="Source Sans Pro"/>
                </a:rPr>
                <a:t>Django ORM / SQLAlchemy</a:t>
              </a:r>
              <a:endParaRPr b="0" i="0" sz="1400">
                <a:solidFill>
                  <a:srgbClr val="38BDF8"/>
                </a:solidFill>
                <a:latin typeface="Source Sans Pro"/>
                <a:ea typeface="Source Sans Pro"/>
                <a:cs typeface="Source Sans Pro"/>
                <a:sym typeface="Source Sans Pro"/>
              </a:endParaRPr>
            </a:p>
            <a:p>
              <a:pPr indent="0" lvl="0" marL="0" rtl="0" algn="ctr">
                <a:spcBef>
                  <a:spcPts val="0"/>
                </a:spcBef>
                <a:spcAft>
                  <a:spcPts val="0"/>
                </a:spcAft>
                <a:buNone/>
              </a:pPr>
              <a:r>
                <a:rPr b="0" i="0" lang="es" sz="1200">
                  <a:solidFill>
                    <a:srgbClr val="94A3B8"/>
                  </a:solidFill>
                  <a:latin typeface="Source Sans Pro"/>
                  <a:ea typeface="Source Sans Pro"/>
                  <a:cs typeface="Source Sans Pro"/>
                  <a:sym typeface="Source Sans Pro"/>
                </a:rPr>
                <a:t>Python</a:t>
              </a:r>
              <a:endParaRPr b="0" i="0" sz="1200">
                <a:solidFill>
                  <a:srgbClr val="38BDF8"/>
                </a:solidFill>
                <a:latin typeface="Source Sans Pro"/>
                <a:ea typeface="Source Sans Pro"/>
                <a:cs typeface="Source Sans Pro"/>
                <a:sym typeface="Source Sans Pro"/>
              </a:endParaRPr>
            </a:p>
          </p:txBody>
        </p:sp>
      </p:grpSp>
      <p:pic>
        <p:nvPicPr>
          <p:cNvPr id="142" name="Google Shape;142;p18"/>
          <p:cNvPicPr preferRelativeResize="0"/>
          <p:nvPr/>
        </p:nvPicPr>
        <p:blipFill rotWithShape="1">
          <a:blip r:embed="rId4">
            <a:alphaModFix/>
          </a:blip>
          <a:srcRect b="0" l="0" r="0" t="0"/>
          <a:stretch/>
        </p:blipFill>
        <p:spPr>
          <a:xfrm>
            <a:off x="205401" y="3038475"/>
            <a:ext cx="8519400" cy="1826700"/>
          </a:xfrm>
          <a:prstGeom prst="rect">
            <a:avLst/>
          </a:prstGeom>
          <a:noFill/>
          <a:ln>
            <a:noFill/>
          </a:ln>
        </p:spPr>
      </p:pic>
      <p:sp>
        <p:nvSpPr>
          <p:cNvPr id="143" name="Google Shape;143;p18"/>
          <p:cNvSpPr txBox="1"/>
          <p:nvPr/>
        </p:nvSpPr>
        <p:spPr>
          <a:xfrm>
            <a:off x="388576" y="3108151"/>
            <a:ext cx="8261700" cy="318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s" sz="1600">
                <a:solidFill>
                  <a:srgbClr val="34D399"/>
                </a:solidFill>
                <a:latin typeface="Source Sans Pro"/>
                <a:ea typeface="Source Sans Pro"/>
                <a:cs typeface="Source Sans Pro"/>
                <a:sym typeface="Source Sans Pro"/>
              </a:rPr>
              <a:t>Type-Safety</a:t>
            </a:r>
            <a:endParaRPr b="1" i="0" sz="1600">
              <a:solidFill>
                <a:srgbClr val="34D399"/>
              </a:solidFill>
              <a:latin typeface="Source Sans Pro"/>
              <a:ea typeface="Source Sans Pro"/>
              <a:cs typeface="Source Sans Pro"/>
              <a:sym typeface="Source Sans Pro"/>
            </a:endParaRPr>
          </a:p>
        </p:txBody>
      </p:sp>
      <p:cxnSp>
        <p:nvCxnSpPr>
          <p:cNvPr id="144" name="Google Shape;144;p18"/>
          <p:cNvCxnSpPr/>
          <p:nvPr/>
        </p:nvCxnSpPr>
        <p:spPr>
          <a:xfrm>
            <a:off x="1524000" y="3604460"/>
            <a:ext cx="5882700" cy="0"/>
          </a:xfrm>
          <a:prstGeom prst="straightConnector1">
            <a:avLst/>
          </a:prstGeom>
          <a:solidFill>
            <a:srgbClr val="FFFFFF"/>
          </a:solidFill>
          <a:ln cap="flat" cmpd="sng" w="29850">
            <a:solidFill>
              <a:srgbClr val="334155"/>
            </a:solidFill>
            <a:prstDash val="solid"/>
            <a:round/>
            <a:headEnd len="sm" w="sm" type="none"/>
            <a:tailEnd len="sm" w="sm" type="none"/>
          </a:ln>
        </p:spPr>
      </p:cxnSp>
      <p:grpSp>
        <p:nvGrpSpPr>
          <p:cNvPr id="145" name="Google Shape;145;p18"/>
          <p:cNvGrpSpPr/>
          <p:nvPr/>
        </p:nvGrpSpPr>
        <p:grpSpPr>
          <a:xfrm>
            <a:off x="3099901" y="3504926"/>
            <a:ext cx="2730898" cy="1123386"/>
            <a:chOff x="-1145779" y="-95250"/>
            <a:chExt cx="2613300" cy="1075010"/>
          </a:xfrm>
        </p:grpSpPr>
        <p:sp>
          <p:nvSpPr>
            <p:cNvPr id="146" name="Google Shape;146;p18"/>
            <p:cNvSpPr/>
            <p:nvPr/>
          </p:nvSpPr>
          <p:spPr>
            <a:xfrm>
              <a:off x="65589" y="-95250"/>
              <a:ext cx="190500" cy="1905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8"/>
            <p:cNvSpPr txBox="1"/>
            <p:nvPr/>
          </p:nvSpPr>
          <p:spPr>
            <a:xfrm>
              <a:off x="-1145779" y="170060"/>
              <a:ext cx="26133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s">
                  <a:solidFill>
                    <a:srgbClr val="38BDF8"/>
                  </a:solidFill>
                  <a:latin typeface="Source Sans Pro"/>
                  <a:ea typeface="Source Sans Pro"/>
                  <a:cs typeface="Source Sans Pro"/>
                  <a:sym typeface="Source Sans Pro"/>
                </a:rPr>
                <a:t>Mediados de la década de 2010</a:t>
              </a:r>
              <a:endParaRPr b="0" i="0" sz="1400">
                <a:solidFill>
                  <a:srgbClr val="38BDF8"/>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700">
                  <a:solidFill>
                    <a:srgbClr val="FFFFFF"/>
                  </a:solidFill>
                  <a:latin typeface="Source Sans Pro"/>
                  <a:ea typeface="Source Sans Pro"/>
                  <a:cs typeface="Source Sans Pro"/>
                  <a:sym typeface="Source Sans Pro"/>
                </a:rPr>
                <a:t>TypeORM</a:t>
              </a:r>
              <a:endParaRPr b="0" i="0" sz="1500">
                <a:solidFill>
                  <a:srgbClr val="38BDF8"/>
                </a:solidFill>
                <a:latin typeface="Source Sans Pro"/>
                <a:ea typeface="Source Sans Pro"/>
                <a:cs typeface="Source Sans Pro"/>
                <a:sym typeface="Source Sans Pro"/>
              </a:endParaRPr>
            </a:p>
            <a:p>
              <a:pPr indent="0" lvl="0" marL="0" rtl="0" algn="ctr">
                <a:spcBef>
                  <a:spcPts val="0"/>
                </a:spcBef>
                <a:spcAft>
                  <a:spcPts val="0"/>
                </a:spcAft>
                <a:buNone/>
              </a:pPr>
              <a:r>
                <a:rPr b="0" i="0" lang="es" sz="1200">
                  <a:solidFill>
                    <a:srgbClr val="94A3B8"/>
                  </a:solidFill>
                  <a:latin typeface="Source Sans Pro"/>
                  <a:ea typeface="Source Sans Pro"/>
                  <a:cs typeface="Source Sans Pro"/>
                  <a:sym typeface="Source Sans Pro"/>
                </a:rPr>
                <a:t>Type</a:t>
              </a:r>
              <a:r>
                <a:rPr lang="es" sz="1200">
                  <a:solidFill>
                    <a:srgbClr val="94A3B8"/>
                  </a:solidFill>
                  <a:latin typeface="Source Sans Pro"/>
                  <a:ea typeface="Source Sans Pro"/>
                  <a:cs typeface="Source Sans Pro"/>
                  <a:sym typeface="Source Sans Pro"/>
                </a:rPr>
                <a:t>S</a:t>
              </a:r>
              <a:r>
                <a:rPr b="0" i="0" lang="es" sz="1200">
                  <a:solidFill>
                    <a:srgbClr val="94A3B8"/>
                  </a:solidFill>
                  <a:latin typeface="Source Sans Pro"/>
                  <a:ea typeface="Source Sans Pro"/>
                  <a:cs typeface="Source Sans Pro"/>
                  <a:sym typeface="Source Sans Pro"/>
                </a:rPr>
                <a:t>cript / Java</a:t>
              </a:r>
              <a:r>
                <a:rPr lang="es" sz="1200">
                  <a:solidFill>
                    <a:srgbClr val="94A3B8"/>
                  </a:solidFill>
                  <a:latin typeface="Source Sans Pro"/>
                  <a:ea typeface="Source Sans Pro"/>
                  <a:cs typeface="Source Sans Pro"/>
                  <a:sym typeface="Source Sans Pro"/>
                </a:rPr>
                <a:t>S</a:t>
              </a:r>
              <a:r>
                <a:rPr b="0" i="0" lang="es" sz="1200">
                  <a:solidFill>
                    <a:srgbClr val="94A3B8"/>
                  </a:solidFill>
                  <a:latin typeface="Source Sans Pro"/>
                  <a:ea typeface="Source Sans Pro"/>
                  <a:cs typeface="Source Sans Pro"/>
                  <a:sym typeface="Source Sans Pro"/>
                </a:rPr>
                <a:t>cript</a:t>
              </a:r>
              <a:endParaRPr b="0" i="0" sz="1200">
                <a:solidFill>
                  <a:srgbClr val="38BDF8"/>
                </a:solidFill>
                <a:latin typeface="Source Sans Pro"/>
                <a:ea typeface="Source Sans Pro"/>
                <a:cs typeface="Source Sans Pro"/>
                <a:sym typeface="Source Sans Pro"/>
              </a:endParaRPr>
            </a:p>
          </p:txBody>
        </p:sp>
      </p:grpSp>
      <p:grpSp>
        <p:nvGrpSpPr>
          <p:cNvPr id="148" name="Google Shape;148;p18"/>
          <p:cNvGrpSpPr/>
          <p:nvPr/>
        </p:nvGrpSpPr>
        <p:grpSpPr>
          <a:xfrm>
            <a:off x="6454191" y="3504926"/>
            <a:ext cx="1990725" cy="1104931"/>
            <a:chOff x="-602932" y="-95250"/>
            <a:chExt cx="1905000" cy="1057350"/>
          </a:xfrm>
        </p:grpSpPr>
        <p:sp>
          <p:nvSpPr>
            <p:cNvPr id="149" name="Google Shape;149;p18"/>
            <p:cNvSpPr/>
            <p:nvPr/>
          </p:nvSpPr>
          <p:spPr>
            <a:xfrm>
              <a:off x="213265" y="-95250"/>
              <a:ext cx="190500" cy="1905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txBox="1"/>
            <p:nvPr/>
          </p:nvSpPr>
          <p:spPr>
            <a:xfrm>
              <a:off x="-602932" y="152400"/>
              <a:ext cx="19050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s" sz="1600">
                  <a:solidFill>
                    <a:srgbClr val="34D399"/>
                  </a:solidFill>
                  <a:latin typeface="Source Sans Pro"/>
                  <a:ea typeface="Source Sans Pro"/>
                  <a:cs typeface="Source Sans Pro"/>
                  <a:sym typeface="Source Sans Pro"/>
                </a:rPr>
                <a:t>Últimos años</a:t>
              </a:r>
              <a:endParaRPr b="0" i="0" sz="1600">
                <a:solidFill>
                  <a:srgbClr val="34D399"/>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800">
                  <a:solidFill>
                    <a:srgbClr val="FFFFFF"/>
                  </a:solidFill>
                  <a:latin typeface="Source Sans Pro"/>
                  <a:ea typeface="Source Sans Pro"/>
                  <a:cs typeface="Source Sans Pro"/>
                  <a:sym typeface="Source Sans Pro"/>
                </a:rPr>
                <a:t>Prisma / Drizzle</a:t>
              </a:r>
              <a:endParaRPr b="0" i="0" sz="1600">
                <a:solidFill>
                  <a:srgbClr val="34D399"/>
                </a:solidFill>
                <a:latin typeface="Source Sans Pro"/>
                <a:ea typeface="Source Sans Pro"/>
                <a:cs typeface="Source Sans Pro"/>
                <a:sym typeface="Source Sans Pro"/>
              </a:endParaRPr>
            </a:p>
            <a:p>
              <a:pPr indent="0" lvl="0" marL="0" rtl="0" algn="ctr">
                <a:spcBef>
                  <a:spcPts val="0"/>
                </a:spcBef>
                <a:spcAft>
                  <a:spcPts val="0"/>
                </a:spcAft>
                <a:buNone/>
              </a:pPr>
              <a:r>
                <a:rPr b="0" i="0" lang="es" sz="1300">
                  <a:solidFill>
                    <a:srgbClr val="94A3B8"/>
                  </a:solidFill>
                  <a:latin typeface="Source Sans Pro"/>
                  <a:ea typeface="Source Sans Pro"/>
                  <a:cs typeface="Source Sans Pro"/>
                  <a:sym typeface="Source Sans Pro"/>
                </a:rPr>
                <a:t>TypeScript / Java</a:t>
              </a:r>
              <a:r>
                <a:rPr lang="es" sz="1300">
                  <a:solidFill>
                    <a:srgbClr val="94A3B8"/>
                  </a:solidFill>
                  <a:latin typeface="Source Sans Pro"/>
                  <a:ea typeface="Source Sans Pro"/>
                  <a:cs typeface="Source Sans Pro"/>
                  <a:sym typeface="Source Sans Pro"/>
                </a:rPr>
                <a:t>S</a:t>
              </a:r>
              <a:r>
                <a:rPr b="0" i="0" lang="es" sz="1300">
                  <a:solidFill>
                    <a:srgbClr val="94A3B8"/>
                  </a:solidFill>
                  <a:latin typeface="Source Sans Pro"/>
                  <a:ea typeface="Source Sans Pro"/>
                  <a:cs typeface="Source Sans Pro"/>
                  <a:sym typeface="Source Sans Pro"/>
                </a:rPr>
                <a:t>cript</a:t>
              </a:r>
              <a:endParaRPr b="0" i="0" sz="1300">
                <a:solidFill>
                  <a:srgbClr val="34D399"/>
                </a:solidFill>
                <a:latin typeface="Source Sans Pro"/>
                <a:ea typeface="Source Sans Pro"/>
                <a:cs typeface="Source Sans Pro"/>
                <a:sym typeface="Source Sans Pro"/>
              </a:endParaRPr>
            </a:p>
          </p:txBody>
        </p:sp>
      </p:grpSp>
      <p:grpSp>
        <p:nvGrpSpPr>
          <p:cNvPr id="151" name="Google Shape;151;p18"/>
          <p:cNvGrpSpPr/>
          <p:nvPr/>
        </p:nvGrpSpPr>
        <p:grpSpPr>
          <a:xfrm>
            <a:off x="621578" y="3518162"/>
            <a:ext cx="1804800" cy="1091712"/>
            <a:chOff x="-903922" y="-129588"/>
            <a:chExt cx="1804800" cy="1091712"/>
          </a:xfrm>
        </p:grpSpPr>
        <p:sp>
          <p:nvSpPr>
            <p:cNvPr id="152" name="Google Shape;152;p18"/>
            <p:cNvSpPr/>
            <p:nvPr/>
          </p:nvSpPr>
          <p:spPr>
            <a:xfrm>
              <a:off x="-96745" y="-129588"/>
              <a:ext cx="190500" cy="1905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txBox="1"/>
            <p:nvPr/>
          </p:nvSpPr>
          <p:spPr>
            <a:xfrm>
              <a:off x="-903922" y="152425"/>
              <a:ext cx="18048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s" sz="1400">
                  <a:solidFill>
                    <a:srgbClr val="38BDF8"/>
                  </a:solidFill>
                  <a:latin typeface="Source Sans Pro"/>
                  <a:ea typeface="Source Sans Pro"/>
                  <a:cs typeface="Source Sans Pro"/>
                  <a:sym typeface="Source Sans Pro"/>
                </a:rPr>
                <a:t>Finales de los 2000</a:t>
              </a:r>
              <a:endParaRPr b="0" i="0" sz="1400">
                <a:solidFill>
                  <a:srgbClr val="38BDF8"/>
                </a:solidFill>
                <a:latin typeface="Source Sans Pro"/>
                <a:ea typeface="Source Sans Pro"/>
                <a:cs typeface="Source Sans Pro"/>
                <a:sym typeface="Source Sans Pro"/>
              </a:endParaRPr>
            </a:p>
            <a:p>
              <a:pPr indent="0" lvl="0" marL="0" rtl="0" algn="ctr">
                <a:spcBef>
                  <a:spcPts val="200"/>
                </a:spcBef>
                <a:spcAft>
                  <a:spcPts val="0"/>
                </a:spcAft>
                <a:buNone/>
              </a:pPr>
              <a:r>
                <a:rPr b="1" i="0" lang="es" sz="1600">
                  <a:solidFill>
                    <a:srgbClr val="FFFFFF"/>
                  </a:solidFill>
                  <a:latin typeface="Source Sans Pro"/>
                  <a:ea typeface="Source Sans Pro"/>
                  <a:cs typeface="Source Sans Pro"/>
                  <a:sym typeface="Source Sans Pro"/>
                </a:rPr>
                <a:t>Entity Framework</a:t>
              </a:r>
              <a:endParaRPr b="0" i="0" sz="1400">
                <a:solidFill>
                  <a:srgbClr val="38BDF8"/>
                </a:solidFill>
                <a:latin typeface="Source Sans Pro"/>
                <a:ea typeface="Source Sans Pro"/>
                <a:cs typeface="Source Sans Pro"/>
                <a:sym typeface="Source Sans Pro"/>
              </a:endParaRPr>
            </a:p>
            <a:p>
              <a:pPr indent="0" lvl="0" marL="0" rtl="0" algn="ctr">
                <a:spcBef>
                  <a:spcPts val="0"/>
                </a:spcBef>
                <a:spcAft>
                  <a:spcPts val="0"/>
                </a:spcAft>
                <a:buNone/>
              </a:pPr>
              <a:r>
                <a:rPr b="0" i="0" lang="es" sz="1200">
                  <a:solidFill>
                    <a:srgbClr val="94A3B8"/>
                  </a:solidFill>
                  <a:latin typeface="Source Sans Pro"/>
                  <a:ea typeface="Source Sans Pro"/>
                  <a:cs typeface="Source Sans Pro"/>
                  <a:sym typeface="Source Sans Pro"/>
                </a:rPr>
                <a:t>.NET / C#</a:t>
              </a:r>
              <a:endParaRPr b="0" i="0" sz="1200">
                <a:solidFill>
                  <a:srgbClr val="38BDF8"/>
                </a:solidFill>
                <a:latin typeface="Source Sans Pro"/>
                <a:ea typeface="Source Sans Pro"/>
                <a:cs typeface="Source Sans Pro"/>
                <a:sym typeface="Source Sans Pro"/>
              </a:endParaRPr>
            </a:p>
          </p:txBody>
        </p:sp>
      </p:grpSp>
      <p:sp>
        <p:nvSpPr>
          <p:cNvPr id="154" name="Google Shape;154;p18"/>
          <p:cNvSpPr/>
          <p:nvPr/>
        </p:nvSpPr>
        <p:spPr>
          <a:xfrm>
            <a:off x="4365717" y="1561843"/>
            <a:ext cx="199200" cy="199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8" name="Shape 158"/>
        <p:cNvGrpSpPr/>
        <p:nvPr/>
      </p:nvGrpSpPr>
      <p:grpSpPr>
        <a:xfrm>
          <a:off x="0" y="0"/>
          <a:ext cx="0" cy="0"/>
          <a:chOff x="0" y="0"/>
          <a:chExt cx="0" cy="0"/>
        </a:xfrm>
      </p:grpSpPr>
      <p:sp>
        <p:nvSpPr>
          <p:cNvPr id="159" name="Google Shape;159;p19"/>
          <p:cNvSpPr/>
          <p:nvPr/>
        </p:nvSpPr>
        <p:spPr>
          <a:xfrm>
            <a:off x="75"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60" name="Google Shape;160;p19"/>
          <p:cNvSpPr/>
          <p:nvPr/>
        </p:nvSpPr>
        <p:spPr>
          <a:xfrm>
            <a:off x="1383450" y="198600"/>
            <a:ext cx="6377100" cy="4548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2800">
                <a:solidFill>
                  <a:srgbClr val="FFFFFF"/>
                </a:solidFill>
                <a:latin typeface="Source Sans Pro"/>
                <a:ea typeface="Source Sans Pro"/>
                <a:cs typeface="Source Sans Pro"/>
                <a:sym typeface="Source Sans Pro"/>
              </a:rPr>
              <a:t>Adopción</a:t>
            </a:r>
            <a:r>
              <a:rPr b="1" lang="es" sz="2800">
                <a:solidFill>
                  <a:srgbClr val="FFFFFF"/>
                </a:solidFill>
                <a:latin typeface="Source Sans Pro"/>
                <a:ea typeface="Source Sans Pro"/>
                <a:cs typeface="Source Sans Pro"/>
                <a:sym typeface="Source Sans Pro"/>
              </a:rPr>
              <a:t> de los ORM</a:t>
            </a:r>
            <a:endParaRPr b="1" sz="2800">
              <a:solidFill>
                <a:srgbClr val="FFFFFF"/>
              </a:solidFill>
              <a:latin typeface="Source Sans Pro"/>
              <a:ea typeface="Source Sans Pro"/>
              <a:cs typeface="Source Sans Pro"/>
              <a:sym typeface="Source Sans Pro"/>
            </a:endParaRPr>
          </a:p>
        </p:txBody>
      </p:sp>
      <p:sp>
        <p:nvSpPr>
          <p:cNvPr id="161" name="Google Shape;161;p19"/>
          <p:cNvSpPr/>
          <p:nvPr/>
        </p:nvSpPr>
        <p:spPr>
          <a:xfrm>
            <a:off x="951759" y="1806234"/>
            <a:ext cx="2332500" cy="2332500"/>
          </a:xfrm>
          <a:prstGeom prst="ellipse">
            <a:avLst/>
          </a:prstGeom>
          <a:solidFill>
            <a:srgbClr val="000000">
              <a:alpha val="0"/>
            </a:srgbClr>
          </a:solidFill>
          <a:ln cap="flat" cmpd="sng" w="3790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2" name="Google Shape;162;p19"/>
          <p:cNvPicPr preferRelativeResize="0"/>
          <p:nvPr/>
        </p:nvPicPr>
        <p:blipFill rotWithShape="1">
          <a:blip r:embed="rId3">
            <a:alphaModFix/>
          </a:blip>
          <a:srcRect b="0" l="0" r="0" t="0"/>
          <a:stretch/>
        </p:blipFill>
        <p:spPr>
          <a:xfrm>
            <a:off x="762250" y="1616725"/>
            <a:ext cx="2711700" cy="2711700"/>
          </a:xfrm>
          <a:prstGeom prst="rect">
            <a:avLst/>
          </a:prstGeom>
          <a:noFill/>
          <a:ln>
            <a:noFill/>
          </a:ln>
        </p:spPr>
      </p:pic>
      <p:pic>
        <p:nvPicPr>
          <p:cNvPr id="163" name="Google Shape;163;p19"/>
          <p:cNvPicPr preferRelativeResize="0"/>
          <p:nvPr/>
        </p:nvPicPr>
        <p:blipFill rotWithShape="1">
          <a:blip r:embed="rId4">
            <a:alphaModFix/>
          </a:blip>
          <a:srcRect b="0" l="0" r="0" t="0"/>
          <a:stretch/>
        </p:blipFill>
        <p:spPr>
          <a:xfrm>
            <a:off x="1068380" y="1616725"/>
            <a:ext cx="1049400" cy="736200"/>
          </a:xfrm>
          <a:prstGeom prst="rect">
            <a:avLst/>
          </a:prstGeom>
          <a:noFill/>
          <a:ln>
            <a:noFill/>
          </a:ln>
        </p:spPr>
      </p:pic>
      <p:sp>
        <p:nvSpPr>
          <p:cNvPr id="164" name="Google Shape;164;p19"/>
          <p:cNvSpPr txBox="1"/>
          <p:nvPr/>
        </p:nvSpPr>
        <p:spPr>
          <a:xfrm>
            <a:off x="951759" y="2389337"/>
            <a:ext cx="2332500" cy="116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4897">
                <a:solidFill>
                  <a:srgbClr val="10B981"/>
                </a:solidFill>
                <a:latin typeface="Source Sans Pro"/>
                <a:ea typeface="Source Sans Pro"/>
                <a:cs typeface="Source Sans Pro"/>
                <a:sym typeface="Source Sans Pro"/>
              </a:rPr>
              <a:t>86%</a:t>
            </a:r>
            <a:endParaRPr b="0" sz="4897">
              <a:solidFill>
                <a:srgbClr val="10B981"/>
              </a:solidFill>
              <a:latin typeface="Source Sans Pro"/>
              <a:ea typeface="Source Sans Pro"/>
              <a:cs typeface="Source Sans Pro"/>
              <a:sym typeface="Source Sans Pro"/>
            </a:endParaRPr>
          </a:p>
          <a:p>
            <a:pPr indent="0" lvl="0" marL="0" rtl="0" algn="ctr">
              <a:spcBef>
                <a:spcPts val="0"/>
              </a:spcBef>
              <a:spcAft>
                <a:spcPts val="0"/>
              </a:spcAft>
              <a:buNone/>
            </a:pPr>
            <a:r>
              <a:rPr b="1" lang="es" sz="1530">
                <a:solidFill>
                  <a:srgbClr val="94A3B8"/>
                </a:solidFill>
                <a:latin typeface="Source Sans Pro"/>
                <a:ea typeface="Source Sans Pro"/>
                <a:cs typeface="Source Sans Pro"/>
                <a:sym typeface="Source Sans Pro"/>
              </a:rPr>
              <a:t>Uso de ORM</a:t>
            </a:r>
            <a:endParaRPr b="1" sz="1530">
              <a:solidFill>
                <a:srgbClr val="94A3B8"/>
              </a:solidFill>
              <a:latin typeface="Source Sans Pro"/>
              <a:ea typeface="Source Sans Pro"/>
              <a:cs typeface="Source Sans Pro"/>
              <a:sym typeface="Source Sans Pro"/>
            </a:endParaRPr>
          </a:p>
        </p:txBody>
      </p:sp>
      <p:sp>
        <p:nvSpPr>
          <p:cNvPr id="165" name="Google Shape;165;p19"/>
          <p:cNvSpPr/>
          <p:nvPr/>
        </p:nvSpPr>
        <p:spPr>
          <a:xfrm>
            <a:off x="3787599" y="2636851"/>
            <a:ext cx="201600" cy="2016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9"/>
          <p:cNvSpPr txBox="1"/>
          <p:nvPr/>
        </p:nvSpPr>
        <p:spPr>
          <a:xfrm>
            <a:off x="4140138" y="2569701"/>
            <a:ext cx="4364700" cy="33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939">
                <a:solidFill>
                  <a:srgbClr val="E2E8F0"/>
                </a:solidFill>
                <a:latin typeface="Arial"/>
                <a:ea typeface="Arial"/>
                <a:cs typeface="Arial"/>
                <a:sym typeface="Arial"/>
              </a:rPr>
              <a:t>86% — Utiliza ORM / Frameworks</a:t>
            </a:r>
            <a:endParaRPr b="1" sz="1939">
              <a:solidFill>
                <a:srgbClr val="E2E8F0"/>
              </a:solidFill>
              <a:latin typeface="Arial"/>
              <a:ea typeface="Arial"/>
              <a:cs typeface="Arial"/>
              <a:sym typeface="Arial"/>
            </a:endParaRPr>
          </a:p>
        </p:txBody>
      </p:sp>
      <p:sp>
        <p:nvSpPr>
          <p:cNvPr id="167" name="Google Shape;167;p19"/>
          <p:cNvSpPr/>
          <p:nvPr/>
        </p:nvSpPr>
        <p:spPr>
          <a:xfrm>
            <a:off x="3787599" y="3106908"/>
            <a:ext cx="201600" cy="2016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9"/>
          <p:cNvSpPr txBox="1"/>
          <p:nvPr/>
        </p:nvSpPr>
        <p:spPr>
          <a:xfrm>
            <a:off x="4140138" y="3039757"/>
            <a:ext cx="4364700" cy="33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939">
                <a:solidFill>
                  <a:srgbClr val="E2E8F0"/>
                </a:solidFill>
                <a:latin typeface="Arial"/>
                <a:ea typeface="Arial"/>
                <a:cs typeface="Arial"/>
                <a:sym typeface="Arial"/>
              </a:rPr>
              <a:t>14% — Solo Raw SQL (Sin ORM)</a:t>
            </a:r>
            <a:endParaRPr b="1" sz="1939">
              <a:solidFill>
                <a:srgbClr val="E2E8F0"/>
              </a:solidFill>
              <a:latin typeface="Arial"/>
              <a:ea typeface="Arial"/>
              <a:cs typeface="Arial"/>
              <a:sym typeface="Arial"/>
            </a:endParaRPr>
          </a:p>
        </p:txBody>
      </p:sp>
      <p:sp>
        <p:nvSpPr>
          <p:cNvPr id="169" name="Google Shape;169;p19"/>
          <p:cNvSpPr/>
          <p:nvPr/>
        </p:nvSpPr>
        <p:spPr>
          <a:xfrm>
            <a:off x="2338425" y="733425"/>
            <a:ext cx="4467300" cy="209700"/>
          </a:xfrm>
          <a:prstGeom prst="roundRect">
            <a:avLst>
              <a:gd fmla="val 50000" name="adj"/>
            </a:avLst>
          </a:prstGeom>
          <a:solidFill>
            <a:srgbClr val="262626"/>
          </a:solidFill>
          <a:ln cap="flat" cmpd="sng" w="9525">
            <a:solidFill>
              <a:srgbClr val="525252"/>
            </a:solidFill>
            <a:prstDash val="solid"/>
            <a:round/>
            <a:headEnd len="sm" w="sm" type="none"/>
            <a:tailEnd len="sm" w="sm" type="none"/>
          </a:ln>
        </p:spPr>
        <p:txBody>
          <a:bodyPr anchorCtr="0" anchor="t" bIns="0" lIns="0" spcFirstLastPara="1" rIns="0" wrap="square" tIns="0">
            <a:noAutofit/>
          </a:bodyPr>
          <a:lstStyle/>
          <a:p>
            <a:pPr indent="0" lvl="0" marL="0" rtl="0" algn="ctr">
              <a:spcBef>
                <a:spcPts val="0"/>
              </a:spcBef>
              <a:spcAft>
                <a:spcPts val="0"/>
              </a:spcAft>
              <a:buNone/>
            </a:pPr>
            <a:r>
              <a:rPr i="1" lang="es" sz="1000">
                <a:solidFill>
                  <a:srgbClr val="A3A3A3"/>
                </a:solidFill>
              </a:rPr>
              <a:t>Fuente: Python Developers Survey 2024 (+30,000 desarrolladores web)</a:t>
            </a:r>
            <a:endParaRPr i="1" sz="1000">
              <a:solidFill>
                <a:srgbClr val="A3A3A3"/>
              </a:solidFill>
            </a:endParaRPr>
          </a:p>
          <a:p>
            <a:pPr indent="0" lvl="0" marL="0" rtl="0" algn="l">
              <a:spcBef>
                <a:spcPts val="0"/>
              </a:spcBef>
              <a:spcAft>
                <a:spcPts val="0"/>
              </a:spcAft>
              <a:buNone/>
            </a:pPr>
            <a:r>
              <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73" name="Shape 173"/>
        <p:cNvGrpSpPr/>
        <p:nvPr/>
      </p:nvGrpSpPr>
      <p:grpSpPr>
        <a:xfrm>
          <a:off x="0" y="0"/>
          <a:ext cx="0" cy="0"/>
          <a:chOff x="0" y="0"/>
          <a:chExt cx="0" cy="0"/>
        </a:xfrm>
      </p:grpSpPr>
      <p:sp>
        <p:nvSpPr>
          <p:cNvPr id="174" name="Google Shape;174;p2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75" name="Google Shape;175;p20"/>
          <p:cNvSpPr/>
          <p:nvPr/>
        </p:nvSpPr>
        <p:spPr>
          <a:xfrm>
            <a:off x="476250" y="139077"/>
            <a:ext cx="8191500" cy="6309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FFFFFF"/>
                </a:solidFill>
                <a:latin typeface="Source Sans Pro"/>
                <a:ea typeface="Source Sans Pro"/>
                <a:cs typeface="Source Sans Pro"/>
                <a:sym typeface="Source Sans Pro"/>
              </a:rPr>
              <a:t>Organización de la Presentación</a:t>
            </a:r>
            <a:endParaRPr b="1" sz="3100">
              <a:solidFill>
                <a:srgbClr val="FFFFFF"/>
              </a:solidFill>
              <a:latin typeface="Source Sans Pro"/>
              <a:ea typeface="Source Sans Pro"/>
              <a:cs typeface="Source Sans Pro"/>
              <a:sym typeface="Source Sans Pro"/>
            </a:endParaRPr>
          </a:p>
        </p:txBody>
      </p:sp>
      <p:grpSp>
        <p:nvGrpSpPr>
          <p:cNvPr id="176" name="Google Shape;176;p20"/>
          <p:cNvGrpSpPr/>
          <p:nvPr/>
        </p:nvGrpSpPr>
        <p:grpSpPr>
          <a:xfrm>
            <a:off x="566525" y="1390650"/>
            <a:ext cx="2495112" cy="1225106"/>
            <a:chOff x="0" y="0"/>
            <a:chExt cx="2095500" cy="952500"/>
          </a:xfrm>
        </p:grpSpPr>
        <p:sp>
          <p:nvSpPr>
            <p:cNvPr id="177" name="Google Shape;177;p20"/>
            <p:cNvSpPr/>
            <p:nvPr/>
          </p:nvSpPr>
          <p:spPr>
            <a:xfrm>
              <a:off x="0" y="0"/>
              <a:ext cx="2095500" cy="952500"/>
            </a:xfrm>
            <a:prstGeom prst="roundRect">
              <a:avLst>
                <a:gd fmla="val 12000" name="adj"/>
              </a:avLst>
            </a:prstGeom>
            <a:solidFill>
              <a:srgbClr val="1E293B"/>
            </a:solidFill>
            <a:ln cap="flat" cmpd="sng" w="245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315">
                  <a:solidFill>
                    <a:srgbClr val="60A5FA"/>
                  </a:solidFill>
                  <a:latin typeface="Source Sans Pro"/>
                  <a:ea typeface="Source Sans Pro"/>
                  <a:cs typeface="Source Sans Pro"/>
                  <a:sym typeface="Source Sans Pro"/>
                </a:rPr>
                <a:t>1. Presentación de Tecnologías</a:t>
              </a:r>
              <a:endParaRPr b="1" sz="2315">
                <a:solidFill>
                  <a:srgbClr val="60A5FA"/>
                </a:solidFill>
                <a:latin typeface="Source Sans Pro"/>
                <a:ea typeface="Source Sans Pro"/>
                <a:cs typeface="Source Sans Pro"/>
                <a:sym typeface="Source Sans Pro"/>
              </a:endParaRPr>
            </a:p>
          </p:txBody>
        </p:sp>
      </p:grpSp>
      <p:grpSp>
        <p:nvGrpSpPr>
          <p:cNvPr id="179" name="Google Shape;179;p20"/>
          <p:cNvGrpSpPr/>
          <p:nvPr/>
        </p:nvGrpSpPr>
        <p:grpSpPr>
          <a:xfrm>
            <a:off x="3324449" y="1390650"/>
            <a:ext cx="2495112" cy="1225106"/>
            <a:chOff x="0" y="0"/>
            <a:chExt cx="2095500" cy="952500"/>
          </a:xfrm>
        </p:grpSpPr>
        <p:sp>
          <p:nvSpPr>
            <p:cNvPr id="180" name="Google Shape;180;p20"/>
            <p:cNvSpPr/>
            <p:nvPr/>
          </p:nvSpPr>
          <p:spPr>
            <a:xfrm>
              <a:off x="0" y="0"/>
              <a:ext cx="2095500" cy="952500"/>
            </a:xfrm>
            <a:prstGeom prst="roundRect">
              <a:avLst>
                <a:gd fmla="val 12000" name="adj"/>
              </a:avLst>
            </a:prstGeom>
            <a:solidFill>
              <a:srgbClr val="1E293B"/>
            </a:solidFill>
            <a:ln cap="flat" cmpd="sng" w="245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315">
                  <a:solidFill>
                    <a:srgbClr val="34D399"/>
                  </a:solidFill>
                  <a:latin typeface="Source Sans Pro"/>
                  <a:ea typeface="Source Sans Pro"/>
                  <a:cs typeface="Source Sans Pro"/>
                  <a:sym typeface="Source Sans Pro"/>
                </a:rPr>
                <a:t>2. Factores No Técnicos</a:t>
              </a:r>
              <a:endParaRPr b="1" sz="2315">
                <a:solidFill>
                  <a:srgbClr val="34D399"/>
                </a:solidFill>
                <a:latin typeface="Source Sans Pro"/>
                <a:ea typeface="Source Sans Pro"/>
                <a:cs typeface="Source Sans Pro"/>
                <a:sym typeface="Source Sans Pro"/>
              </a:endParaRPr>
            </a:p>
          </p:txBody>
        </p:sp>
      </p:grpSp>
      <p:grpSp>
        <p:nvGrpSpPr>
          <p:cNvPr id="182" name="Google Shape;182;p20"/>
          <p:cNvGrpSpPr/>
          <p:nvPr/>
        </p:nvGrpSpPr>
        <p:grpSpPr>
          <a:xfrm>
            <a:off x="6082350" y="1390650"/>
            <a:ext cx="2495112" cy="1225106"/>
            <a:chOff x="0" y="0"/>
            <a:chExt cx="2095500" cy="952500"/>
          </a:xfrm>
        </p:grpSpPr>
        <p:sp>
          <p:nvSpPr>
            <p:cNvPr id="183" name="Google Shape;183;p20"/>
            <p:cNvSpPr/>
            <p:nvPr/>
          </p:nvSpPr>
          <p:spPr>
            <a:xfrm>
              <a:off x="0" y="0"/>
              <a:ext cx="2095500" cy="952500"/>
            </a:xfrm>
            <a:prstGeom prst="roundRect">
              <a:avLst>
                <a:gd fmla="val 12000" name="adj"/>
              </a:avLst>
            </a:prstGeom>
            <a:solidFill>
              <a:srgbClr val="1E293B"/>
            </a:solidFill>
            <a:ln cap="flat" cmpd="sng" w="245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315">
                  <a:solidFill>
                    <a:srgbClr val="FBBF24"/>
                  </a:solidFill>
                  <a:latin typeface="Source Sans Pro"/>
                  <a:ea typeface="Source Sans Pro"/>
                  <a:cs typeface="Source Sans Pro"/>
                  <a:sym typeface="Source Sans Pro"/>
                </a:rPr>
                <a:t>3. Factores Técnicos</a:t>
              </a:r>
              <a:endParaRPr b="1" sz="2315">
                <a:solidFill>
                  <a:srgbClr val="FBBF24"/>
                </a:solidFill>
                <a:latin typeface="Source Sans Pro"/>
                <a:ea typeface="Source Sans Pro"/>
                <a:cs typeface="Source Sans Pro"/>
                <a:sym typeface="Source Sans Pro"/>
              </a:endParaRPr>
            </a:p>
          </p:txBody>
        </p:sp>
      </p:grpSp>
      <p:grpSp>
        <p:nvGrpSpPr>
          <p:cNvPr id="185" name="Google Shape;185;p20"/>
          <p:cNvGrpSpPr/>
          <p:nvPr/>
        </p:nvGrpSpPr>
        <p:grpSpPr>
          <a:xfrm>
            <a:off x="566525" y="3007033"/>
            <a:ext cx="2495112" cy="1225106"/>
            <a:chOff x="0" y="0"/>
            <a:chExt cx="2095500" cy="952500"/>
          </a:xfrm>
        </p:grpSpPr>
        <p:sp>
          <p:nvSpPr>
            <p:cNvPr id="186" name="Google Shape;186;p20"/>
            <p:cNvSpPr/>
            <p:nvPr/>
          </p:nvSpPr>
          <p:spPr>
            <a:xfrm>
              <a:off x="0" y="0"/>
              <a:ext cx="2095500" cy="952500"/>
            </a:xfrm>
            <a:prstGeom prst="roundRect">
              <a:avLst>
                <a:gd fmla="val 12000" name="adj"/>
              </a:avLst>
            </a:prstGeom>
            <a:solidFill>
              <a:srgbClr val="1E293B"/>
            </a:solidFill>
            <a:ln cap="flat" cmpd="sng" w="24500">
              <a:solidFill>
                <a:srgbClr val="8B5C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315">
                  <a:solidFill>
                    <a:srgbClr val="A78BFA"/>
                  </a:solidFill>
                  <a:latin typeface="Source Sans Pro"/>
                  <a:ea typeface="Source Sans Pro"/>
                  <a:cs typeface="Source Sans Pro"/>
                  <a:sym typeface="Source Sans Pro"/>
                </a:rPr>
                <a:t>4. Mercado Laboral</a:t>
              </a:r>
              <a:endParaRPr b="1" sz="2315">
                <a:solidFill>
                  <a:srgbClr val="A78BFA"/>
                </a:solidFill>
                <a:latin typeface="Source Sans Pro"/>
                <a:ea typeface="Source Sans Pro"/>
                <a:cs typeface="Source Sans Pro"/>
                <a:sym typeface="Source Sans Pro"/>
              </a:endParaRPr>
            </a:p>
          </p:txBody>
        </p:sp>
      </p:grpSp>
      <p:grpSp>
        <p:nvGrpSpPr>
          <p:cNvPr id="188" name="Google Shape;188;p20"/>
          <p:cNvGrpSpPr/>
          <p:nvPr/>
        </p:nvGrpSpPr>
        <p:grpSpPr>
          <a:xfrm>
            <a:off x="3324449" y="3007033"/>
            <a:ext cx="2495112" cy="1225106"/>
            <a:chOff x="0" y="0"/>
            <a:chExt cx="2095500" cy="952500"/>
          </a:xfrm>
        </p:grpSpPr>
        <p:sp>
          <p:nvSpPr>
            <p:cNvPr id="189" name="Google Shape;189;p20"/>
            <p:cNvSpPr/>
            <p:nvPr/>
          </p:nvSpPr>
          <p:spPr>
            <a:xfrm>
              <a:off x="0" y="0"/>
              <a:ext cx="2095500" cy="952500"/>
            </a:xfrm>
            <a:prstGeom prst="roundRect">
              <a:avLst>
                <a:gd fmla="val 12000" name="adj"/>
              </a:avLst>
            </a:prstGeom>
            <a:solidFill>
              <a:srgbClr val="1E293B"/>
            </a:solidFill>
            <a:ln cap="flat" cmpd="sng" w="24500">
              <a:solidFill>
                <a:srgbClr val="EC489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087">
                  <a:solidFill>
                    <a:srgbClr val="F472B6"/>
                  </a:solidFill>
                  <a:latin typeface="Source Sans Pro"/>
                  <a:ea typeface="Source Sans Pro"/>
                  <a:cs typeface="Source Sans Pro"/>
                  <a:sym typeface="Source Sans Pro"/>
                </a:rPr>
                <a:t>5. Implementación y demostración práctica (PoC)</a:t>
              </a:r>
              <a:endParaRPr b="1" sz="2087">
                <a:solidFill>
                  <a:srgbClr val="F472B6"/>
                </a:solidFill>
                <a:latin typeface="Source Sans Pro"/>
                <a:ea typeface="Source Sans Pro"/>
                <a:cs typeface="Source Sans Pro"/>
                <a:sym typeface="Source Sans Pro"/>
              </a:endParaRPr>
            </a:p>
          </p:txBody>
        </p:sp>
      </p:grpSp>
      <p:grpSp>
        <p:nvGrpSpPr>
          <p:cNvPr id="191" name="Google Shape;191;p20"/>
          <p:cNvGrpSpPr/>
          <p:nvPr/>
        </p:nvGrpSpPr>
        <p:grpSpPr>
          <a:xfrm>
            <a:off x="6082362" y="2958310"/>
            <a:ext cx="2495112" cy="1225106"/>
            <a:chOff x="0" y="0"/>
            <a:chExt cx="2095500" cy="952500"/>
          </a:xfrm>
        </p:grpSpPr>
        <p:sp>
          <p:nvSpPr>
            <p:cNvPr id="192" name="Google Shape;192;p20"/>
            <p:cNvSpPr/>
            <p:nvPr/>
          </p:nvSpPr>
          <p:spPr>
            <a:xfrm>
              <a:off x="0" y="0"/>
              <a:ext cx="2095500" cy="952500"/>
            </a:xfrm>
            <a:prstGeom prst="roundRect">
              <a:avLst>
                <a:gd fmla="val 12000" name="adj"/>
              </a:avLst>
            </a:prstGeom>
            <a:solidFill>
              <a:srgbClr val="1E293B"/>
            </a:solidFill>
            <a:ln cap="flat" cmpd="sng" w="24500">
              <a:solidFill>
                <a:srgbClr val="C5F74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0" y="0"/>
              <a:ext cx="2095500" cy="952500"/>
            </a:xfrm>
            <a:prstGeom prst="rect">
              <a:avLst/>
            </a:prstGeom>
            <a:noFill/>
            <a:ln>
              <a:noFill/>
            </a:ln>
          </p:spPr>
          <p:txBody>
            <a:bodyPr anchorCtr="0" anchor="ctr" bIns="147000" lIns="147000" spcFirstLastPara="1" rIns="147000" wrap="square" tIns="147000">
              <a:noAutofit/>
            </a:bodyPr>
            <a:lstStyle/>
            <a:p>
              <a:pPr indent="0" lvl="0" marL="0" rtl="0" algn="ctr">
                <a:spcBef>
                  <a:spcPts val="0"/>
                </a:spcBef>
                <a:spcAft>
                  <a:spcPts val="0"/>
                </a:spcAft>
                <a:buNone/>
              </a:pPr>
              <a:r>
                <a:rPr b="1" lang="es" sz="2187">
                  <a:solidFill>
                    <a:srgbClr val="C5F74F"/>
                  </a:solidFill>
                  <a:latin typeface="Source Sans Pro"/>
                  <a:ea typeface="Source Sans Pro"/>
                  <a:cs typeface="Source Sans Pro"/>
                  <a:sym typeface="Source Sans Pro"/>
                </a:rPr>
                <a:t>6. Conclusiones</a:t>
              </a:r>
              <a:endParaRPr b="1" sz="2187">
                <a:solidFill>
                  <a:srgbClr val="C5F74F"/>
                </a:solidFill>
                <a:latin typeface="Source Sans Pro"/>
                <a:ea typeface="Source Sans Pro"/>
                <a:cs typeface="Source Sans Pro"/>
                <a:sym typeface="Source Sans Pr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97" name="Shape 197"/>
        <p:cNvGrpSpPr/>
        <p:nvPr/>
      </p:nvGrpSpPr>
      <p:grpSpPr>
        <a:xfrm>
          <a:off x="0" y="0"/>
          <a:ext cx="0" cy="0"/>
          <a:chOff x="0" y="0"/>
          <a:chExt cx="0" cy="0"/>
        </a:xfrm>
      </p:grpSpPr>
      <p:sp>
        <p:nvSpPr>
          <p:cNvPr id="198" name="Google Shape;198;p21"/>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99" name="Google Shape;199;p21"/>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60A5FA"/>
                </a:solidFill>
                <a:latin typeface="Source Sans Pro"/>
                <a:ea typeface="Source Sans Pro"/>
                <a:cs typeface="Source Sans Pro"/>
                <a:sym typeface="Source Sans Pro"/>
              </a:rPr>
              <a:t>Presentación de </a:t>
            </a:r>
            <a:endParaRPr b="1" sz="6000">
              <a:solidFill>
                <a:srgbClr val="60A5FA"/>
              </a:solidFill>
              <a:latin typeface="Source Sans Pro"/>
              <a:ea typeface="Source Sans Pro"/>
              <a:cs typeface="Source Sans Pro"/>
              <a:sym typeface="Source Sans Pro"/>
            </a:endParaRPr>
          </a:p>
          <a:p>
            <a:pPr indent="0" lvl="0" marL="0" rtl="0" algn="ctr">
              <a:spcBef>
                <a:spcPts val="0"/>
              </a:spcBef>
              <a:spcAft>
                <a:spcPts val="0"/>
              </a:spcAft>
              <a:buNone/>
            </a:pPr>
            <a:r>
              <a:rPr b="1" lang="es" sz="6000">
                <a:solidFill>
                  <a:srgbClr val="60A5FA"/>
                </a:solidFill>
                <a:latin typeface="Source Sans Pro"/>
                <a:ea typeface="Source Sans Pro"/>
                <a:cs typeface="Source Sans Pro"/>
                <a:sym typeface="Source Sans Pro"/>
              </a:rPr>
              <a:t>cada Tecnología</a:t>
            </a:r>
            <a:endParaRPr b="1" sz="6000">
              <a:solidFill>
                <a:srgbClr val="60A5FA"/>
              </a:solidFill>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2"/>
          <p:cNvPicPr preferRelativeResize="0"/>
          <p:nvPr/>
        </p:nvPicPr>
        <p:blipFill rotWithShape="1">
          <a:blip r:embed="rId3">
            <a:alphaModFix/>
          </a:blip>
          <a:srcRect b="10" l="0" r="0" t="10"/>
          <a:stretch/>
        </p:blipFill>
        <p:spPr>
          <a:xfrm>
            <a:off x="-33338" y="-225"/>
            <a:ext cx="9210675" cy="51439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08" name="Shape 208"/>
        <p:cNvGrpSpPr/>
        <p:nvPr/>
      </p:nvGrpSpPr>
      <p:grpSpPr>
        <a:xfrm>
          <a:off x="0" y="0"/>
          <a:ext cx="0" cy="0"/>
          <a:chOff x="0" y="0"/>
          <a:chExt cx="0" cy="0"/>
        </a:xfrm>
      </p:grpSpPr>
      <p:sp>
        <p:nvSpPr>
          <p:cNvPr id="209" name="Google Shape;209;p23"/>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10" name="Google Shape;210;p23"/>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11" name="Google Shape;211;p23"/>
          <p:cNvSpPr txBox="1"/>
          <p:nvPr/>
        </p:nvSpPr>
        <p:spPr>
          <a:xfrm>
            <a:off x="220431" y="1211475"/>
            <a:ext cx="8265600" cy="1847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Type Safety</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Usa </a:t>
            </a:r>
            <a:r>
              <a:rPr lang="es" sz="2300">
                <a:solidFill>
                  <a:schemeClr val="lt1"/>
                </a:solidFill>
                <a:latin typeface="Source Sans Pro"/>
                <a:ea typeface="Source Sans Pro"/>
                <a:cs typeface="Source Sans Pro"/>
                <a:sym typeface="Source Sans Pro"/>
              </a:rPr>
              <a:t>TypeScript para detectar errores durante el desarrollo y ofrecer autocompletado.</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5" name="Shape 215"/>
        <p:cNvGrpSpPr/>
        <p:nvPr/>
      </p:nvGrpSpPr>
      <p:grpSpPr>
        <a:xfrm>
          <a:off x="0" y="0"/>
          <a:ext cx="0" cy="0"/>
          <a:chOff x="0" y="0"/>
          <a:chExt cx="0" cy="0"/>
        </a:xfrm>
      </p:grpSpPr>
      <p:sp>
        <p:nvSpPr>
          <p:cNvPr id="216" name="Google Shape;216;p2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17" name="Google Shape;217;p24"/>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18" name="Google Shape;218;p24"/>
          <p:cNvSpPr txBox="1"/>
          <p:nvPr/>
        </p:nvSpPr>
        <p:spPr>
          <a:xfrm>
            <a:off x="220431" y="1211475"/>
            <a:ext cx="8265600" cy="1847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Consultas similares a SQL</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Drizzle tiene una sintaxis muy parecida a SQL, esto facilita el aprendizaje para quienes conocen este lenguaje.</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2" name="Shape 222"/>
        <p:cNvGrpSpPr/>
        <p:nvPr/>
      </p:nvGrpSpPr>
      <p:grpSpPr>
        <a:xfrm>
          <a:off x="0" y="0"/>
          <a:ext cx="0" cy="0"/>
          <a:chOff x="0" y="0"/>
          <a:chExt cx="0" cy="0"/>
        </a:xfrm>
      </p:grpSpPr>
      <p:sp>
        <p:nvSpPr>
          <p:cNvPr id="223" name="Google Shape;223;p2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24" name="Google Shape;224;p25"/>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25" name="Google Shape;225;p25"/>
          <p:cNvSpPr txBox="1"/>
          <p:nvPr/>
        </p:nvSpPr>
        <p:spPr>
          <a:xfrm>
            <a:off x="220431" y="1211475"/>
            <a:ext cx="8265600" cy="1493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Compatibilidad con múltiples bases de datos</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PostgreSQL, MySQL, SQLite, SingleStore, entre otras.</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9" name="Shape 229"/>
        <p:cNvGrpSpPr/>
        <p:nvPr/>
      </p:nvGrpSpPr>
      <p:grpSpPr>
        <a:xfrm>
          <a:off x="0" y="0"/>
          <a:ext cx="0" cy="0"/>
          <a:chOff x="0" y="0"/>
          <a:chExt cx="0" cy="0"/>
        </a:xfrm>
      </p:grpSpPr>
      <p:sp>
        <p:nvSpPr>
          <p:cNvPr id="230" name="Google Shape;230;p2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31" name="Google Shape;231;p26"/>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32" name="Google Shape;232;p26"/>
          <p:cNvSpPr txBox="1"/>
          <p:nvPr/>
        </p:nvSpPr>
        <p:spPr>
          <a:xfrm>
            <a:off x="220431" y="1211475"/>
            <a:ext cx="8265600" cy="1847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Liviano</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Ocupa aproximadamente 7,4 KB comprimido y no posee dependencias externas.</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36" name="Shape 236"/>
        <p:cNvGrpSpPr/>
        <p:nvPr/>
      </p:nvGrpSpPr>
      <p:grpSpPr>
        <a:xfrm>
          <a:off x="0" y="0"/>
          <a:ext cx="0" cy="0"/>
          <a:chOff x="0" y="0"/>
          <a:chExt cx="0" cy="0"/>
        </a:xfrm>
      </p:grpSpPr>
      <p:sp>
        <p:nvSpPr>
          <p:cNvPr id="237" name="Google Shape;237;p2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38" name="Google Shape;238;p27"/>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39" name="Google Shape;239;p27"/>
          <p:cNvSpPr txBox="1"/>
          <p:nvPr/>
        </p:nvSpPr>
        <p:spPr>
          <a:xfrm>
            <a:off x="220431" y="1211475"/>
            <a:ext cx="8265600" cy="1493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Serverless Ready</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Cloudflare Workers, Vercel Edge, Bun y Deno</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3" name="Shape 243"/>
        <p:cNvGrpSpPr/>
        <p:nvPr/>
      </p:nvGrpSpPr>
      <p:grpSpPr>
        <a:xfrm>
          <a:off x="0" y="0"/>
          <a:ext cx="0" cy="0"/>
          <a:chOff x="0" y="0"/>
          <a:chExt cx="0" cy="0"/>
        </a:xfrm>
      </p:grpSpPr>
      <p:sp>
        <p:nvSpPr>
          <p:cNvPr id="244" name="Google Shape;244;p2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45" name="Google Shape;245;p28"/>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46" name="Google Shape;246;p28"/>
          <p:cNvSpPr txBox="1"/>
          <p:nvPr/>
        </p:nvSpPr>
        <p:spPr>
          <a:xfrm>
            <a:off x="220431" y="1211475"/>
            <a:ext cx="8265600" cy="2201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Herramientas</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Drizzle Kit (Para generar y aplicar migraciones)</a:t>
            </a:r>
            <a:endParaRPr sz="23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y </a:t>
            </a:r>
            <a:endParaRPr sz="23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Drizzle Studio (Interfaz gráfica)</a:t>
            </a:r>
            <a:endParaRPr sz="3100">
              <a:solidFill>
                <a:schemeClr val="lt1"/>
              </a:solidFill>
              <a:latin typeface="Source Sans Pro"/>
              <a:ea typeface="Source Sans Pro"/>
              <a:cs typeface="Source Sans Pro"/>
              <a:sym typeface="Source Sans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50" name="Shape 250"/>
        <p:cNvGrpSpPr/>
        <p:nvPr/>
      </p:nvGrpSpPr>
      <p:grpSpPr>
        <a:xfrm>
          <a:off x="0" y="0"/>
          <a:ext cx="0" cy="0"/>
          <a:chOff x="0" y="0"/>
          <a:chExt cx="0" cy="0"/>
        </a:xfrm>
      </p:grpSpPr>
      <p:sp>
        <p:nvSpPr>
          <p:cNvPr id="251" name="Google Shape;251;p2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52" name="Google Shape;252;p29"/>
          <p:cNvSpPr/>
          <p:nvPr/>
        </p:nvSpPr>
        <p:spPr>
          <a:xfrm>
            <a:off x="3585900" y="247800"/>
            <a:ext cx="1972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FEATURES</a:t>
            </a:r>
            <a:endParaRPr b="1" sz="3000">
              <a:solidFill>
                <a:schemeClr val="lt1"/>
              </a:solidFill>
              <a:latin typeface="Source Sans Pro"/>
              <a:ea typeface="Source Sans Pro"/>
              <a:cs typeface="Source Sans Pro"/>
              <a:sym typeface="Source Sans Pro"/>
            </a:endParaRPr>
          </a:p>
        </p:txBody>
      </p:sp>
      <p:sp>
        <p:nvSpPr>
          <p:cNvPr id="253" name="Google Shape;253;p29"/>
          <p:cNvSpPr txBox="1"/>
          <p:nvPr/>
        </p:nvSpPr>
        <p:spPr>
          <a:xfrm>
            <a:off x="220431" y="1211475"/>
            <a:ext cx="8265600" cy="22011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lang="es" sz="3100">
                <a:solidFill>
                  <a:schemeClr val="lt1"/>
                </a:solidFill>
                <a:latin typeface="Source Sans Pro"/>
                <a:ea typeface="Source Sans Pro"/>
                <a:cs typeface="Source Sans Pro"/>
                <a:sym typeface="Source Sans Pro"/>
              </a:rPr>
              <a:t>Compatibilidad</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JavaScript</a:t>
            </a:r>
            <a:endParaRPr sz="23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3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300">
                <a:solidFill>
                  <a:schemeClr val="lt1"/>
                </a:solidFill>
                <a:latin typeface="Source Sans Pro"/>
                <a:ea typeface="Source Sans Pro"/>
                <a:cs typeface="Source Sans Pro"/>
                <a:sym typeface="Source Sans Pro"/>
              </a:rPr>
              <a:t>TypeScript</a:t>
            </a:r>
            <a:endParaRPr sz="2300">
              <a:solidFill>
                <a:schemeClr val="lt1"/>
              </a:solidFill>
              <a:latin typeface="Source Sans Pro"/>
              <a:ea typeface="Source Sans Pro"/>
              <a:cs typeface="Source Sans Pro"/>
              <a:sym typeface="Source Sans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57" name="Shape 257"/>
        <p:cNvGrpSpPr/>
        <p:nvPr/>
      </p:nvGrpSpPr>
      <p:grpSpPr>
        <a:xfrm>
          <a:off x="0" y="0"/>
          <a:ext cx="0" cy="0"/>
          <a:chOff x="0" y="0"/>
          <a:chExt cx="0" cy="0"/>
        </a:xfrm>
      </p:grpSpPr>
      <p:cxnSp>
        <p:nvCxnSpPr>
          <p:cNvPr id="258" name="Google Shape;258;p30"/>
          <p:cNvCxnSpPr/>
          <p:nvPr/>
        </p:nvCxnSpPr>
        <p:spPr>
          <a:xfrm>
            <a:off x="6243000" y="2490913"/>
            <a:ext cx="1065000" cy="0"/>
          </a:xfrm>
          <a:prstGeom prst="straightConnector1">
            <a:avLst/>
          </a:prstGeom>
          <a:noFill/>
          <a:ln cap="flat" cmpd="sng" w="19050">
            <a:solidFill>
              <a:srgbClr val="6178F2"/>
            </a:solidFill>
            <a:prstDash val="dash"/>
            <a:round/>
            <a:headEnd len="med" w="med" type="none"/>
            <a:tailEnd len="med" w="med" type="none"/>
          </a:ln>
        </p:spPr>
      </p:cxnSp>
      <p:cxnSp>
        <p:nvCxnSpPr>
          <p:cNvPr id="259" name="Google Shape;259;p30"/>
          <p:cNvCxnSpPr/>
          <p:nvPr/>
        </p:nvCxnSpPr>
        <p:spPr>
          <a:xfrm>
            <a:off x="4145400" y="2490913"/>
            <a:ext cx="1065000" cy="0"/>
          </a:xfrm>
          <a:prstGeom prst="straightConnector1">
            <a:avLst/>
          </a:prstGeom>
          <a:noFill/>
          <a:ln cap="flat" cmpd="sng" w="19050">
            <a:solidFill>
              <a:srgbClr val="6178F2"/>
            </a:solidFill>
            <a:prstDash val="dash"/>
            <a:round/>
            <a:headEnd len="med" w="med" type="none"/>
            <a:tailEnd len="med" w="med" type="none"/>
          </a:ln>
        </p:spPr>
      </p:cxnSp>
      <p:cxnSp>
        <p:nvCxnSpPr>
          <p:cNvPr id="260" name="Google Shape;260;p30"/>
          <p:cNvCxnSpPr/>
          <p:nvPr/>
        </p:nvCxnSpPr>
        <p:spPr>
          <a:xfrm>
            <a:off x="2047800" y="2490913"/>
            <a:ext cx="1065000" cy="0"/>
          </a:xfrm>
          <a:prstGeom prst="straightConnector1">
            <a:avLst/>
          </a:prstGeom>
          <a:noFill/>
          <a:ln cap="flat" cmpd="sng" w="19050">
            <a:solidFill>
              <a:srgbClr val="6178F2"/>
            </a:solidFill>
            <a:prstDash val="dash"/>
            <a:round/>
            <a:headEnd len="med" w="med" type="none"/>
            <a:tailEnd len="med" w="med" type="none"/>
          </a:ln>
        </p:spPr>
      </p:cxnSp>
      <p:sp>
        <p:nvSpPr>
          <p:cNvPr id="261" name="Google Shape;261;p30"/>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62" name="Google Shape;262;p30"/>
          <p:cNvSpPr/>
          <p:nvPr/>
        </p:nvSpPr>
        <p:spPr>
          <a:xfrm>
            <a:off x="571500" y="1384463"/>
            <a:ext cx="1714500" cy="2476500"/>
          </a:xfrm>
          <a:prstGeom prst="roundRect">
            <a:avLst>
              <a:gd fmla="val 4444" name="adj"/>
            </a:avLst>
          </a:prstGeom>
          <a:solidFill>
            <a:srgbClr val="1E293B"/>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30"/>
          <p:cNvSpPr/>
          <p:nvPr/>
        </p:nvSpPr>
        <p:spPr>
          <a:xfrm>
            <a:off x="2667000" y="1384463"/>
            <a:ext cx="1714500" cy="2476500"/>
          </a:xfrm>
          <a:prstGeom prst="roundRect">
            <a:avLst>
              <a:gd fmla="val 4444" name="adj"/>
            </a:avLst>
          </a:prstGeom>
          <a:solidFill>
            <a:srgbClr val="1E293B"/>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30"/>
          <p:cNvSpPr txBox="1"/>
          <p:nvPr/>
        </p:nvSpPr>
        <p:spPr>
          <a:xfrm>
            <a:off x="2667000" y="1384463"/>
            <a:ext cx="1714500" cy="2476500"/>
          </a:xfrm>
          <a:prstGeom prst="rect">
            <a:avLst/>
          </a:prstGeom>
          <a:solidFill>
            <a:srgbClr val="0F172A"/>
          </a:solidFill>
          <a:ln cap="flat" cmpd="sng" w="19050">
            <a:solidFill>
              <a:srgbClr val="6178F2"/>
            </a:solidFill>
            <a:prstDash val="solid"/>
            <a:round/>
            <a:headEnd len="sm" w="sm" type="none"/>
            <a:tailEnd len="sm" w="sm" type="none"/>
          </a:ln>
        </p:spPr>
        <p:txBody>
          <a:bodyPr anchorCtr="0" anchor="ctr" bIns="190500" lIns="190500" spcFirstLastPara="1" rIns="190500" wrap="square" tIns="190500">
            <a:noAutofit/>
          </a:bodyPr>
          <a:lstStyle/>
          <a:p>
            <a:pPr indent="0" lvl="0" marL="0" rtl="0" algn="l">
              <a:spcBef>
                <a:spcPts val="0"/>
              </a:spcBef>
              <a:spcAft>
                <a:spcPts val="0"/>
              </a:spcAft>
              <a:buNone/>
            </a:pPr>
            <a:r>
              <a:rPr b="1" lang="es" sz="2400">
                <a:solidFill>
                  <a:srgbClr val="6178F2"/>
                </a:solidFill>
                <a:latin typeface="Source Sans Pro"/>
                <a:ea typeface="Source Sans Pro"/>
                <a:cs typeface="Source Sans Pro"/>
                <a:sym typeface="Source Sans Pro"/>
              </a:rPr>
              <a:t>2020</a:t>
            </a:r>
            <a:endParaRPr b="1" sz="2400">
              <a:solidFill>
                <a:srgbClr val="6178F2"/>
              </a:solidFill>
              <a:latin typeface="Source Sans Pro"/>
              <a:ea typeface="Source Sans Pro"/>
              <a:cs typeface="Source Sans Pro"/>
              <a:sym typeface="Source Sans Pro"/>
            </a:endParaRPr>
          </a:p>
          <a:p>
            <a:pPr indent="0" lvl="0" marL="0" rtl="0" algn="l">
              <a:spcBef>
                <a:spcPts val="750"/>
              </a:spcBef>
              <a:spcAft>
                <a:spcPts val="0"/>
              </a:spcAft>
              <a:buNone/>
            </a:pPr>
            <a:r>
              <a:rPr b="0" lang="es" sz="1200">
                <a:solidFill>
                  <a:srgbClr val="E2E8F0"/>
                </a:solidFill>
                <a:latin typeface="Source Sans Pro"/>
                <a:ea typeface="Source Sans Pro"/>
                <a:cs typeface="Source Sans Pro"/>
                <a:sym typeface="Source Sans Pro"/>
              </a:rPr>
              <a:t>Giro de negocio y cambio estratégico de enfoque</a:t>
            </a:r>
            <a:endParaRPr b="0" sz="1200">
              <a:solidFill>
                <a:srgbClr val="E2E8F0"/>
              </a:solidFill>
              <a:latin typeface="Source Sans Pro"/>
              <a:ea typeface="Source Sans Pro"/>
              <a:cs typeface="Source Sans Pro"/>
              <a:sym typeface="Source Sans Pro"/>
            </a:endParaRPr>
          </a:p>
        </p:txBody>
      </p:sp>
      <p:sp>
        <p:nvSpPr>
          <p:cNvPr id="265" name="Google Shape;265;p30"/>
          <p:cNvSpPr/>
          <p:nvPr/>
        </p:nvSpPr>
        <p:spPr>
          <a:xfrm>
            <a:off x="4762500" y="1384463"/>
            <a:ext cx="1714500" cy="2476500"/>
          </a:xfrm>
          <a:prstGeom prst="roundRect">
            <a:avLst>
              <a:gd fmla="val 4444" name="adj"/>
            </a:avLst>
          </a:prstGeom>
          <a:solidFill>
            <a:srgbClr val="1E293B"/>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30"/>
          <p:cNvSpPr txBox="1"/>
          <p:nvPr/>
        </p:nvSpPr>
        <p:spPr>
          <a:xfrm>
            <a:off x="4762500" y="1384463"/>
            <a:ext cx="1714500" cy="2476500"/>
          </a:xfrm>
          <a:prstGeom prst="rect">
            <a:avLst/>
          </a:prstGeom>
          <a:solidFill>
            <a:srgbClr val="0F172A"/>
          </a:solidFill>
          <a:ln cap="flat" cmpd="sng" w="19050">
            <a:solidFill>
              <a:srgbClr val="6178F2"/>
            </a:solidFill>
            <a:prstDash val="solid"/>
            <a:round/>
            <a:headEnd len="sm" w="sm" type="none"/>
            <a:tailEnd len="sm" w="sm" type="none"/>
          </a:ln>
        </p:spPr>
        <p:txBody>
          <a:bodyPr anchorCtr="0" anchor="ctr" bIns="190500" lIns="190500" spcFirstLastPara="1" rIns="190500" wrap="square" tIns="190500">
            <a:noAutofit/>
          </a:bodyPr>
          <a:lstStyle/>
          <a:p>
            <a:pPr indent="0" lvl="0" marL="0" rtl="0" algn="l">
              <a:spcBef>
                <a:spcPts val="0"/>
              </a:spcBef>
              <a:spcAft>
                <a:spcPts val="0"/>
              </a:spcAft>
              <a:buNone/>
            </a:pPr>
            <a:r>
              <a:rPr b="1" lang="es" sz="2400">
                <a:solidFill>
                  <a:srgbClr val="6178F2"/>
                </a:solidFill>
                <a:latin typeface="Source Sans Pro"/>
                <a:ea typeface="Source Sans Pro"/>
                <a:cs typeface="Source Sans Pro"/>
                <a:sym typeface="Source Sans Pro"/>
              </a:rPr>
              <a:t>2021</a:t>
            </a:r>
            <a:endParaRPr b="1" sz="2400">
              <a:solidFill>
                <a:srgbClr val="6178F2"/>
              </a:solidFill>
              <a:latin typeface="Source Sans Pro"/>
              <a:ea typeface="Source Sans Pro"/>
              <a:cs typeface="Source Sans Pro"/>
              <a:sym typeface="Source Sans Pro"/>
            </a:endParaRPr>
          </a:p>
          <a:p>
            <a:pPr indent="0" lvl="0" marL="0" rtl="0" algn="l">
              <a:spcBef>
                <a:spcPts val="750"/>
              </a:spcBef>
              <a:spcAft>
                <a:spcPts val="0"/>
              </a:spcAft>
              <a:buNone/>
            </a:pPr>
            <a:r>
              <a:rPr b="0" lang="es" sz="1200">
                <a:solidFill>
                  <a:srgbClr val="E2E8F0"/>
                </a:solidFill>
                <a:latin typeface="Source Sans Pro"/>
                <a:ea typeface="Source Sans Pro"/>
                <a:cs typeface="Source Sans Pro"/>
                <a:sym typeface="Source Sans Pro"/>
              </a:rPr>
              <a:t>Lanzamiento de la primera versión estable oficial</a:t>
            </a:r>
            <a:endParaRPr b="0" sz="1200">
              <a:solidFill>
                <a:srgbClr val="E2E8F0"/>
              </a:solidFill>
              <a:latin typeface="Source Sans Pro"/>
              <a:ea typeface="Source Sans Pro"/>
              <a:cs typeface="Source Sans Pro"/>
              <a:sym typeface="Source Sans Pro"/>
            </a:endParaRPr>
          </a:p>
        </p:txBody>
      </p:sp>
      <p:sp>
        <p:nvSpPr>
          <p:cNvPr id="267" name="Google Shape;267;p30"/>
          <p:cNvSpPr/>
          <p:nvPr/>
        </p:nvSpPr>
        <p:spPr>
          <a:xfrm>
            <a:off x="6858000" y="1384463"/>
            <a:ext cx="1714500" cy="2476500"/>
          </a:xfrm>
          <a:prstGeom prst="roundRect">
            <a:avLst>
              <a:gd fmla="val 4444" name="adj"/>
            </a:avLst>
          </a:prstGeom>
          <a:solidFill>
            <a:srgbClr val="1E293B"/>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30"/>
          <p:cNvSpPr txBox="1"/>
          <p:nvPr/>
        </p:nvSpPr>
        <p:spPr>
          <a:xfrm>
            <a:off x="6858000" y="1384463"/>
            <a:ext cx="1714500" cy="2476500"/>
          </a:xfrm>
          <a:prstGeom prst="rect">
            <a:avLst/>
          </a:prstGeom>
          <a:solidFill>
            <a:srgbClr val="0F172A"/>
          </a:solidFill>
          <a:ln cap="flat" cmpd="sng" w="19050">
            <a:solidFill>
              <a:srgbClr val="6178F2"/>
            </a:solidFill>
            <a:prstDash val="solid"/>
            <a:round/>
            <a:headEnd len="sm" w="sm" type="none"/>
            <a:tailEnd len="sm" w="sm" type="none"/>
          </a:ln>
        </p:spPr>
        <p:txBody>
          <a:bodyPr anchorCtr="0" anchor="ctr" bIns="190500" lIns="190500" spcFirstLastPara="1" rIns="190500" wrap="square" tIns="190500">
            <a:noAutofit/>
          </a:bodyPr>
          <a:lstStyle/>
          <a:p>
            <a:pPr indent="0" lvl="0" marL="0" rtl="0" algn="l">
              <a:spcBef>
                <a:spcPts val="0"/>
              </a:spcBef>
              <a:spcAft>
                <a:spcPts val="0"/>
              </a:spcAft>
              <a:buNone/>
            </a:pPr>
            <a:r>
              <a:rPr b="1" lang="es" sz="2400">
                <a:solidFill>
                  <a:srgbClr val="6178F2"/>
                </a:solidFill>
                <a:latin typeface="Source Sans Pro"/>
                <a:ea typeface="Source Sans Pro"/>
                <a:cs typeface="Source Sans Pro"/>
                <a:sym typeface="Source Sans Pro"/>
              </a:rPr>
              <a:t>2025</a:t>
            </a:r>
            <a:endParaRPr b="1" sz="2400">
              <a:solidFill>
                <a:srgbClr val="6178F2"/>
              </a:solidFill>
              <a:latin typeface="Source Sans Pro"/>
              <a:ea typeface="Source Sans Pro"/>
              <a:cs typeface="Source Sans Pro"/>
              <a:sym typeface="Source Sans Pro"/>
            </a:endParaRPr>
          </a:p>
          <a:p>
            <a:pPr indent="0" lvl="0" marL="0" rtl="0" algn="l">
              <a:spcBef>
                <a:spcPts val="750"/>
              </a:spcBef>
              <a:spcAft>
                <a:spcPts val="0"/>
              </a:spcAft>
              <a:buNone/>
            </a:pPr>
            <a:r>
              <a:rPr b="0" lang="es" sz="1200">
                <a:solidFill>
                  <a:srgbClr val="E2E8F0"/>
                </a:solidFill>
                <a:latin typeface="Source Sans Pro"/>
                <a:ea typeface="Source Sans Pro"/>
                <a:cs typeface="Source Sans Pro"/>
                <a:sym typeface="Source Sans Pro"/>
              </a:rPr>
              <a:t>Migración completa del núcleo a TypeScript puro</a:t>
            </a:r>
            <a:endParaRPr b="0" sz="1200">
              <a:solidFill>
                <a:srgbClr val="E2E8F0"/>
              </a:solidFill>
              <a:latin typeface="Source Sans Pro"/>
              <a:ea typeface="Source Sans Pro"/>
              <a:cs typeface="Source Sans Pro"/>
              <a:sym typeface="Source Sans Pro"/>
            </a:endParaRPr>
          </a:p>
        </p:txBody>
      </p:sp>
      <p:grpSp>
        <p:nvGrpSpPr>
          <p:cNvPr id="269" name="Google Shape;269;p30"/>
          <p:cNvGrpSpPr/>
          <p:nvPr/>
        </p:nvGrpSpPr>
        <p:grpSpPr>
          <a:xfrm>
            <a:off x="381000" y="4238625"/>
            <a:ext cx="8382000" cy="476400"/>
            <a:chOff x="0" y="0"/>
            <a:chExt cx="8382000" cy="476400"/>
          </a:xfrm>
        </p:grpSpPr>
        <p:sp>
          <p:nvSpPr>
            <p:cNvPr id="270" name="Google Shape;270;p30"/>
            <p:cNvSpPr/>
            <p:nvPr/>
          </p:nvSpPr>
          <p:spPr>
            <a:xfrm>
              <a:off x="0" y="0"/>
              <a:ext cx="8382000" cy="476400"/>
            </a:xfrm>
            <a:prstGeom prst="roundRect">
              <a:avLst>
                <a:gd fmla="val 12000" name="adj"/>
              </a:avLst>
            </a:prstGeom>
            <a:solidFill>
              <a:srgbClr val="0F172A"/>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30"/>
            <p:cNvSpPr txBox="1"/>
            <p:nvPr/>
          </p:nvSpPr>
          <p:spPr>
            <a:xfrm>
              <a:off x="0" y="0"/>
              <a:ext cx="8382000" cy="476400"/>
            </a:xfrm>
            <a:prstGeom prst="rect">
              <a:avLst/>
            </a:prstGeom>
            <a:solidFill>
              <a:srgbClr val="0F172A"/>
            </a:solidFill>
            <a:ln cap="flat" cmpd="sng" w="9525">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1400">
                  <a:solidFill>
                    <a:srgbClr val="6178F2"/>
                  </a:solidFill>
                  <a:latin typeface="Source Sans Pro"/>
                  <a:ea typeface="Source Sans Pro"/>
                  <a:cs typeface="Source Sans Pro"/>
                  <a:sym typeface="Source Sans Pro"/>
                </a:rPr>
                <a:t>Fuertemente aceptado en la comunidad global de desarrollo</a:t>
              </a:r>
              <a:endParaRPr b="1" sz="1400">
                <a:solidFill>
                  <a:srgbClr val="6178F2"/>
                </a:solidFill>
                <a:latin typeface="Source Sans Pro"/>
                <a:ea typeface="Source Sans Pro"/>
                <a:cs typeface="Source Sans Pro"/>
                <a:sym typeface="Source Sans Pro"/>
              </a:endParaRPr>
            </a:p>
          </p:txBody>
        </p:sp>
      </p:grpSp>
      <p:sp>
        <p:nvSpPr>
          <p:cNvPr id="272" name="Google Shape;272;p30"/>
          <p:cNvSpPr txBox="1"/>
          <p:nvPr/>
        </p:nvSpPr>
        <p:spPr>
          <a:xfrm>
            <a:off x="571500" y="1384463"/>
            <a:ext cx="1714500" cy="2476500"/>
          </a:xfrm>
          <a:prstGeom prst="rect">
            <a:avLst/>
          </a:prstGeom>
          <a:solidFill>
            <a:srgbClr val="0F172A"/>
          </a:solidFill>
          <a:ln cap="flat" cmpd="sng" w="19050">
            <a:solidFill>
              <a:srgbClr val="6178F2"/>
            </a:solidFill>
            <a:prstDash val="solid"/>
            <a:round/>
            <a:headEnd len="sm" w="sm" type="none"/>
            <a:tailEnd len="sm" w="sm" type="none"/>
          </a:ln>
        </p:spPr>
        <p:txBody>
          <a:bodyPr anchorCtr="0" anchor="ctr" bIns="190500" lIns="190500" spcFirstLastPara="1" rIns="190500" wrap="square" tIns="190500">
            <a:noAutofit/>
          </a:bodyPr>
          <a:lstStyle/>
          <a:p>
            <a:pPr indent="0" lvl="0" marL="0" rtl="0" algn="l">
              <a:spcBef>
                <a:spcPts val="0"/>
              </a:spcBef>
              <a:spcAft>
                <a:spcPts val="0"/>
              </a:spcAft>
              <a:buNone/>
            </a:pPr>
            <a:r>
              <a:rPr b="1" lang="es" sz="2400">
                <a:solidFill>
                  <a:srgbClr val="6178F2"/>
                </a:solidFill>
                <a:latin typeface="Source Sans Pro"/>
                <a:ea typeface="Source Sans Pro"/>
                <a:cs typeface="Source Sans Pro"/>
                <a:sym typeface="Source Sans Pro"/>
              </a:rPr>
              <a:t>2016</a:t>
            </a:r>
            <a:endParaRPr b="1" sz="2400">
              <a:solidFill>
                <a:srgbClr val="6178F2"/>
              </a:solidFill>
              <a:latin typeface="Source Sans Pro"/>
              <a:ea typeface="Source Sans Pro"/>
              <a:cs typeface="Source Sans Pro"/>
              <a:sym typeface="Source Sans Pro"/>
            </a:endParaRPr>
          </a:p>
          <a:p>
            <a:pPr indent="0" lvl="0" marL="0" rtl="0" algn="l">
              <a:spcBef>
                <a:spcPts val="750"/>
              </a:spcBef>
              <a:spcAft>
                <a:spcPts val="0"/>
              </a:spcAft>
              <a:buNone/>
            </a:pPr>
            <a:r>
              <a:rPr b="0" lang="es" sz="1200">
                <a:solidFill>
                  <a:srgbClr val="E2E8F0"/>
                </a:solidFill>
                <a:latin typeface="Source Sans Pro"/>
                <a:ea typeface="Source Sans Pro"/>
                <a:cs typeface="Source Sans Pro"/>
                <a:sym typeface="Source Sans Pro"/>
              </a:rPr>
              <a:t>Creación del proyecto original de Prisma</a:t>
            </a:r>
            <a:endParaRPr b="0" sz="1200">
              <a:solidFill>
                <a:srgbClr val="E2E8F0"/>
              </a:solidFill>
              <a:latin typeface="Source Sans Pro"/>
              <a:ea typeface="Source Sans Pro"/>
              <a:cs typeface="Source Sans Pro"/>
              <a:sym typeface="Source Sans Pro"/>
            </a:endParaRPr>
          </a:p>
        </p:txBody>
      </p:sp>
      <p:pic>
        <p:nvPicPr>
          <p:cNvPr id="273" name="Google Shape;273;p30"/>
          <p:cNvPicPr preferRelativeResize="0"/>
          <p:nvPr/>
        </p:nvPicPr>
        <p:blipFill rotWithShape="1">
          <a:blip r:embed="rId3">
            <a:alphaModFix/>
          </a:blip>
          <a:srcRect b="18146" l="35068" r="35071" t="18140"/>
          <a:stretch/>
        </p:blipFill>
        <p:spPr>
          <a:xfrm>
            <a:off x="0" y="0"/>
            <a:ext cx="1041900" cy="1006800"/>
          </a:xfrm>
          <a:prstGeom prst="roundRect">
            <a:avLst>
              <a:gd fmla="val 11194" name="adj"/>
            </a:avLst>
          </a:prstGeom>
          <a:noFill/>
          <a:ln>
            <a:noFill/>
          </a:ln>
        </p:spPr>
      </p:pic>
      <p:sp>
        <p:nvSpPr>
          <p:cNvPr id="274" name="Google Shape;274;p30"/>
          <p:cNvSpPr/>
          <p:nvPr/>
        </p:nvSpPr>
        <p:spPr>
          <a:xfrm>
            <a:off x="3652500" y="215700"/>
            <a:ext cx="18036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PRISMA</a:t>
            </a:r>
            <a:endParaRPr b="1" sz="3100">
              <a:solidFill>
                <a:srgbClr val="6178F2"/>
              </a:solidFill>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8" name="Shape 278"/>
        <p:cNvGrpSpPr/>
        <p:nvPr/>
      </p:nvGrpSpPr>
      <p:grpSpPr>
        <a:xfrm>
          <a:off x="0" y="0"/>
          <a:ext cx="0" cy="0"/>
          <a:chOff x="0" y="0"/>
          <a:chExt cx="0" cy="0"/>
        </a:xfrm>
      </p:grpSpPr>
      <p:sp>
        <p:nvSpPr>
          <p:cNvPr id="279" name="Google Shape;279;p31"/>
          <p:cNvSpPr/>
          <p:nvPr/>
        </p:nvSpPr>
        <p:spPr>
          <a:xfrm>
            <a:off x="0" y="0"/>
            <a:ext cx="9144000" cy="1009800"/>
          </a:xfrm>
          <a:prstGeom prst="rect">
            <a:avLst/>
          </a:prstGeom>
          <a:solidFill>
            <a:srgbClr val="1419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80" name="Google Shape;280;p31"/>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
        <p:nvSpPr>
          <p:cNvPr id="281" name="Google Shape;281;p31"/>
          <p:cNvSpPr/>
          <p:nvPr/>
        </p:nvSpPr>
        <p:spPr>
          <a:xfrm>
            <a:off x="3112500" y="215700"/>
            <a:ext cx="25875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FEATURES</a:t>
            </a:r>
            <a:endParaRPr b="1" sz="3100">
              <a:solidFill>
                <a:srgbClr val="6178F2"/>
              </a:solidFill>
              <a:latin typeface="Source Sans Pro"/>
              <a:ea typeface="Source Sans Pro"/>
              <a:cs typeface="Source Sans Pro"/>
              <a:sym typeface="Source Sans Pro"/>
            </a:endParaRPr>
          </a:p>
        </p:txBody>
      </p:sp>
      <p:sp>
        <p:nvSpPr>
          <p:cNvPr id="282" name="Google Shape;282;p31"/>
          <p:cNvSpPr txBox="1"/>
          <p:nvPr/>
        </p:nvSpPr>
        <p:spPr>
          <a:xfrm>
            <a:off x="1391850" y="1156425"/>
            <a:ext cx="6360300" cy="3570900"/>
          </a:xfrm>
          <a:prstGeom prst="rect">
            <a:avLst/>
          </a:prstGeom>
          <a:noFill/>
          <a:ln>
            <a:noFill/>
          </a:ln>
        </p:spPr>
        <p:txBody>
          <a:bodyPr anchorCtr="0" anchor="t" bIns="91425" lIns="91425" spcFirstLastPara="1" rIns="91425" wrap="square" tIns="91425">
            <a:spAutoFit/>
          </a:bodyPr>
          <a:lstStyle/>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Modelo Declarativo.</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Prisma Client (Type Safety / Autocompletado).</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Prisma Migrate.</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Manejo Intuitivo de Relaciones.</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Compatibilidad Multi-Base de Datos.</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Mapeador objeto-relacional moderno de código abierto para Node.js.</a:t>
            </a:r>
            <a:endParaRPr sz="2200">
              <a:solidFill>
                <a:schemeClr val="lt1"/>
              </a:solidFill>
              <a:latin typeface="Source Sans Pro"/>
              <a:ea typeface="Source Sans Pro"/>
              <a:cs typeface="Source Sans Pro"/>
              <a:sym typeface="Source Sans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86" name="Shape 286"/>
        <p:cNvGrpSpPr/>
        <p:nvPr/>
      </p:nvGrpSpPr>
      <p:grpSpPr>
        <a:xfrm>
          <a:off x="0" y="0"/>
          <a:ext cx="0" cy="0"/>
          <a:chOff x="0" y="0"/>
          <a:chExt cx="0" cy="0"/>
        </a:xfrm>
      </p:grpSpPr>
      <p:sp>
        <p:nvSpPr>
          <p:cNvPr id="287" name="Google Shape;287;p32"/>
          <p:cNvSpPr/>
          <p:nvPr/>
        </p:nvSpPr>
        <p:spPr>
          <a:xfrm>
            <a:off x="0" y="0"/>
            <a:ext cx="9144000" cy="1009800"/>
          </a:xfrm>
          <a:prstGeom prst="rect">
            <a:avLst/>
          </a:prstGeom>
          <a:solidFill>
            <a:srgbClr val="1419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88" name="Google Shape;288;p32"/>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
        <p:nvSpPr>
          <p:cNvPr id="289" name="Google Shape;289;p32"/>
          <p:cNvSpPr/>
          <p:nvPr/>
        </p:nvSpPr>
        <p:spPr>
          <a:xfrm>
            <a:off x="1157000" y="215700"/>
            <a:ext cx="75798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Generación automática de tipos TypeScript</a:t>
            </a:r>
            <a:endParaRPr b="1" sz="3100">
              <a:solidFill>
                <a:srgbClr val="6178F2"/>
              </a:solidFill>
              <a:latin typeface="Source Sans Pro"/>
              <a:ea typeface="Source Sans Pro"/>
              <a:cs typeface="Source Sans Pro"/>
              <a:sym typeface="Source Sans Pro"/>
            </a:endParaRPr>
          </a:p>
        </p:txBody>
      </p:sp>
      <p:sp>
        <p:nvSpPr>
          <p:cNvPr id="290" name="Google Shape;290;p32"/>
          <p:cNvSpPr txBox="1"/>
          <p:nvPr/>
        </p:nvSpPr>
        <p:spPr>
          <a:xfrm>
            <a:off x="2483775" y="1535350"/>
            <a:ext cx="4447800" cy="2555100"/>
          </a:xfrm>
          <a:prstGeom prst="rect">
            <a:avLst/>
          </a:prstGeom>
          <a:noFill/>
          <a:ln>
            <a:noFill/>
          </a:ln>
        </p:spPr>
        <p:txBody>
          <a:bodyPr anchorCtr="0" anchor="t" bIns="91425" lIns="91425" spcFirstLastPara="1" rIns="91425" wrap="square" tIns="91425">
            <a:spAutoFit/>
          </a:bodyPr>
          <a:lstStyle/>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schema.prisma</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Creación del cliente a medida.</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Interacción segura</a:t>
            </a:r>
            <a:r>
              <a:rPr lang="es" sz="2200">
                <a:solidFill>
                  <a:schemeClr val="lt1"/>
                </a:solidFill>
                <a:latin typeface="Source Sans Pro"/>
                <a:ea typeface="Source Sans Pro"/>
                <a:cs typeface="Source Sans Pro"/>
                <a:sym typeface="Source Sans Pro"/>
              </a:rPr>
              <a:t>.</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Prevención de bugs</a:t>
            </a:r>
            <a:r>
              <a:rPr lang="es" sz="2200">
                <a:solidFill>
                  <a:schemeClr val="lt1"/>
                </a:solidFill>
                <a:latin typeface="Source Sans Pro"/>
                <a:ea typeface="Source Sans Pro"/>
                <a:cs typeface="Source Sans Pro"/>
                <a:sym typeface="Source Sans Pro"/>
              </a:rPr>
              <a:t>.</a:t>
            </a:r>
            <a:endParaRPr sz="2200">
              <a:solidFill>
                <a:schemeClr val="lt1"/>
              </a:solidFill>
              <a:latin typeface="Source Sans Pro"/>
              <a:ea typeface="Source Sans Pro"/>
              <a:cs typeface="Source Sans Pro"/>
              <a:sym typeface="Source Sans Pro"/>
            </a:endParaRPr>
          </a:p>
          <a:p>
            <a:pPr indent="-368300" lvl="0" marL="457200" rtl="0" algn="l">
              <a:lnSpc>
                <a:spcPct val="150000"/>
              </a:lnSpc>
              <a:spcBef>
                <a:spcPts val="0"/>
              </a:spcBef>
              <a:spcAft>
                <a:spcPts val="0"/>
              </a:spcAft>
              <a:buClr>
                <a:srgbClr val="6178F2"/>
              </a:buClr>
              <a:buSzPts val="2200"/>
              <a:buFont typeface="Source Sans Pro"/>
              <a:buAutoNum type="arabicPeriod"/>
            </a:pPr>
            <a:r>
              <a:rPr lang="es" sz="2200">
                <a:solidFill>
                  <a:schemeClr val="lt1"/>
                </a:solidFill>
                <a:latin typeface="Source Sans Pro"/>
                <a:ea typeface="Source Sans Pro"/>
                <a:cs typeface="Source Sans Pro"/>
                <a:sym typeface="Source Sans Pro"/>
              </a:rPr>
              <a:t>Velocidad al programar</a:t>
            </a:r>
            <a:r>
              <a:rPr lang="es" sz="2200">
                <a:solidFill>
                  <a:schemeClr val="lt1"/>
                </a:solidFill>
                <a:latin typeface="Source Sans Pro"/>
                <a:ea typeface="Source Sans Pro"/>
                <a:cs typeface="Source Sans Pro"/>
                <a:sym typeface="Source Sans Pro"/>
              </a:rPr>
              <a:t>.</a:t>
            </a:r>
            <a:endParaRPr sz="2200">
              <a:solidFill>
                <a:schemeClr val="lt1"/>
              </a:solidFill>
              <a:latin typeface="Source Sans Pro"/>
              <a:ea typeface="Source Sans Pro"/>
              <a:cs typeface="Source Sans Pro"/>
              <a:sym typeface="Source Sans P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4" name="Shape 294"/>
        <p:cNvGrpSpPr/>
        <p:nvPr/>
      </p:nvGrpSpPr>
      <p:grpSpPr>
        <a:xfrm>
          <a:off x="0" y="0"/>
          <a:ext cx="0" cy="0"/>
          <a:chOff x="0" y="0"/>
          <a:chExt cx="0" cy="0"/>
        </a:xfrm>
      </p:grpSpPr>
      <p:sp>
        <p:nvSpPr>
          <p:cNvPr id="295" name="Google Shape;295;p33"/>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296" name="Google Shape;296;p33"/>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34D399"/>
                </a:solidFill>
                <a:latin typeface="Source Sans Pro"/>
                <a:ea typeface="Source Sans Pro"/>
                <a:cs typeface="Source Sans Pro"/>
                <a:sym typeface="Source Sans Pro"/>
              </a:rPr>
              <a:t>Factores No Técnicos</a:t>
            </a:r>
            <a:endParaRPr b="1" sz="6000">
              <a:solidFill>
                <a:srgbClr val="34D399"/>
              </a:solidFill>
              <a:latin typeface="Source Sans Pro"/>
              <a:ea typeface="Source Sans Pro"/>
              <a:cs typeface="Source Sans Pro"/>
              <a:sym typeface="Source Sans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0" name="Shape 300"/>
        <p:cNvGrpSpPr/>
        <p:nvPr/>
      </p:nvGrpSpPr>
      <p:grpSpPr>
        <a:xfrm>
          <a:off x="0" y="0"/>
          <a:ext cx="0" cy="0"/>
          <a:chOff x="0" y="0"/>
          <a:chExt cx="0" cy="0"/>
        </a:xfrm>
      </p:grpSpPr>
      <p:sp>
        <p:nvSpPr>
          <p:cNvPr id="301" name="Google Shape;301;p3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02" name="Google Shape;302;p34"/>
          <p:cNvSpPr/>
          <p:nvPr/>
        </p:nvSpPr>
        <p:spPr>
          <a:xfrm>
            <a:off x="3281550" y="247800"/>
            <a:ext cx="2580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COMUNIDAD</a:t>
            </a:r>
            <a:endParaRPr b="1" sz="3000">
              <a:solidFill>
                <a:schemeClr val="lt1"/>
              </a:solidFill>
              <a:latin typeface="Source Sans Pro"/>
              <a:ea typeface="Source Sans Pro"/>
              <a:cs typeface="Source Sans Pro"/>
              <a:sym typeface="Source Sans Pro"/>
            </a:endParaRPr>
          </a:p>
        </p:txBody>
      </p:sp>
      <p:sp>
        <p:nvSpPr>
          <p:cNvPr id="303" name="Google Shape;303;p34"/>
          <p:cNvSpPr txBox="1"/>
          <p:nvPr/>
        </p:nvSpPr>
        <p:spPr>
          <a:xfrm>
            <a:off x="404550" y="1123613"/>
            <a:ext cx="8334900" cy="17238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rgbClr val="C5F74F"/>
              </a:buClr>
              <a:buSzPts val="2500"/>
              <a:buFont typeface="Source Sans Pro"/>
              <a:buChar char="●"/>
            </a:pPr>
            <a:r>
              <a:rPr lang="es" sz="2500">
                <a:solidFill>
                  <a:schemeClr val="lt1"/>
                </a:solidFill>
                <a:latin typeface="Source Sans Pro"/>
                <a:ea typeface="Source Sans Pro"/>
                <a:cs typeface="Source Sans Pro"/>
                <a:sym typeface="Source Sans Pro"/>
              </a:rPr>
              <a:t>Drizzle ORM tiene más de 36000 estrellas en GitHub</a:t>
            </a:r>
            <a:endParaRPr sz="2500">
              <a:solidFill>
                <a:schemeClr val="lt1"/>
              </a:solidFill>
              <a:latin typeface="Source Sans Pro"/>
              <a:ea typeface="Source Sans Pro"/>
              <a:cs typeface="Source Sans Pro"/>
              <a:sym typeface="Source Sans Pro"/>
            </a:endParaRPr>
          </a:p>
          <a:p>
            <a:pPr indent="-387350" lvl="0" marL="457200" rtl="0" algn="l">
              <a:spcBef>
                <a:spcPts val="0"/>
              </a:spcBef>
              <a:spcAft>
                <a:spcPts val="0"/>
              </a:spcAft>
              <a:buClr>
                <a:srgbClr val="C5F74F"/>
              </a:buClr>
              <a:buSzPts val="2500"/>
              <a:buFont typeface="Source Sans Pro"/>
              <a:buChar char="●"/>
            </a:pPr>
            <a:r>
              <a:rPr lang="es" sz="2500">
                <a:solidFill>
                  <a:schemeClr val="lt1"/>
                </a:solidFill>
                <a:latin typeface="Source Sans Pro"/>
                <a:ea typeface="Source Sans Pro"/>
                <a:cs typeface="Source Sans Pro"/>
                <a:sym typeface="Source Sans Pro"/>
              </a:rPr>
              <a:t>Más de 1700 forks</a:t>
            </a:r>
            <a:endParaRPr sz="2500">
              <a:solidFill>
                <a:schemeClr val="lt1"/>
              </a:solidFill>
              <a:latin typeface="Source Sans Pro"/>
              <a:ea typeface="Source Sans Pro"/>
              <a:cs typeface="Source Sans Pro"/>
              <a:sym typeface="Source Sans Pro"/>
            </a:endParaRPr>
          </a:p>
          <a:p>
            <a:pPr indent="-387350" lvl="0" marL="457200" rtl="0" algn="l">
              <a:spcBef>
                <a:spcPts val="0"/>
              </a:spcBef>
              <a:spcAft>
                <a:spcPts val="0"/>
              </a:spcAft>
              <a:buClr>
                <a:srgbClr val="C5F74F"/>
              </a:buClr>
              <a:buSzPts val="2500"/>
              <a:buFont typeface="Source Sans Pro"/>
              <a:buChar char="●"/>
            </a:pPr>
            <a:r>
              <a:rPr lang="es" sz="2500">
                <a:solidFill>
                  <a:schemeClr val="lt1"/>
                </a:solidFill>
                <a:latin typeface="Source Sans Pro"/>
                <a:ea typeface="Source Sans Pro"/>
                <a:cs typeface="Source Sans Pro"/>
                <a:sym typeface="Source Sans Pro"/>
              </a:rPr>
              <a:t>Servidor de discord con 12.000 miembro</a:t>
            </a:r>
            <a:r>
              <a:rPr lang="es" sz="2500">
                <a:solidFill>
                  <a:schemeClr val="lt1"/>
                </a:solidFill>
                <a:latin typeface="Source Sans Pro"/>
                <a:ea typeface="Source Sans Pro"/>
                <a:cs typeface="Source Sans Pro"/>
                <a:sym typeface="Source Sans Pro"/>
              </a:rPr>
              <a:t>s</a:t>
            </a:r>
            <a:endParaRPr sz="2500">
              <a:solidFill>
                <a:schemeClr val="lt1"/>
              </a:solidFill>
              <a:latin typeface="Source Sans Pro"/>
              <a:ea typeface="Source Sans Pro"/>
              <a:cs typeface="Source Sans Pro"/>
              <a:sym typeface="Source Sans Pro"/>
            </a:endParaRPr>
          </a:p>
          <a:p>
            <a:pPr indent="-387350" lvl="0" marL="457200" rtl="0" algn="l">
              <a:spcBef>
                <a:spcPts val="0"/>
              </a:spcBef>
              <a:spcAft>
                <a:spcPts val="0"/>
              </a:spcAft>
              <a:buClr>
                <a:srgbClr val="C5F74F"/>
              </a:buClr>
              <a:buSzPts val="2500"/>
              <a:buFont typeface="Source Sans Pro"/>
              <a:buChar char="●"/>
            </a:pPr>
            <a:r>
              <a:rPr lang="es" sz="2500">
                <a:solidFill>
                  <a:schemeClr val="lt1"/>
                </a:solidFill>
                <a:latin typeface="Source Sans Pro"/>
                <a:ea typeface="Source Sans Pro"/>
                <a:cs typeface="Source Sans Pro"/>
                <a:sym typeface="Source Sans Pro"/>
              </a:rPr>
              <a:t>~ 76 M descargas/mes npm</a:t>
            </a:r>
            <a:endParaRPr sz="2500">
              <a:solidFill>
                <a:schemeClr val="lt1"/>
              </a:solidFill>
              <a:latin typeface="Source Sans Pro"/>
              <a:ea typeface="Source Sans Pro"/>
              <a:cs typeface="Source Sans Pro"/>
              <a:sym typeface="Source Sans Pro"/>
            </a:endParaRPr>
          </a:p>
        </p:txBody>
      </p:sp>
      <p:pic>
        <p:nvPicPr>
          <p:cNvPr id="304" name="Google Shape;304;p34"/>
          <p:cNvPicPr preferRelativeResize="0"/>
          <p:nvPr/>
        </p:nvPicPr>
        <p:blipFill>
          <a:blip r:embed="rId3">
            <a:alphaModFix/>
          </a:blip>
          <a:stretch>
            <a:fillRect/>
          </a:stretch>
        </p:blipFill>
        <p:spPr>
          <a:xfrm>
            <a:off x="4750238" y="2748575"/>
            <a:ext cx="3857625" cy="1733550"/>
          </a:xfrm>
          <a:prstGeom prst="rect">
            <a:avLst/>
          </a:prstGeom>
          <a:noFill/>
          <a:ln>
            <a:noFill/>
          </a:ln>
        </p:spPr>
      </p:pic>
      <p:pic>
        <p:nvPicPr>
          <p:cNvPr id="305" name="Google Shape;305;p34"/>
          <p:cNvPicPr preferRelativeResize="0"/>
          <p:nvPr/>
        </p:nvPicPr>
        <p:blipFill rotWithShape="1">
          <a:blip r:embed="rId4">
            <a:alphaModFix/>
          </a:blip>
          <a:srcRect b="45961" l="0" r="0" t="0"/>
          <a:stretch/>
        </p:blipFill>
        <p:spPr>
          <a:xfrm>
            <a:off x="262738" y="3099029"/>
            <a:ext cx="4168600" cy="669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9" name="Shape 309"/>
        <p:cNvGrpSpPr/>
        <p:nvPr/>
      </p:nvGrpSpPr>
      <p:grpSpPr>
        <a:xfrm>
          <a:off x="0" y="0"/>
          <a:ext cx="0" cy="0"/>
          <a:chOff x="0" y="0"/>
          <a:chExt cx="0" cy="0"/>
        </a:xfrm>
      </p:grpSpPr>
      <p:sp>
        <p:nvSpPr>
          <p:cNvPr id="310" name="Google Shape;310;p3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11" name="Google Shape;311;p35"/>
          <p:cNvSpPr/>
          <p:nvPr/>
        </p:nvSpPr>
        <p:spPr>
          <a:xfrm>
            <a:off x="2925600" y="247800"/>
            <a:ext cx="32928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DESCARGAS NPM</a:t>
            </a:r>
            <a:endParaRPr b="1" sz="3000">
              <a:solidFill>
                <a:schemeClr val="lt1"/>
              </a:solidFill>
              <a:latin typeface="Source Sans Pro"/>
              <a:ea typeface="Source Sans Pro"/>
              <a:cs typeface="Source Sans Pro"/>
              <a:sym typeface="Source Sans Pro"/>
            </a:endParaRPr>
          </a:p>
        </p:txBody>
      </p:sp>
      <p:pic>
        <p:nvPicPr>
          <p:cNvPr id="312" name="Google Shape;312;p35"/>
          <p:cNvPicPr preferRelativeResize="0"/>
          <p:nvPr/>
        </p:nvPicPr>
        <p:blipFill>
          <a:blip r:embed="rId3">
            <a:alphaModFix/>
          </a:blip>
          <a:stretch>
            <a:fillRect/>
          </a:stretch>
        </p:blipFill>
        <p:spPr>
          <a:xfrm>
            <a:off x="126275" y="1097025"/>
            <a:ext cx="8739451" cy="393420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16" name="Shape 316"/>
        <p:cNvGrpSpPr/>
        <p:nvPr/>
      </p:nvGrpSpPr>
      <p:grpSpPr>
        <a:xfrm>
          <a:off x="0" y="0"/>
          <a:ext cx="0" cy="0"/>
          <a:chOff x="0" y="0"/>
          <a:chExt cx="0" cy="0"/>
        </a:xfrm>
      </p:grpSpPr>
      <p:sp>
        <p:nvSpPr>
          <p:cNvPr id="317" name="Google Shape;317;p3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18" name="Google Shape;318;p36"/>
          <p:cNvSpPr/>
          <p:nvPr/>
        </p:nvSpPr>
        <p:spPr>
          <a:xfrm>
            <a:off x="2414550" y="247800"/>
            <a:ext cx="4314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RESOLUCIÓN DE BUGS</a:t>
            </a:r>
            <a:endParaRPr b="1" sz="3000">
              <a:solidFill>
                <a:schemeClr val="lt1"/>
              </a:solidFill>
              <a:latin typeface="Source Sans Pro"/>
              <a:ea typeface="Source Sans Pro"/>
              <a:cs typeface="Source Sans Pro"/>
              <a:sym typeface="Source Sans Pro"/>
            </a:endParaRPr>
          </a:p>
        </p:txBody>
      </p:sp>
      <p:sp>
        <p:nvSpPr>
          <p:cNvPr id="319" name="Google Shape;319;p36"/>
          <p:cNvSpPr txBox="1"/>
          <p:nvPr/>
        </p:nvSpPr>
        <p:spPr>
          <a:xfrm>
            <a:off x="0" y="1006800"/>
            <a:ext cx="9107700" cy="383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200">
                <a:solidFill>
                  <a:schemeClr val="lt1"/>
                </a:solidFill>
                <a:latin typeface="Source Sans Pro"/>
                <a:ea typeface="Source Sans Pro"/>
                <a:cs typeface="Source Sans Pro"/>
                <a:sym typeface="Source Sans Pro"/>
              </a:rPr>
              <a:t>El equipo de Drizzle mantiene un desarrollo abierto </a:t>
            </a:r>
            <a:r>
              <a:rPr b="1" lang="es" sz="2200">
                <a:solidFill>
                  <a:schemeClr val="lt1"/>
                </a:solidFill>
                <a:latin typeface="Source Sans Pro"/>
                <a:ea typeface="Source Sans Pro"/>
                <a:cs typeface="Source Sans Pro"/>
                <a:sym typeface="Source Sans Pro"/>
              </a:rPr>
              <a:t>(Open Source)</a:t>
            </a:r>
            <a:r>
              <a:rPr lang="es" sz="2200">
                <a:solidFill>
                  <a:schemeClr val="lt1"/>
                </a:solidFill>
                <a:latin typeface="Source Sans Pro"/>
                <a:ea typeface="Source Sans Pro"/>
                <a:cs typeface="Source Sans Pro"/>
                <a:sym typeface="Source Sans Pro"/>
              </a:rPr>
              <a:t> publicado bajo la licencia Apache-2.0.</a:t>
            </a:r>
            <a:endParaRPr sz="22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22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2200">
                <a:solidFill>
                  <a:schemeClr val="lt1"/>
                </a:solidFill>
                <a:latin typeface="Source Sans Pro"/>
                <a:ea typeface="Source Sans Pro"/>
                <a:cs typeface="Source Sans Pro"/>
                <a:sym typeface="Source Sans Pro"/>
              </a:rPr>
              <a:t>Entonces cuando los usuarios encuentran errores pueden reportarlos por los Issues de GitHub, haciendo Pull Request o escribiéndole al equipo por el discord oficial.</a:t>
            </a:r>
            <a:endParaRPr sz="22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22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2200">
                <a:solidFill>
                  <a:schemeClr val="lt1"/>
                </a:solidFill>
                <a:latin typeface="Source Sans Pro"/>
                <a:ea typeface="Source Sans Pro"/>
                <a:cs typeface="Source Sans Pro"/>
                <a:sym typeface="Source Sans Pro"/>
              </a:rPr>
              <a:t>El proyecto se actualiza </a:t>
            </a:r>
            <a:r>
              <a:rPr b="1" lang="es" sz="2200">
                <a:solidFill>
                  <a:schemeClr val="lt1"/>
                </a:solidFill>
                <a:latin typeface="Source Sans Pro"/>
                <a:ea typeface="Source Sans Pro"/>
                <a:cs typeface="Source Sans Pro"/>
                <a:sym typeface="Source Sans Pro"/>
              </a:rPr>
              <a:t>frecuentemente</a:t>
            </a:r>
            <a:r>
              <a:rPr lang="es" sz="2200">
                <a:solidFill>
                  <a:schemeClr val="lt1"/>
                </a:solidFill>
                <a:latin typeface="Source Sans Pro"/>
                <a:ea typeface="Source Sans Pro"/>
                <a:cs typeface="Source Sans Pro"/>
                <a:sym typeface="Source Sans Pro"/>
              </a:rPr>
              <a:t> con nuevas versiones corrigiendo errores y mejorando el rendimiento. Haciendo mucho énfasis a lo que dice la comunidad, teniéndolos muy en cuenta.</a:t>
            </a:r>
            <a:endParaRPr sz="22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sz="1700">
              <a:solidFill>
                <a:schemeClr val="lt1"/>
              </a:solidFill>
              <a:latin typeface="Source Sans Pro"/>
              <a:ea typeface="Source Sans Pro"/>
              <a:cs typeface="Source Sans Pro"/>
              <a:sym typeface="Source Sans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3" name="Shape 323"/>
        <p:cNvGrpSpPr/>
        <p:nvPr/>
      </p:nvGrpSpPr>
      <p:grpSpPr>
        <a:xfrm>
          <a:off x="0" y="0"/>
          <a:ext cx="0" cy="0"/>
          <a:chOff x="0" y="0"/>
          <a:chExt cx="0" cy="0"/>
        </a:xfrm>
      </p:grpSpPr>
      <p:sp>
        <p:nvSpPr>
          <p:cNvPr id="324" name="Google Shape;324;p3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25" name="Google Shape;325;p37"/>
          <p:cNvSpPr/>
          <p:nvPr/>
        </p:nvSpPr>
        <p:spPr>
          <a:xfrm>
            <a:off x="2414550" y="247800"/>
            <a:ext cx="4314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CURVA DE APRENDIZAJE</a:t>
            </a:r>
            <a:endParaRPr b="1" sz="3000">
              <a:solidFill>
                <a:schemeClr val="lt1"/>
              </a:solidFill>
              <a:latin typeface="Source Sans Pro"/>
              <a:ea typeface="Source Sans Pro"/>
              <a:cs typeface="Source Sans Pro"/>
              <a:sym typeface="Source Sans Pro"/>
            </a:endParaRPr>
          </a:p>
        </p:txBody>
      </p:sp>
      <p:sp>
        <p:nvSpPr>
          <p:cNvPr id="326" name="Google Shape;326;p37"/>
          <p:cNvSpPr txBox="1"/>
          <p:nvPr/>
        </p:nvSpPr>
        <p:spPr>
          <a:xfrm>
            <a:off x="0" y="1006800"/>
            <a:ext cx="91077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700">
                <a:solidFill>
                  <a:schemeClr val="lt1"/>
                </a:solidFill>
                <a:latin typeface="Source Sans Pro"/>
                <a:ea typeface="Source Sans Pro"/>
                <a:cs typeface="Source Sans Pro"/>
                <a:sym typeface="Source Sans Pro"/>
              </a:rPr>
              <a:t>Textualmente la documentación de Drizzle dice lo siguiente:</a:t>
            </a:r>
            <a:endParaRPr sz="27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sz="27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3600">
                <a:solidFill>
                  <a:schemeClr val="lt1"/>
                </a:solidFill>
                <a:latin typeface="Source Sans Pro"/>
                <a:ea typeface="Source Sans Pro"/>
                <a:cs typeface="Source Sans Pro"/>
                <a:sym typeface="Source Sans Pro"/>
              </a:rPr>
              <a:t>"zero to no learning curve"</a:t>
            </a:r>
            <a:endParaRPr sz="3600">
              <a:solidFill>
                <a:schemeClr val="lt1"/>
              </a:solidFill>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0" name="Shape 330"/>
        <p:cNvGrpSpPr/>
        <p:nvPr/>
      </p:nvGrpSpPr>
      <p:grpSpPr>
        <a:xfrm>
          <a:off x="0" y="0"/>
          <a:ext cx="0" cy="0"/>
          <a:chOff x="0" y="0"/>
          <a:chExt cx="0" cy="0"/>
        </a:xfrm>
      </p:grpSpPr>
      <p:sp>
        <p:nvSpPr>
          <p:cNvPr id="331" name="Google Shape;331;p3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32" name="Google Shape;332;p38"/>
          <p:cNvSpPr/>
          <p:nvPr/>
        </p:nvSpPr>
        <p:spPr>
          <a:xfrm>
            <a:off x="2414550" y="247800"/>
            <a:ext cx="4314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CURVA DE APRENDIZAJE</a:t>
            </a:r>
            <a:endParaRPr b="1" sz="3000">
              <a:solidFill>
                <a:schemeClr val="lt1"/>
              </a:solidFill>
              <a:latin typeface="Source Sans Pro"/>
              <a:ea typeface="Source Sans Pro"/>
              <a:cs typeface="Source Sans Pro"/>
              <a:sym typeface="Source Sans Pro"/>
            </a:endParaRPr>
          </a:p>
        </p:txBody>
      </p:sp>
      <p:sp>
        <p:nvSpPr>
          <p:cNvPr id="333" name="Google Shape;333;p38"/>
          <p:cNvSpPr txBox="1"/>
          <p:nvPr/>
        </p:nvSpPr>
        <p:spPr>
          <a:xfrm>
            <a:off x="0" y="1006800"/>
            <a:ext cx="91077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7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sz="27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3600">
                <a:solidFill>
                  <a:schemeClr val="lt1"/>
                </a:solidFill>
                <a:latin typeface="Source Sans Pro"/>
                <a:ea typeface="Source Sans Pro"/>
                <a:cs typeface="Source Sans Pro"/>
                <a:sym typeface="Source Sans Pro"/>
              </a:rPr>
              <a:t>"If you know SQL, you know Drizzle"</a:t>
            </a:r>
            <a:endParaRPr sz="3600">
              <a:solidFill>
                <a:schemeClr val="lt1"/>
              </a:solidFill>
              <a:latin typeface="Source Sans Pro"/>
              <a:ea typeface="Source Sans Pro"/>
              <a:cs typeface="Source Sans Pro"/>
              <a:sym typeface="Source Sans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7" name="Shape 337"/>
        <p:cNvGrpSpPr/>
        <p:nvPr/>
      </p:nvGrpSpPr>
      <p:grpSpPr>
        <a:xfrm>
          <a:off x="0" y="0"/>
          <a:ext cx="0" cy="0"/>
          <a:chOff x="0" y="0"/>
          <a:chExt cx="0" cy="0"/>
        </a:xfrm>
      </p:grpSpPr>
      <p:sp>
        <p:nvSpPr>
          <p:cNvPr id="338" name="Google Shape;338;p3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39" name="Google Shape;339;p39"/>
          <p:cNvSpPr/>
          <p:nvPr/>
        </p:nvSpPr>
        <p:spPr>
          <a:xfrm>
            <a:off x="2414550" y="247800"/>
            <a:ext cx="4314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CURVA DE APRENDIZAJE</a:t>
            </a:r>
            <a:endParaRPr b="1" sz="3000">
              <a:solidFill>
                <a:schemeClr val="lt1"/>
              </a:solidFill>
              <a:latin typeface="Source Sans Pro"/>
              <a:ea typeface="Source Sans Pro"/>
              <a:cs typeface="Source Sans Pro"/>
              <a:sym typeface="Source Sans Pro"/>
            </a:endParaRPr>
          </a:p>
        </p:txBody>
      </p:sp>
      <p:pic>
        <p:nvPicPr>
          <p:cNvPr id="340" name="Google Shape;340;p39"/>
          <p:cNvPicPr preferRelativeResize="0"/>
          <p:nvPr/>
        </p:nvPicPr>
        <p:blipFill rotWithShape="1">
          <a:blip r:embed="rId3">
            <a:alphaModFix/>
          </a:blip>
          <a:srcRect b="21679" l="0" r="27071" t="18798"/>
          <a:stretch/>
        </p:blipFill>
        <p:spPr>
          <a:xfrm>
            <a:off x="871662" y="1006800"/>
            <a:ext cx="7400675" cy="4026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44" name="Shape 344"/>
        <p:cNvGrpSpPr/>
        <p:nvPr/>
      </p:nvGrpSpPr>
      <p:grpSpPr>
        <a:xfrm>
          <a:off x="0" y="0"/>
          <a:ext cx="0" cy="0"/>
          <a:chOff x="0" y="0"/>
          <a:chExt cx="0" cy="0"/>
        </a:xfrm>
      </p:grpSpPr>
      <p:sp>
        <p:nvSpPr>
          <p:cNvPr id="345" name="Google Shape;345;p40"/>
          <p:cNvSpPr/>
          <p:nvPr/>
        </p:nvSpPr>
        <p:spPr>
          <a:xfrm>
            <a:off x="0" y="0"/>
            <a:ext cx="9144000" cy="1009800"/>
          </a:xfrm>
          <a:prstGeom prst="rect">
            <a:avLst/>
          </a:prstGeom>
          <a:solidFill>
            <a:srgbClr val="1419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40"/>
          <p:cNvGrpSpPr/>
          <p:nvPr/>
        </p:nvGrpSpPr>
        <p:grpSpPr>
          <a:xfrm>
            <a:off x="381000" y="1524000"/>
            <a:ext cx="2177261" cy="3048000"/>
            <a:chOff x="0" y="0"/>
            <a:chExt cx="1952700" cy="3048000"/>
          </a:xfrm>
        </p:grpSpPr>
        <p:sp>
          <p:nvSpPr>
            <p:cNvPr id="347" name="Google Shape;347;p40"/>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40"/>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40"/>
            <p:cNvSpPr txBox="1"/>
            <p:nvPr/>
          </p:nvSpPr>
          <p:spPr>
            <a:xfrm>
              <a:off x="0" y="0"/>
              <a:ext cx="1952700" cy="28026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lang="es" sz="3200">
                  <a:solidFill>
                    <a:srgbClr val="6178F2"/>
                  </a:solidFill>
                  <a:latin typeface="Material Icons"/>
                  <a:ea typeface="Material Icons"/>
                  <a:cs typeface="Material Icons"/>
                  <a:sym typeface="Material Icons"/>
                </a:rPr>
                <a:t>groups</a:t>
              </a:r>
              <a:endParaRPr sz="3200">
                <a:solidFill>
                  <a:srgbClr val="6178F2"/>
                </a:solidFill>
                <a:latin typeface="Material Icons"/>
                <a:ea typeface="Material Icons"/>
                <a:cs typeface="Material Icons"/>
                <a:sym typeface="Material Icons"/>
              </a:endParaRPr>
            </a:p>
            <a:p>
              <a:pPr indent="0" lvl="0" marL="0" rtl="0" algn="l">
                <a:spcBef>
                  <a:spcPts val="750"/>
                </a:spcBef>
                <a:spcAft>
                  <a:spcPts val="0"/>
                </a:spcAft>
                <a:buNone/>
              </a:pPr>
              <a:r>
                <a:rPr b="1" lang="es" sz="1800">
                  <a:solidFill>
                    <a:srgbClr val="FFFFFF"/>
                  </a:solidFill>
                  <a:latin typeface="Source Sans Pro"/>
                  <a:ea typeface="Source Sans Pro"/>
                  <a:cs typeface="Source Sans Pro"/>
                  <a:sym typeface="Source Sans Pro"/>
                </a:rPr>
                <a:t>Comunidad</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b="0" lang="es" sz="1600">
                  <a:solidFill>
                    <a:srgbClr val="CCCCCC"/>
                  </a:solidFill>
                  <a:latin typeface="Source Sans Pro"/>
                  <a:ea typeface="Source Sans Pro"/>
                  <a:cs typeface="Source Sans Pro"/>
                  <a:sym typeface="Source Sans Pro"/>
                </a:rPr>
                <a:t>Soporte activo de desarrolladores.</a:t>
              </a:r>
              <a:endParaRPr b="0" sz="1600">
                <a:solidFill>
                  <a:srgbClr val="CCCCCC"/>
                </a:solidFill>
                <a:latin typeface="Source Sans Pro"/>
                <a:ea typeface="Source Sans Pro"/>
                <a:cs typeface="Source Sans Pro"/>
                <a:sym typeface="Source Sans Pro"/>
              </a:endParaRPr>
            </a:p>
            <a:p>
              <a:pPr indent="0" lvl="0" marL="0" rtl="0" algn="l">
                <a:spcBef>
                  <a:spcPts val="600"/>
                </a:spcBef>
                <a:spcAft>
                  <a:spcPts val="0"/>
                </a:spcAft>
                <a:buNone/>
              </a:pPr>
              <a:r>
                <a:rPr b="0" lang="es" sz="1600">
                  <a:solidFill>
                    <a:srgbClr val="CCCCCC"/>
                  </a:solidFill>
                  <a:latin typeface="Source Sans Pro"/>
                  <a:ea typeface="Source Sans Pro"/>
                  <a:cs typeface="Source Sans Pro"/>
                  <a:sym typeface="Source Sans Pro"/>
                </a:rPr>
                <a:t>Ecosistema de plugins, foros y recursos compartidos.</a:t>
              </a:r>
              <a:endParaRPr b="0" sz="1600">
                <a:solidFill>
                  <a:srgbClr val="CCCCCC"/>
                </a:solidFill>
                <a:latin typeface="Source Sans Pro"/>
                <a:ea typeface="Source Sans Pro"/>
                <a:cs typeface="Source Sans Pro"/>
                <a:sym typeface="Source Sans Pro"/>
              </a:endParaRPr>
            </a:p>
          </p:txBody>
        </p:sp>
      </p:grpSp>
      <p:grpSp>
        <p:nvGrpSpPr>
          <p:cNvPr id="350" name="Google Shape;350;p40"/>
          <p:cNvGrpSpPr/>
          <p:nvPr/>
        </p:nvGrpSpPr>
        <p:grpSpPr>
          <a:xfrm>
            <a:off x="3483414" y="1524000"/>
            <a:ext cx="2177260" cy="3048000"/>
            <a:chOff x="0" y="0"/>
            <a:chExt cx="1952700" cy="3048000"/>
          </a:xfrm>
        </p:grpSpPr>
        <p:sp>
          <p:nvSpPr>
            <p:cNvPr id="351" name="Google Shape;351;p40"/>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40"/>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40"/>
            <p:cNvSpPr txBox="1"/>
            <p:nvPr/>
          </p:nvSpPr>
          <p:spPr>
            <a:xfrm>
              <a:off x="0" y="0"/>
              <a:ext cx="1952700" cy="28575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lang="es" sz="3200">
                  <a:solidFill>
                    <a:srgbClr val="6178F2"/>
                  </a:solidFill>
                  <a:latin typeface="Material Icons"/>
                  <a:ea typeface="Material Icons"/>
                  <a:cs typeface="Material Icons"/>
                  <a:sym typeface="Material Icons"/>
                </a:rPr>
                <a:t>psychology</a:t>
              </a:r>
              <a:endParaRPr sz="3200">
                <a:solidFill>
                  <a:srgbClr val="6178F2"/>
                </a:solidFill>
                <a:latin typeface="Material Icons"/>
                <a:ea typeface="Material Icons"/>
                <a:cs typeface="Material Icons"/>
                <a:sym typeface="Material Icons"/>
              </a:endParaRPr>
            </a:p>
            <a:p>
              <a:pPr indent="0" lvl="0" marL="0" rtl="0" algn="l">
                <a:spcBef>
                  <a:spcPts val="750"/>
                </a:spcBef>
                <a:spcAft>
                  <a:spcPts val="0"/>
                </a:spcAft>
                <a:buNone/>
              </a:pPr>
              <a:r>
                <a:rPr b="1" lang="es" sz="1800">
                  <a:solidFill>
                    <a:srgbClr val="FFFFFF"/>
                  </a:solidFill>
                  <a:latin typeface="Source Sans Pro"/>
                  <a:ea typeface="Source Sans Pro"/>
                  <a:cs typeface="Source Sans Pro"/>
                  <a:sym typeface="Source Sans Pro"/>
                </a:rPr>
                <a:t>Resolución de Bugs</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b="0" lang="es" sz="1600">
                  <a:solidFill>
                    <a:srgbClr val="CCCCCC"/>
                  </a:solidFill>
                  <a:latin typeface="Source Sans Pro"/>
                  <a:ea typeface="Source Sans Pro"/>
                  <a:cs typeface="Source Sans Pro"/>
                  <a:sym typeface="Source Sans Pro"/>
                </a:rPr>
                <a:t>Cómo aborda los problemas la tecnología.</a:t>
              </a:r>
              <a:endParaRPr b="0" sz="1600">
                <a:solidFill>
                  <a:srgbClr val="CCCCCC"/>
                </a:solidFill>
                <a:latin typeface="Source Sans Pro"/>
                <a:ea typeface="Source Sans Pro"/>
                <a:cs typeface="Source Sans Pro"/>
                <a:sym typeface="Source Sans Pro"/>
              </a:endParaRPr>
            </a:p>
            <a:p>
              <a:pPr indent="0" lvl="0" marL="0" rtl="0" algn="l">
                <a:spcBef>
                  <a:spcPts val="600"/>
                </a:spcBef>
                <a:spcAft>
                  <a:spcPts val="0"/>
                </a:spcAft>
                <a:buNone/>
              </a:pPr>
              <a:r>
                <a:t/>
              </a:r>
              <a:endParaRPr b="0" sz="1600">
                <a:solidFill>
                  <a:srgbClr val="CCCCCC"/>
                </a:solidFill>
                <a:latin typeface="Source Sans Pro"/>
                <a:ea typeface="Source Sans Pro"/>
                <a:cs typeface="Source Sans Pro"/>
                <a:sym typeface="Source Sans Pro"/>
              </a:endParaRPr>
            </a:p>
          </p:txBody>
        </p:sp>
      </p:grpSp>
      <p:grpSp>
        <p:nvGrpSpPr>
          <p:cNvPr id="354" name="Google Shape;354;p40"/>
          <p:cNvGrpSpPr/>
          <p:nvPr/>
        </p:nvGrpSpPr>
        <p:grpSpPr>
          <a:xfrm>
            <a:off x="6585825" y="1524000"/>
            <a:ext cx="2177260" cy="3048000"/>
            <a:chOff x="0" y="0"/>
            <a:chExt cx="1952700" cy="3048000"/>
          </a:xfrm>
        </p:grpSpPr>
        <p:sp>
          <p:nvSpPr>
            <p:cNvPr id="355" name="Google Shape;355;p40"/>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40"/>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40"/>
            <p:cNvSpPr txBox="1"/>
            <p:nvPr/>
          </p:nvSpPr>
          <p:spPr>
            <a:xfrm>
              <a:off x="0" y="0"/>
              <a:ext cx="1952700" cy="29574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lang="es" sz="3200">
                  <a:solidFill>
                    <a:srgbClr val="6178F2"/>
                  </a:solidFill>
                  <a:latin typeface="Material Icons"/>
                  <a:ea typeface="Material Icons"/>
                  <a:cs typeface="Material Icons"/>
                  <a:sym typeface="Material Icons"/>
                </a:rPr>
                <a:t>trending_up</a:t>
              </a:r>
              <a:endParaRPr sz="3200">
                <a:solidFill>
                  <a:srgbClr val="6178F2"/>
                </a:solidFill>
                <a:latin typeface="Material Icons"/>
                <a:ea typeface="Material Icons"/>
                <a:cs typeface="Material Icons"/>
                <a:sym typeface="Material Icons"/>
              </a:endParaRPr>
            </a:p>
            <a:p>
              <a:pPr indent="0" lvl="0" marL="0" rtl="0" algn="l">
                <a:spcBef>
                  <a:spcPts val="750"/>
                </a:spcBef>
                <a:spcAft>
                  <a:spcPts val="0"/>
                </a:spcAft>
                <a:buNone/>
              </a:pPr>
              <a:r>
                <a:rPr b="1" lang="es" sz="1800">
                  <a:solidFill>
                    <a:srgbClr val="FFFFFF"/>
                  </a:solidFill>
                  <a:latin typeface="Source Sans Pro"/>
                  <a:ea typeface="Source Sans Pro"/>
                  <a:cs typeface="Source Sans Pro"/>
                  <a:sym typeface="Source Sans Pro"/>
                </a:rPr>
                <a:t>Aprendizaje</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b="0" lang="es" sz="1600">
                  <a:solidFill>
                    <a:srgbClr val="CCCCCC"/>
                  </a:solidFill>
                  <a:latin typeface="Source Sans Pro"/>
                  <a:ea typeface="Source Sans Pro"/>
                  <a:cs typeface="Source Sans Pro"/>
                  <a:sym typeface="Source Sans Pro"/>
                </a:rPr>
                <a:t>Curva de adopción para nuevos miembros.</a:t>
              </a:r>
              <a:endParaRPr b="0" sz="1600">
                <a:solidFill>
                  <a:srgbClr val="CCCCCC"/>
                </a:solidFill>
                <a:latin typeface="Source Sans Pro"/>
                <a:ea typeface="Source Sans Pro"/>
                <a:cs typeface="Source Sans Pro"/>
                <a:sym typeface="Source Sans Pro"/>
              </a:endParaRPr>
            </a:p>
            <a:p>
              <a:pPr indent="0" lvl="0" marL="0" rtl="0" algn="l">
                <a:spcBef>
                  <a:spcPts val="600"/>
                </a:spcBef>
                <a:spcAft>
                  <a:spcPts val="0"/>
                </a:spcAft>
                <a:buNone/>
              </a:pPr>
              <a:r>
                <a:rPr b="0" lang="es" sz="1600">
                  <a:solidFill>
                    <a:srgbClr val="CCCCCC"/>
                  </a:solidFill>
                  <a:latin typeface="Source Sans Pro"/>
                  <a:ea typeface="Source Sans Pro"/>
                  <a:cs typeface="Source Sans Pro"/>
                  <a:sym typeface="Source Sans Pro"/>
                </a:rPr>
                <a:t>Facilidad de uso, documentación y requisitos previos requeridos.</a:t>
              </a:r>
              <a:endParaRPr b="0" sz="1600">
                <a:solidFill>
                  <a:srgbClr val="CCCCCC"/>
                </a:solidFill>
                <a:latin typeface="Source Sans Pro"/>
                <a:ea typeface="Source Sans Pro"/>
                <a:cs typeface="Source Sans Pro"/>
                <a:sym typeface="Source Sans Pro"/>
              </a:endParaRPr>
            </a:p>
          </p:txBody>
        </p:sp>
      </p:grpSp>
      <p:pic>
        <p:nvPicPr>
          <p:cNvPr id="358" name="Google Shape;358;p40"/>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
        <p:nvSpPr>
          <p:cNvPr id="359" name="Google Shape;359;p40"/>
          <p:cNvSpPr/>
          <p:nvPr/>
        </p:nvSpPr>
        <p:spPr>
          <a:xfrm>
            <a:off x="2558250" y="217200"/>
            <a:ext cx="40275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TEMAS NO TÉCNICOS</a:t>
            </a:r>
            <a:endParaRPr b="1" sz="3100">
              <a:solidFill>
                <a:srgbClr val="6178F2"/>
              </a:solidFill>
              <a:latin typeface="Source Sans Pro"/>
              <a:ea typeface="Source Sans Pro"/>
              <a:cs typeface="Source Sans Pro"/>
              <a:sym typeface="Source Sans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63" name="Shape 363"/>
        <p:cNvGrpSpPr/>
        <p:nvPr/>
      </p:nvGrpSpPr>
      <p:grpSpPr>
        <a:xfrm>
          <a:off x="0" y="0"/>
          <a:ext cx="0" cy="0"/>
          <a:chOff x="0" y="0"/>
          <a:chExt cx="0" cy="0"/>
        </a:xfrm>
      </p:grpSpPr>
      <p:sp>
        <p:nvSpPr>
          <p:cNvPr id="364" name="Google Shape;364;p41"/>
          <p:cNvSpPr/>
          <p:nvPr/>
        </p:nvSpPr>
        <p:spPr>
          <a:xfrm>
            <a:off x="0" y="0"/>
            <a:ext cx="9144000" cy="1009800"/>
          </a:xfrm>
          <a:prstGeom prst="rect">
            <a:avLst/>
          </a:prstGeom>
          <a:solidFill>
            <a:srgbClr val="1419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5" name="Google Shape;365;p41"/>
          <p:cNvGrpSpPr/>
          <p:nvPr/>
        </p:nvGrpSpPr>
        <p:grpSpPr>
          <a:xfrm>
            <a:off x="381000" y="1524000"/>
            <a:ext cx="1952700" cy="3048000"/>
            <a:chOff x="0" y="0"/>
            <a:chExt cx="1952700" cy="3048000"/>
          </a:xfrm>
        </p:grpSpPr>
        <p:sp>
          <p:nvSpPr>
            <p:cNvPr id="366" name="Google Shape;366;p41"/>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41"/>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41"/>
            <p:cNvSpPr txBox="1"/>
            <p:nvPr/>
          </p:nvSpPr>
          <p:spPr>
            <a:xfrm>
              <a:off x="0" y="190500"/>
              <a:ext cx="1952700" cy="2667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Descargas npm:</a:t>
              </a:r>
              <a:endParaRPr b="1" sz="1800">
                <a:solidFill>
                  <a:srgbClr val="FFFFFF"/>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b="1" lang="es" sz="1800">
                  <a:solidFill>
                    <a:srgbClr val="6178F2"/>
                  </a:solidFill>
                  <a:latin typeface="Source Sans Pro"/>
                  <a:ea typeface="Source Sans Pro"/>
                  <a:cs typeface="Source Sans Pro"/>
                  <a:sym typeface="Source Sans Pro"/>
                </a:rPr>
                <a:t>55.3M</a:t>
              </a:r>
              <a:endParaRPr b="1" sz="1800">
                <a:solidFill>
                  <a:srgbClr val="6178F2"/>
                </a:solidFill>
                <a:latin typeface="Source Sans Pro"/>
                <a:ea typeface="Source Sans Pro"/>
                <a:cs typeface="Source Sans Pro"/>
                <a:sym typeface="Source Sans Pro"/>
              </a:endParaRPr>
            </a:p>
            <a:p>
              <a:pPr indent="0" lvl="0" marL="0" rtl="0" algn="l">
                <a:spcBef>
                  <a:spcPts val="1200"/>
                </a:spcBef>
                <a:spcAft>
                  <a:spcPts val="0"/>
                </a:spcAft>
                <a:buNone/>
              </a:pPr>
              <a:r>
                <a:rPr lang="es" sz="1600">
                  <a:solidFill>
                    <a:srgbClr val="CCCCCC"/>
                  </a:solidFill>
                  <a:latin typeface="Source Sans Pro"/>
                  <a:ea typeface="Source Sans Pro"/>
                  <a:cs typeface="Source Sans Pro"/>
                  <a:sym typeface="Source Sans Pro"/>
                </a:rPr>
                <a:t>Soporte activo y ecosistema consolidado. </a:t>
              </a:r>
              <a:endParaRPr b="0" sz="1600">
                <a:solidFill>
                  <a:srgbClr val="CCCCCC"/>
                </a:solidFill>
                <a:latin typeface="Source Sans Pro"/>
                <a:ea typeface="Source Sans Pro"/>
                <a:cs typeface="Source Sans Pro"/>
                <a:sym typeface="Source Sans Pro"/>
              </a:endParaRPr>
            </a:p>
          </p:txBody>
        </p:sp>
      </p:grpSp>
      <p:grpSp>
        <p:nvGrpSpPr>
          <p:cNvPr id="369" name="Google Shape;369;p41"/>
          <p:cNvGrpSpPr/>
          <p:nvPr/>
        </p:nvGrpSpPr>
        <p:grpSpPr>
          <a:xfrm>
            <a:off x="2524125" y="1524000"/>
            <a:ext cx="1952700" cy="3048000"/>
            <a:chOff x="0" y="0"/>
            <a:chExt cx="1952700" cy="3048000"/>
          </a:xfrm>
        </p:grpSpPr>
        <p:sp>
          <p:nvSpPr>
            <p:cNvPr id="370" name="Google Shape;370;p41"/>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41"/>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41"/>
            <p:cNvSpPr txBox="1"/>
            <p:nvPr/>
          </p:nvSpPr>
          <p:spPr>
            <a:xfrm>
              <a:off x="0" y="190500"/>
              <a:ext cx="1952700" cy="2667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Estrellas en Github:</a:t>
              </a:r>
              <a:endParaRPr b="1" sz="1800">
                <a:solidFill>
                  <a:srgbClr val="FFFFFF"/>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b="1" lang="es" sz="1800">
                  <a:solidFill>
                    <a:srgbClr val="6178F2"/>
                  </a:solidFill>
                  <a:latin typeface="Source Sans Pro"/>
                  <a:ea typeface="Source Sans Pro"/>
                  <a:cs typeface="Source Sans Pro"/>
                  <a:sym typeface="Source Sans Pro"/>
                </a:rPr>
                <a:t>47.6k</a:t>
              </a:r>
              <a:endParaRPr b="1" sz="1800">
                <a:solidFill>
                  <a:srgbClr val="6178F2"/>
                </a:solidFill>
                <a:latin typeface="Source Sans Pro"/>
                <a:ea typeface="Source Sans Pro"/>
                <a:cs typeface="Source Sans Pro"/>
                <a:sym typeface="Source Sans Pro"/>
              </a:endParaRPr>
            </a:p>
            <a:p>
              <a:pPr indent="0" lvl="0" marL="0" rtl="0" algn="l">
                <a:spcBef>
                  <a:spcPts val="1200"/>
                </a:spcBef>
                <a:spcAft>
                  <a:spcPts val="0"/>
                </a:spcAft>
                <a:buNone/>
              </a:pPr>
              <a:r>
                <a:rPr lang="es" sz="1600">
                  <a:solidFill>
                    <a:srgbClr val="CCCCCC"/>
                  </a:solidFill>
                  <a:latin typeface="Source Sans Pro"/>
                  <a:ea typeface="Source Sans Pro"/>
                  <a:cs typeface="Source Sans Pro"/>
                  <a:sym typeface="Source Sans Pro"/>
                </a:rPr>
                <a:t>Interés sostenido de la comunidad open source. </a:t>
              </a:r>
              <a:endParaRPr b="0" sz="1600">
                <a:solidFill>
                  <a:srgbClr val="CCCCCC"/>
                </a:solidFill>
                <a:latin typeface="Source Sans Pro"/>
                <a:ea typeface="Source Sans Pro"/>
                <a:cs typeface="Source Sans Pro"/>
                <a:sym typeface="Source Sans Pro"/>
              </a:endParaRPr>
            </a:p>
          </p:txBody>
        </p:sp>
      </p:grpSp>
      <p:grpSp>
        <p:nvGrpSpPr>
          <p:cNvPr id="373" name="Google Shape;373;p41"/>
          <p:cNvGrpSpPr/>
          <p:nvPr/>
        </p:nvGrpSpPr>
        <p:grpSpPr>
          <a:xfrm>
            <a:off x="4667250" y="1524000"/>
            <a:ext cx="1952700" cy="3048000"/>
            <a:chOff x="0" y="0"/>
            <a:chExt cx="1952700" cy="3048000"/>
          </a:xfrm>
        </p:grpSpPr>
        <p:sp>
          <p:nvSpPr>
            <p:cNvPr id="374" name="Google Shape;374;p41"/>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41"/>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41"/>
            <p:cNvSpPr txBox="1"/>
            <p:nvPr/>
          </p:nvSpPr>
          <p:spPr>
            <a:xfrm>
              <a:off x="0" y="190500"/>
              <a:ext cx="1952700" cy="2667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Miembros en Discord:</a:t>
              </a:r>
              <a:endParaRPr b="1" sz="1800">
                <a:solidFill>
                  <a:srgbClr val="FFFFFF"/>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b="1" lang="es" sz="1800">
                  <a:solidFill>
                    <a:srgbClr val="6178F2"/>
                  </a:solidFill>
                  <a:latin typeface="Source Sans Pro"/>
                  <a:ea typeface="Source Sans Pro"/>
                  <a:cs typeface="Source Sans Pro"/>
                  <a:sym typeface="Source Sans Pro"/>
                </a:rPr>
                <a:t>10.3k</a:t>
              </a:r>
              <a:endParaRPr b="1" sz="1800">
                <a:solidFill>
                  <a:srgbClr val="6178F2"/>
                </a:solidFill>
                <a:latin typeface="Source Sans Pro"/>
                <a:ea typeface="Source Sans Pro"/>
                <a:cs typeface="Source Sans Pro"/>
                <a:sym typeface="Source Sans Pro"/>
              </a:endParaRPr>
            </a:p>
            <a:p>
              <a:pPr indent="0" lvl="0" marL="0" rtl="0" algn="l">
                <a:spcBef>
                  <a:spcPts val="1200"/>
                </a:spcBef>
                <a:spcAft>
                  <a:spcPts val="0"/>
                </a:spcAft>
                <a:buNone/>
              </a:pPr>
              <a:r>
                <a:rPr lang="es" sz="1600">
                  <a:solidFill>
                    <a:srgbClr val="CCCCCC"/>
                  </a:solidFill>
                  <a:latin typeface="Source Sans Pro"/>
                  <a:ea typeface="Source Sans Pro"/>
                  <a:cs typeface="Source Sans Pro"/>
                  <a:sym typeface="Source Sans Pro"/>
                </a:rPr>
                <a:t>Espacio de soporte, dudas y buenas prácticas. </a:t>
              </a:r>
              <a:endParaRPr b="0" sz="1600">
                <a:solidFill>
                  <a:srgbClr val="CCCCCC"/>
                </a:solidFill>
                <a:latin typeface="Source Sans Pro"/>
                <a:ea typeface="Source Sans Pro"/>
                <a:cs typeface="Source Sans Pro"/>
                <a:sym typeface="Source Sans Pro"/>
              </a:endParaRPr>
            </a:p>
          </p:txBody>
        </p:sp>
      </p:grpSp>
      <p:grpSp>
        <p:nvGrpSpPr>
          <p:cNvPr id="377" name="Google Shape;377;p41"/>
          <p:cNvGrpSpPr/>
          <p:nvPr/>
        </p:nvGrpSpPr>
        <p:grpSpPr>
          <a:xfrm>
            <a:off x="6810375" y="1524000"/>
            <a:ext cx="1952700" cy="3048000"/>
            <a:chOff x="0" y="0"/>
            <a:chExt cx="1952700" cy="3048000"/>
          </a:xfrm>
        </p:grpSpPr>
        <p:sp>
          <p:nvSpPr>
            <p:cNvPr id="378" name="Google Shape;378;p41"/>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41"/>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41"/>
            <p:cNvSpPr txBox="1"/>
            <p:nvPr/>
          </p:nvSpPr>
          <p:spPr>
            <a:xfrm>
              <a:off x="0" y="190500"/>
              <a:ext cx="1952700" cy="2667000"/>
            </a:xfrm>
            <a:prstGeom prst="rect">
              <a:avLst/>
            </a:prstGeom>
            <a:noFill/>
            <a:ln>
              <a:noFill/>
            </a:ln>
          </p:spPr>
          <p:txBody>
            <a:bodyPr anchorCtr="0" anchor="t" bIns="142875" lIns="142875" spcFirstLastPara="1" rIns="142875" wrap="square" tIns="142875">
              <a:noAutofit/>
            </a:bodyPr>
            <a:lstStyle/>
            <a:p>
              <a:pPr indent="0" lvl="0" marL="0" rtl="0" algn="l">
                <a:lnSpc>
                  <a:spcPct val="115000"/>
                </a:lnSpc>
                <a:spcBef>
                  <a:spcPts val="1200"/>
                </a:spcBef>
                <a:spcAft>
                  <a:spcPts val="0"/>
                </a:spcAft>
                <a:buNone/>
              </a:pPr>
              <a:r>
                <a:rPr b="1" lang="es" sz="1800">
                  <a:solidFill>
                    <a:srgbClr val="FFFFFF"/>
                  </a:solidFill>
                  <a:latin typeface="Source Sans Pro"/>
                  <a:ea typeface="Source Sans Pro"/>
                  <a:cs typeface="Source Sans Pro"/>
                  <a:sym typeface="Source Sans Pro"/>
                </a:rPr>
                <a:t>Crecimiento Agéntico:</a:t>
              </a:r>
              <a:endParaRPr b="1" sz="1800">
                <a:solidFill>
                  <a:srgbClr val="FFFFFF"/>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b="1" lang="es" sz="1800">
                  <a:solidFill>
                    <a:srgbClr val="6178F2"/>
                  </a:solidFill>
                  <a:latin typeface="Source Sans Pro"/>
                  <a:ea typeface="Source Sans Pro"/>
                  <a:cs typeface="Source Sans Pro"/>
                  <a:sym typeface="Source Sans Pro"/>
                </a:rPr>
                <a:t>X4.4</a:t>
              </a:r>
              <a:endParaRPr b="1" sz="1800">
                <a:solidFill>
                  <a:srgbClr val="6178F2"/>
                </a:solidFill>
                <a:latin typeface="Source Sans Pro"/>
                <a:ea typeface="Source Sans Pro"/>
                <a:cs typeface="Source Sans Pro"/>
                <a:sym typeface="Source Sans Pro"/>
              </a:endParaRPr>
            </a:p>
            <a:p>
              <a:pPr indent="0" lvl="0" marL="0" rtl="0" algn="l">
                <a:spcBef>
                  <a:spcPts val="1200"/>
                </a:spcBef>
                <a:spcAft>
                  <a:spcPts val="0"/>
                </a:spcAft>
                <a:buNone/>
              </a:pPr>
              <a:r>
                <a:rPr lang="es" sz="1600">
                  <a:solidFill>
                    <a:srgbClr val="CCCCCC"/>
                  </a:solidFill>
                  <a:latin typeface="Source Sans Pro"/>
                  <a:ea typeface="Source Sans Pro"/>
                  <a:cs typeface="Source Sans Pro"/>
                  <a:sym typeface="Source Sans Pro"/>
                </a:rPr>
                <a:t>Agentes de IA que instalan y scaffoldean proyectos automáticamente. </a:t>
              </a:r>
              <a:endParaRPr b="1" sz="1800">
                <a:solidFill>
                  <a:srgbClr val="6178F2"/>
                </a:solidFill>
                <a:latin typeface="Source Sans Pro"/>
                <a:ea typeface="Source Sans Pro"/>
                <a:cs typeface="Source Sans Pro"/>
                <a:sym typeface="Source Sans Pro"/>
              </a:endParaRPr>
            </a:p>
          </p:txBody>
        </p:sp>
      </p:grpSp>
      <p:pic>
        <p:nvPicPr>
          <p:cNvPr id="381" name="Google Shape;381;p41"/>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
        <p:nvSpPr>
          <p:cNvPr id="382" name="Google Shape;382;p41"/>
          <p:cNvSpPr/>
          <p:nvPr/>
        </p:nvSpPr>
        <p:spPr>
          <a:xfrm>
            <a:off x="3112500" y="215700"/>
            <a:ext cx="25875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COMUNIDAD</a:t>
            </a:r>
            <a:endParaRPr b="1" sz="3100">
              <a:solidFill>
                <a:srgbClr val="6178F2"/>
              </a:solidFill>
              <a:latin typeface="Source Sans Pro"/>
              <a:ea typeface="Source Sans Pro"/>
              <a:cs typeface="Source Sans Pro"/>
              <a:sym typeface="Source Sans Pr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86" name="Shape 386"/>
        <p:cNvGrpSpPr/>
        <p:nvPr/>
      </p:nvGrpSpPr>
      <p:grpSpPr>
        <a:xfrm>
          <a:off x="0" y="0"/>
          <a:ext cx="0" cy="0"/>
          <a:chOff x="0" y="0"/>
          <a:chExt cx="0" cy="0"/>
        </a:xfrm>
      </p:grpSpPr>
      <p:sp>
        <p:nvSpPr>
          <p:cNvPr id="387" name="Google Shape;387;p42"/>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388" name="Google Shape;388;p42"/>
          <p:cNvSpPr/>
          <p:nvPr/>
        </p:nvSpPr>
        <p:spPr>
          <a:xfrm>
            <a:off x="1617875" y="215700"/>
            <a:ext cx="66996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Gráfica</a:t>
            </a:r>
            <a:endParaRPr b="1" sz="3100">
              <a:solidFill>
                <a:srgbClr val="6178F2"/>
              </a:solidFill>
              <a:latin typeface="Source Sans Pro"/>
              <a:ea typeface="Source Sans Pro"/>
              <a:cs typeface="Source Sans Pro"/>
              <a:sym typeface="Source Sans Pro"/>
            </a:endParaRPr>
          </a:p>
        </p:txBody>
      </p:sp>
      <p:pic>
        <p:nvPicPr>
          <p:cNvPr id="389" name="Google Shape;389;p42"/>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pic>
        <p:nvPicPr>
          <p:cNvPr id="390" name="Google Shape;390;p42"/>
          <p:cNvPicPr preferRelativeResize="0"/>
          <p:nvPr/>
        </p:nvPicPr>
        <p:blipFill>
          <a:blip r:embed="rId4">
            <a:alphaModFix/>
          </a:blip>
          <a:stretch>
            <a:fillRect/>
          </a:stretch>
        </p:blipFill>
        <p:spPr>
          <a:xfrm>
            <a:off x="26263" y="1006800"/>
            <a:ext cx="9091476" cy="36138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94" name="Shape 394"/>
        <p:cNvGrpSpPr/>
        <p:nvPr/>
      </p:nvGrpSpPr>
      <p:grpSpPr>
        <a:xfrm>
          <a:off x="0" y="0"/>
          <a:ext cx="0" cy="0"/>
          <a:chOff x="0" y="0"/>
          <a:chExt cx="0" cy="0"/>
        </a:xfrm>
      </p:grpSpPr>
      <p:sp>
        <p:nvSpPr>
          <p:cNvPr id="395" name="Google Shape;395;p43"/>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grpSp>
        <p:nvGrpSpPr>
          <p:cNvPr id="396" name="Google Shape;396;p43"/>
          <p:cNvGrpSpPr/>
          <p:nvPr/>
        </p:nvGrpSpPr>
        <p:grpSpPr>
          <a:xfrm>
            <a:off x="238125" y="1143000"/>
            <a:ext cx="8667900" cy="3762450"/>
            <a:chOff x="238125" y="1143000"/>
            <a:chExt cx="8667900" cy="3762450"/>
          </a:xfrm>
        </p:grpSpPr>
        <p:sp>
          <p:nvSpPr>
            <p:cNvPr id="397" name="Google Shape;397;p43"/>
            <p:cNvSpPr/>
            <p:nvPr/>
          </p:nvSpPr>
          <p:spPr>
            <a:xfrm>
              <a:off x="263450" y="1146375"/>
              <a:ext cx="2762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43"/>
            <p:cNvSpPr/>
            <p:nvPr/>
          </p:nvSpPr>
          <p:spPr>
            <a:xfrm>
              <a:off x="3190875" y="1143000"/>
              <a:ext cx="2762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43"/>
            <p:cNvSpPr/>
            <p:nvPr/>
          </p:nvSpPr>
          <p:spPr>
            <a:xfrm>
              <a:off x="6143625" y="1143000"/>
              <a:ext cx="2762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43"/>
            <p:cNvSpPr/>
            <p:nvPr/>
          </p:nvSpPr>
          <p:spPr>
            <a:xfrm>
              <a:off x="238125" y="4286250"/>
              <a:ext cx="8667900" cy="619200"/>
            </a:xfrm>
            <a:prstGeom prst="roundRect">
              <a:avLst>
                <a:gd fmla="val 12307" name="adj"/>
              </a:avLst>
            </a:prstGeom>
            <a:solidFill>
              <a:srgbClr val="14191F"/>
            </a:solidFill>
            <a:ln cap="flat" cmpd="sng" w="143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43"/>
            <p:cNvSpPr txBox="1"/>
            <p:nvPr/>
          </p:nvSpPr>
          <p:spPr>
            <a:xfrm>
              <a:off x="333375" y="1238250"/>
              <a:ext cx="25719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PROCESO Y CANALES</a:t>
              </a:r>
              <a:endParaRPr b="1" sz="1750">
                <a:solidFill>
                  <a:srgbClr val="6178F2"/>
                </a:solidFill>
                <a:latin typeface="Source Sans Pro"/>
                <a:ea typeface="Source Sans Pro"/>
                <a:cs typeface="Source Sans Pro"/>
                <a:sym typeface="Source Sans Pro"/>
              </a:endParaRPr>
            </a:p>
            <a:p>
              <a:pPr indent="0" lvl="0" marL="0" rtl="0" algn="l">
                <a:spcBef>
                  <a:spcPts val="600"/>
                </a:spcBef>
                <a:spcAft>
                  <a:spcPts val="0"/>
                </a:spcAft>
                <a:buNone/>
              </a:pPr>
              <a:r>
                <a:rPr lang="es" sz="1563">
                  <a:solidFill>
                    <a:srgbClr val="FFFFFF"/>
                  </a:solidFill>
                  <a:latin typeface="Source Sans Pro"/>
                  <a:ea typeface="Source Sans Pro"/>
                  <a:cs typeface="Source Sans Pro"/>
                  <a:sym typeface="Source Sans Pro"/>
                </a:rPr>
                <a:t>Colab entre la comunidad de usuarios y el equipo oficial de Prisma.</a:t>
              </a:r>
              <a:endParaRPr sz="1563">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b="1" lang="es" sz="1525">
                  <a:solidFill>
                    <a:srgbClr val="FFFFFF"/>
                  </a:solidFill>
                  <a:latin typeface="Source Sans Pro"/>
                  <a:ea typeface="Source Sans Pro"/>
                  <a:cs typeface="Source Sans Pro"/>
                  <a:sym typeface="Source Sans Pro"/>
                </a:rPr>
                <a:t>Canales de reporte:</a:t>
              </a:r>
              <a:r>
                <a:rPr lang="es" sz="1525">
                  <a:solidFill>
                    <a:srgbClr val="DDDDDD"/>
                  </a:solidFill>
                  <a:latin typeface="Source Sans Pro"/>
                  <a:ea typeface="Source Sans Pro"/>
                  <a:cs typeface="Source Sans Pro"/>
                  <a:sym typeface="Source Sans Pro"/>
                </a:rPr>
                <a:t> Discord para comunidad; Canales privados para seguridad.</a:t>
              </a:r>
              <a:endParaRPr sz="1525">
                <a:solidFill>
                  <a:srgbClr val="DDDDDD"/>
                </a:solidFill>
                <a:latin typeface="Source Sans Pro"/>
                <a:ea typeface="Source Sans Pro"/>
                <a:cs typeface="Source Sans Pro"/>
                <a:sym typeface="Source Sans Pro"/>
              </a:endParaRPr>
            </a:p>
            <a:p>
              <a:pPr indent="0" lvl="0" marL="0" rtl="0" algn="l">
                <a:spcBef>
                  <a:spcPts val="300"/>
                </a:spcBef>
                <a:spcAft>
                  <a:spcPts val="0"/>
                </a:spcAft>
                <a:buNone/>
              </a:pPr>
              <a:r>
                <a:rPr b="1" lang="es" sz="1525">
                  <a:solidFill>
                    <a:srgbClr val="FFFFFF"/>
                  </a:solidFill>
                  <a:latin typeface="Source Sans Pro"/>
                  <a:ea typeface="Source Sans Pro"/>
                  <a:cs typeface="Source Sans Pro"/>
                  <a:sym typeface="Source Sans Pro"/>
                </a:rPr>
                <a:t>Reproducción mínima:</a:t>
              </a:r>
              <a:r>
                <a:rPr lang="es" sz="1525">
                  <a:solidFill>
                    <a:srgbClr val="DDDDDD"/>
                  </a:solidFill>
                  <a:latin typeface="Source Sans Pro"/>
                  <a:ea typeface="Source Sans Pro"/>
                  <a:cs typeface="Source Sans Pro"/>
                  <a:sym typeface="Source Sans Pro"/>
                </a:rPr>
                <a:t> un template con comportamiento </a:t>
              </a:r>
              <a:endParaRPr sz="1525">
                <a:solidFill>
                  <a:srgbClr val="DDDDDD"/>
                </a:solidFill>
                <a:latin typeface="Source Sans Pro"/>
                <a:ea typeface="Source Sans Pro"/>
                <a:cs typeface="Source Sans Pro"/>
                <a:sym typeface="Source Sans Pro"/>
              </a:endParaRPr>
            </a:p>
            <a:p>
              <a:pPr indent="0" lvl="0" marL="0" rtl="0" algn="l">
                <a:spcBef>
                  <a:spcPts val="0"/>
                </a:spcBef>
                <a:spcAft>
                  <a:spcPts val="0"/>
                </a:spcAft>
                <a:buNone/>
              </a:pPr>
              <a:r>
                <a:rPr lang="es" sz="1525">
                  <a:solidFill>
                    <a:srgbClr val="DDDDDD"/>
                  </a:solidFill>
                  <a:latin typeface="Source Sans Pro"/>
                  <a:ea typeface="Source Sans Pro"/>
                  <a:cs typeface="Source Sans Pro"/>
                  <a:sym typeface="Source Sans Pro"/>
                </a:rPr>
                <a:t>esperado vs. actual para aislar el fallo.</a:t>
              </a:r>
              <a:endParaRPr sz="1525">
                <a:solidFill>
                  <a:srgbClr val="DDDDDD"/>
                </a:solidFill>
                <a:latin typeface="Source Sans Pro"/>
                <a:ea typeface="Source Sans Pro"/>
                <a:cs typeface="Source Sans Pro"/>
                <a:sym typeface="Source Sans Pro"/>
              </a:endParaRPr>
            </a:p>
          </p:txBody>
        </p:sp>
        <p:sp>
          <p:nvSpPr>
            <p:cNvPr id="402" name="Google Shape;402;p43"/>
            <p:cNvSpPr txBox="1"/>
            <p:nvPr/>
          </p:nvSpPr>
          <p:spPr>
            <a:xfrm>
              <a:off x="3286125" y="1241625"/>
              <a:ext cx="25719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ROL DE LA COMUNIDAD</a:t>
              </a:r>
              <a:endParaRPr b="1" sz="1750">
                <a:solidFill>
                  <a:srgbClr val="6178F2"/>
                </a:solidFill>
                <a:latin typeface="Source Sans Pro"/>
                <a:ea typeface="Source Sans Pro"/>
                <a:cs typeface="Source Sans Pro"/>
                <a:sym typeface="Source Sans Pro"/>
              </a:endParaRPr>
            </a:p>
            <a:p>
              <a:pPr indent="0" lvl="0" marL="0" rtl="0" algn="l">
                <a:spcBef>
                  <a:spcPts val="600"/>
                </a:spcBef>
                <a:spcAft>
                  <a:spcPts val="0"/>
                </a:spcAft>
                <a:buNone/>
              </a:pPr>
              <a:r>
                <a:rPr lang="es" sz="1700">
                  <a:solidFill>
                    <a:srgbClr val="FFFFFF"/>
                  </a:solidFill>
                  <a:latin typeface="Source Sans Pro"/>
                  <a:ea typeface="Source Sans Pro"/>
                  <a:cs typeface="Source Sans Pro"/>
                  <a:sym typeface="Source Sans Pro"/>
                </a:rPr>
                <a:t>Tres pasos fundamentales al hallar un bug:</a:t>
              </a:r>
              <a:endParaRPr sz="1700">
                <a:solidFill>
                  <a:srgbClr val="FFFFFF"/>
                </a:solidFill>
                <a:latin typeface="Source Sans Pro"/>
                <a:ea typeface="Source Sans Pro"/>
                <a:cs typeface="Source Sans Pro"/>
                <a:sym typeface="Source Sans Pro"/>
              </a:endParaRPr>
            </a:p>
            <a:p>
              <a:pPr indent="0" lvl="0" marL="0" rtl="0" algn="l">
                <a:spcBef>
                  <a:spcPts val="600"/>
                </a:spcBef>
                <a:spcAft>
                  <a:spcPts val="0"/>
                </a:spcAft>
                <a:buNone/>
              </a:pPr>
              <a:r>
                <a:rPr b="1" lang="es" sz="1700">
                  <a:solidFill>
                    <a:srgbClr val="FFFFFF"/>
                  </a:solidFill>
                  <a:latin typeface="Source Sans Pro"/>
                  <a:ea typeface="Source Sans Pro"/>
                  <a:cs typeface="Source Sans Pro"/>
                  <a:sym typeface="Source Sans Pro"/>
                </a:rPr>
                <a:t>1. Aislamiento</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rPr b="1" lang="es" sz="1700">
                  <a:solidFill>
                    <a:srgbClr val="FFFFFF"/>
                  </a:solidFill>
                  <a:latin typeface="Source Sans Pro"/>
                  <a:ea typeface="Source Sans Pro"/>
                  <a:cs typeface="Source Sans Pro"/>
                  <a:sym typeface="Source Sans Pro"/>
                </a:rPr>
                <a:t>2. Workarounds</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450"/>
                </a:spcAft>
                <a:buNone/>
              </a:pPr>
              <a:r>
                <a:rPr b="1" lang="es" sz="1700">
                  <a:solidFill>
                    <a:srgbClr val="FFFFFF"/>
                  </a:solidFill>
                  <a:latin typeface="Source Sans Pro"/>
                  <a:ea typeface="Source Sans Pro"/>
                  <a:cs typeface="Source Sans Pro"/>
                  <a:sym typeface="Source Sans Pro"/>
                </a:rPr>
                <a:t>3. Reporte</a:t>
              </a:r>
              <a:endParaRPr sz="1700">
                <a:solidFill>
                  <a:srgbClr val="DDDDDD"/>
                </a:solidFill>
                <a:latin typeface="Source Sans Pro"/>
                <a:ea typeface="Source Sans Pro"/>
                <a:cs typeface="Source Sans Pro"/>
                <a:sym typeface="Source Sans Pro"/>
              </a:endParaRPr>
            </a:p>
          </p:txBody>
        </p:sp>
        <p:sp>
          <p:nvSpPr>
            <p:cNvPr id="403" name="Google Shape;403;p43"/>
            <p:cNvSpPr txBox="1"/>
            <p:nvPr/>
          </p:nvSpPr>
          <p:spPr>
            <a:xfrm>
              <a:off x="6238875" y="1238250"/>
              <a:ext cx="25719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ROL DEL EQUIPO</a:t>
              </a:r>
              <a:endParaRPr b="1" sz="1750">
                <a:solidFill>
                  <a:srgbClr val="6178F2"/>
                </a:solidFill>
                <a:latin typeface="Source Sans Pro"/>
                <a:ea typeface="Source Sans Pro"/>
                <a:cs typeface="Source Sans Pro"/>
                <a:sym typeface="Source Sans Pro"/>
              </a:endParaRPr>
            </a:p>
            <a:p>
              <a:pPr indent="0" lvl="0" marL="0" rtl="0" algn="l">
                <a:spcBef>
                  <a:spcPts val="600"/>
                </a:spcBef>
                <a:spcAft>
                  <a:spcPts val="0"/>
                </a:spcAft>
                <a:buNone/>
              </a:pPr>
              <a:r>
                <a:rPr b="1" lang="es" sz="1700">
                  <a:solidFill>
                    <a:srgbClr val="FFFFFF"/>
                  </a:solidFill>
                  <a:latin typeface="Source Sans Pro"/>
                  <a:ea typeface="Source Sans Pro"/>
                  <a:cs typeface="Source Sans Pro"/>
                  <a:sym typeface="Source Sans Pro"/>
                </a:rPr>
                <a:t>1. Triaje</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rPr b="1" lang="es" sz="1700">
                  <a:solidFill>
                    <a:srgbClr val="FFFFFF"/>
                  </a:solidFill>
                  <a:latin typeface="Source Sans Pro"/>
                  <a:ea typeface="Source Sans Pro"/>
                  <a:cs typeface="Source Sans Pro"/>
                  <a:sym typeface="Source Sans Pro"/>
                </a:rPr>
                <a:t>2. Diagnóstico</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rPr b="1" lang="es" sz="1700">
                  <a:solidFill>
                    <a:srgbClr val="FFFFFF"/>
                  </a:solidFill>
                  <a:latin typeface="Source Sans Pro"/>
                  <a:ea typeface="Source Sans Pro"/>
                  <a:cs typeface="Source Sans Pro"/>
                  <a:sym typeface="Source Sans Pro"/>
                </a:rPr>
                <a:t>3. Corrección</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t/>
              </a:r>
              <a:endParaRPr b="1" sz="1700">
                <a:solidFill>
                  <a:srgbClr val="FFFFFF"/>
                </a:solidFill>
                <a:latin typeface="Source Sans Pro"/>
                <a:ea typeface="Source Sans Pro"/>
                <a:cs typeface="Source Sans Pro"/>
                <a:sym typeface="Source Sans Pro"/>
              </a:endParaRPr>
            </a:p>
            <a:p>
              <a:pPr indent="0" lvl="0" marL="0" rtl="0" algn="l">
                <a:spcBef>
                  <a:spcPts val="450"/>
                </a:spcBef>
                <a:spcAft>
                  <a:spcPts val="0"/>
                </a:spcAft>
                <a:buNone/>
              </a:pPr>
              <a:r>
                <a:rPr b="1" lang="es" sz="1700">
                  <a:solidFill>
                    <a:srgbClr val="FFFFFF"/>
                  </a:solidFill>
                  <a:latin typeface="Source Sans Pro"/>
                  <a:ea typeface="Source Sans Pro"/>
                  <a:cs typeface="Source Sans Pro"/>
                  <a:sym typeface="Source Sans Pro"/>
                </a:rPr>
                <a:t>4. Seguimiento</a:t>
              </a:r>
              <a:endParaRPr b="1" sz="17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sp>
          <p:nvSpPr>
            <p:cNvPr id="404" name="Google Shape;404;p43"/>
            <p:cNvSpPr txBox="1"/>
            <p:nvPr/>
          </p:nvSpPr>
          <p:spPr>
            <a:xfrm>
              <a:off x="333375" y="4333875"/>
              <a:ext cx="8477400" cy="523800"/>
            </a:xfrm>
            <a:prstGeom prst="rect">
              <a:avLst/>
            </a:prstGeom>
            <a:solidFill>
              <a:srgbClr val="14191F"/>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sz="1550">
                  <a:solidFill>
                    <a:srgbClr val="6178F2"/>
                  </a:solidFill>
                  <a:latin typeface="Source Sans Pro"/>
                  <a:ea typeface="Source Sans Pro"/>
                  <a:cs typeface="Source Sans Pro"/>
                  <a:sym typeface="Source Sans Pro"/>
                </a:rPr>
                <a:t>Ciclo de vida del Bug:</a:t>
              </a:r>
              <a:r>
                <a:rPr lang="es" sz="1475">
                  <a:solidFill>
                    <a:srgbClr val="6178F2"/>
                  </a:solidFill>
                  <a:latin typeface="Source Sans Pro"/>
                  <a:ea typeface="Source Sans Pro"/>
                  <a:cs typeface="Source Sans Pro"/>
                  <a:sym typeface="Source Sans Pro"/>
                </a:rPr>
                <a:t>  </a:t>
              </a:r>
              <a:r>
                <a:rPr lang="es" sz="1475">
                  <a:solidFill>
                    <a:srgbClr val="FFFFFF"/>
                  </a:solidFill>
                  <a:latin typeface="Source Sans Pro"/>
                  <a:ea typeface="Source Sans Pro"/>
                  <a:cs typeface="Source Sans Pro"/>
                  <a:sym typeface="Source Sans Pro"/>
                </a:rPr>
                <a:t>Reporte GitHub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Triaje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Diagnóstico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Corrección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a:t>
              </a:r>
              <a:r>
                <a:rPr lang="es" sz="1475">
                  <a:solidFill>
                    <a:srgbClr val="FFFFFF"/>
                  </a:solidFill>
                  <a:latin typeface="Source Sans Pro"/>
                  <a:ea typeface="Source Sans Pro"/>
                  <a:cs typeface="Source Sans Pro"/>
                  <a:sym typeface="Source Sans Pro"/>
                </a:rPr>
                <a:t>P</a:t>
              </a:r>
              <a:r>
                <a:rPr lang="es" sz="1475">
                  <a:solidFill>
                    <a:srgbClr val="FFFFFF"/>
                  </a:solidFill>
                  <a:latin typeface="Source Sans Pro"/>
                  <a:ea typeface="Source Sans Pro"/>
                  <a:cs typeface="Source Sans Pro"/>
                  <a:sym typeface="Source Sans Pro"/>
                </a:rPr>
                <a:t>ruebas  </a:t>
              </a:r>
              <a:r>
                <a:rPr lang="es" sz="1475">
                  <a:solidFill>
                    <a:srgbClr val="6178F2"/>
                  </a:solidFill>
                  <a:latin typeface="Source Sans Pro"/>
                  <a:ea typeface="Source Sans Pro"/>
                  <a:cs typeface="Source Sans Pro"/>
                  <a:sym typeface="Source Sans Pro"/>
                </a:rPr>
                <a:t>→ </a:t>
              </a:r>
              <a:r>
                <a:rPr lang="es" sz="1475">
                  <a:solidFill>
                    <a:srgbClr val="FFFFFF"/>
                  </a:solidFill>
                  <a:latin typeface="Source Sans Pro"/>
                  <a:ea typeface="Source Sans Pro"/>
                  <a:cs typeface="Source Sans Pro"/>
                  <a:sym typeface="Source Sans Pro"/>
                </a:rPr>
                <a:t>Release</a:t>
              </a:r>
              <a:endParaRPr sz="1475">
                <a:solidFill>
                  <a:srgbClr val="FFFFFF"/>
                </a:solidFill>
                <a:latin typeface="Source Sans Pro"/>
                <a:ea typeface="Source Sans Pro"/>
                <a:cs typeface="Source Sans Pro"/>
                <a:sym typeface="Source Sans Pro"/>
              </a:endParaRPr>
            </a:p>
          </p:txBody>
        </p:sp>
      </p:grpSp>
      <p:sp>
        <p:nvSpPr>
          <p:cNvPr id="405" name="Google Shape;405;p43"/>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RESOLUCIÓN</a:t>
            </a:r>
            <a:r>
              <a:rPr b="1" lang="es" sz="3100">
                <a:solidFill>
                  <a:srgbClr val="6178F2"/>
                </a:solidFill>
                <a:latin typeface="Source Sans Pro"/>
                <a:ea typeface="Source Sans Pro"/>
                <a:cs typeface="Source Sans Pro"/>
                <a:sym typeface="Source Sans Pro"/>
              </a:rPr>
              <a:t> DE BUGS</a:t>
            </a:r>
            <a:endParaRPr b="1" sz="3100">
              <a:solidFill>
                <a:srgbClr val="6178F2"/>
              </a:solidFill>
              <a:latin typeface="Source Sans Pro"/>
              <a:ea typeface="Source Sans Pro"/>
              <a:cs typeface="Source Sans Pro"/>
              <a:sym typeface="Source Sans Pro"/>
            </a:endParaRPr>
          </a:p>
        </p:txBody>
      </p:sp>
      <p:pic>
        <p:nvPicPr>
          <p:cNvPr id="406" name="Google Shape;406;p43"/>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10" name="Shape 410"/>
        <p:cNvGrpSpPr/>
        <p:nvPr/>
      </p:nvGrpSpPr>
      <p:grpSpPr>
        <a:xfrm>
          <a:off x="0" y="0"/>
          <a:ext cx="0" cy="0"/>
          <a:chOff x="0" y="0"/>
          <a:chExt cx="0" cy="0"/>
        </a:xfrm>
      </p:grpSpPr>
      <p:sp>
        <p:nvSpPr>
          <p:cNvPr id="411" name="Google Shape;411;p44"/>
          <p:cNvSpPr/>
          <p:nvPr/>
        </p:nvSpPr>
        <p:spPr>
          <a:xfrm>
            <a:off x="0" y="0"/>
            <a:ext cx="9144000" cy="1009800"/>
          </a:xfrm>
          <a:prstGeom prst="rect">
            <a:avLst/>
          </a:prstGeom>
          <a:solidFill>
            <a:srgbClr val="1419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2" name="Google Shape;412;p44"/>
          <p:cNvGrpSpPr/>
          <p:nvPr/>
        </p:nvGrpSpPr>
        <p:grpSpPr>
          <a:xfrm>
            <a:off x="381000" y="1524000"/>
            <a:ext cx="2953459" cy="3048000"/>
            <a:chOff x="0" y="0"/>
            <a:chExt cx="1952700" cy="3048000"/>
          </a:xfrm>
        </p:grpSpPr>
        <p:sp>
          <p:nvSpPr>
            <p:cNvPr id="413" name="Google Shape;413;p44"/>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44"/>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44"/>
            <p:cNvSpPr txBox="1"/>
            <p:nvPr/>
          </p:nvSpPr>
          <p:spPr>
            <a:xfrm>
              <a:off x="0" y="0"/>
              <a:ext cx="1952700" cy="3048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Escalabilidad</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lang="es" sz="1600">
                  <a:solidFill>
                    <a:srgbClr val="CCCCCC"/>
                  </a:solidFill>
                  <a:latin typeface="Source Sans Pro"/>
                  <a:ea typeface="Source Sans Pro"/>
                  <a:cs typeface="Source Sans Pro"/>
                  <a:sym typeface="Source Sans Pro"/>
                </a:rPr>
                <a:t>Simple para empezar, no necesita SQL previo. Pero con features avanzadas de motores específicos (stored procedures, optimizaciones de Postgres), la abstracción juega en contra. </a:t>
              </a:r>
              <a:endParaRPr b="0" sz="1600">
                <a:solidFill>
                  <a:srgbClr val="CCCCCC"/>
                </a:solidFill>
                <a:latin typeface="Source Sans Pro"/>
                <a:ea typeface="Source Sans Pro"/>
                <a:cs typeface="Source Sans Pro"/>
                <a:sym typeface="Source Sans Pro"/>
              </a:endParaRPr>
            </a:p>
          </p:txBody>
        </p:sp>
      </p:grpSp>
      <p:grpSp>
        <p:nvGrpSpPr>
          <p:cNvPr id="416" name="Google Shape;416;p44"/>
          <p:cNvGrpSpPr/>
          <p:nvPr/>
        </p:nvGrpSpPr>
        <p:grpSpPr>
          <a:xfrm>
            <a:off x="3483414" y="1524000"/>
            <a:ext cx="2177272" cy="3048000"/>
            <a:chOff x="0" y="0"/>
            <a:chExt cx="1952710" cy="3048000"/>
          </a:xfrm>
        </p:grpSpPr>
        <p:sp>
          <p:nvSpPr>
            <p:cNvPr id="417" name="Google Shape;417;p44"/>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44"/>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44"/>
            <p:cNvSpPr txBox="1"/>
            <p:nvPr/>
          </p:nvSpPr>
          <p:spPr>
            <a:xfrm>
              <a:off x="10" y="0"/>
              <a:ext cx="1952700" cy="3048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DSL</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lang="es" sz="1600">
                  <a:solidFill>
                    <a:srgbClr val="CCCCCC"/>
                  </a:solidFill>
                  <a:latin typeface="Source Sans Pro"/>
                  <a:ea typeface="Source Sans Pro"/>
                  <a:cs typeface="Source Sans Pro"/>
                  <a:sym typeface="Source Sans Pro"/>
                </a:rPr>
                <a:t>Aprender la sintaxis propia de schema.prisma tiene un costo — a cambio de mayor simplicidad general.</a:t>
              </a:r>
              <a:endParaRPr b="0" sz="1600">
                <a:solidFill>
                  <a:srgbClr val="CCCCCC"/>
                </a:solidFill>
                <a:latin typeface="Source Sans Pro"/>
                <a:ea typeface="Source Sans Pro"/>
                <a:cs typeface="Source Sans Pro"/>
                <a:sym typeface="Source Sans Pro"/>
              </a:endParaRPr>
            </a:p>
            <a:p>
              <a:pPr indent="0" lvl="0" marL="0" rtl="0" algn="l">
                <a:spcBef>
                  <a:spcPts val="600"/>
                </a:spcBef>
                <a:spcAft>
                  <a:spcPts val="0"/>
                </a:spcAft>
                <a:buNone/>
              </a:pPr>
              <a:r>
                <a:t/>
              </a:r>
              <a:endParaRPr b="0" sz="1600">
                <a:solidFill>
                  <a:srgbClr val="CCCCCC"/>
                </a:solidFill>
                <a:latin typeface="Source Sans Pro"/>
                <a:ea typeface="Source Sans Pro"/>
                <a:cs typeface="Source Sans Pro"/>
                <a:sym typeface="Source Sans Pro"/>
              </a:endParaRPr>
            </a:p>
          </p:txBody>
        </p:sp>
      </p:grpSp>
      <p:grpSp>
        <p:nvGrpSpPr>
          <p:cNvPr id="420" name="Google Shape;420;p44"/>
          <p:cNvGrpSpPr/>
          <p:nvPr/>
        </p:nvGrpSpPr>
        <p:grpSpPr>
          <a:xfrm>
            <a:off x="5809650" y="1524000"/>
            <a:ext cx="2953459" cy="3048000"/>
            <a:chOff x="0" y="0"/>
            <a:chExt cx="1952700" cy="3048000"/>
          </a:xfrm>
        </p:grpSpPr>
        <p:sp>
          <p:nvSpPr>
            <p:cNvPr id="421" name="Google Shape;421;p44"/>
            <p:cNvSpPr/>
            <p:nvPr/>
          </p:nvSpPr>
          <p:spPr>
            <a:xfrm>
              <a:off x="0" y="0"/>
              <a:ext cx="1952700" cy="3048000"/>
            </a:xfrm>
            <a:prstGeom prst="roundRect">
              <a:avLst>
                <a:gd fmla="val 5853" name="adj"/>
              </a:avLst>
            </a:prstGeom>
            <a:solidFill>
              <a:srgbClr val="262626"/>
            </a:solidFill>
            <a:ln cap="flat" cmpd="sng" w="14300">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44"/>
            <p:cNvSpPr/>
            <p:nvPr/>
          </p:nvSpPr>
          <p:spPr>
            <a:xfrm>
              <a:off x="0" y="0"/>
              <a:ext cx="1952700" cy="57300"/>
            </a:xfrm>
            <a:prstGeom prst="roundRect">
              <a:avLst>
                <a:gd fmla="val 50000" name="adj"/>
              </a:avLst>
            </a:prstGeom>
            <a:solidFill>
              <a:srgbClr val="6178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44"/>
            <p:cNvSpPr txBox="1"/>
            <p:nvPr/>
          </p:nvSpPr>
          <p:spPr>
            <a:xfrm>
              <a:off x="0" y="0"/>
              <a:ext cx="1952700" cy="30480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s" sz="1800">
                  <a:solidFill>
                    <a:srgbClr val="FFFFFF"/>
                  </a:solidFill>
                  <a:latin typeface="Source Sans Pro"/>
                  <a:ea typeface="Source Sans Pro"/>
                  <a:cs typeface="Source Sans Pro"/>
                  <a:sym typeface="Source Sans Pro"/>
                </a:rPr>
                <a:t>En general</a:t>
              </a:r>
              <a:endParaRPr b="1" sz="1800">
                <a:solidFill>
                  <a:srgbClr val="FFFFFF"/>
                </a:solidFill>
                <a:latin typeface="Source Sans Pro"/>
                <a:ea typeface="Source Sans Pro"/>
                <a:cs typeface="Source Sans Pro"/>
                <a:sym typeface="Source Sans Pro"/>
              </a:endParaRPr>
            </a:p>
            <a:p>
              <a:pPr indent="0" lvl="0" marL="0" rtl="0" algn="l">
                <a:spcBef>
                  <a:spcPts val="750"/>
                </a:spcBef>
                <a:spcAft>
                  <a:spcPts val="0"/>
                </a:spcAft>
                <a:buNone/>
              </a:pPr>
              <a:r>
                <a:rPr lang="es" sz="1600">
                  <a:solidFill>
                    <a:srgbClr val="CCCCCC"/>
                  </a:solidFill>
                  <a:latin typeface="Source Sans Pro"/>
                  <a:ea typeface="Source Sans Pro"/>
                  <a:cs typeface="Source Sans Pro"/>
                  <a:sym typeface="Source Sans Pro"/>
                </a:rPr>
                <a:t>Abstrae la complejidad de las bases relacionales. Ideal para devs Frontend/Full Stack que recién llegan al Backend. </a:t>
              </a:r>
              <a:endParaRPr b="0" sz="1600">
                <a:solidFill>
                  <a:srgbClr val="CCCCCC"/>
                </a:solidFill>
                <a:latin typeface="Source Sans Pro"/>
                <a:ea typeface="Source Sans Pro"/>
                <a:cs typeface="Source Sans Pro"/>
                <a:sym typeface="Source Sans Pro"/>
              </a:endParaRPr>
            </a:p>
          </p:txBody>
        </p:sp>
      </p:grpSp>
      <p:pic>
        <p:nvPicPr>
          <p:cNvPr id="424" name="Google Shape;424;p44"/>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sp>
        <p:nvSpPr>
          <p:cNvPr id="425" name="Google Shape;425;p44"/>
          <p:cNvSpPr/>
          <p:nvPr/>
        </p:nvSpPr>
        <p:spPr>
          <a:xfrm>
            <a:off x="2351250" y="215700"/>
            <a:ext cx="44415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CURVA DE APRENDIZAJE</a:t>
            </a:r>
            <a:endParaRPr b="1" sz="3100">
              <a:solidFill>
                <a:srgbClr val="6178F2"/>
              </a:solidFill>
              <a:latin typeface="Source Sans Pro"/>
              <a:ea typeface="Source Sans Pro"/>
              <a:cs typeface="Source Sans Pro"/>
              <a:sym typeface="Source Sans Pr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29" name="Shape 429"/>
        <p:cNvGrpSpPr/>
        <p:nvPr/>
      </p:nvGrpSpPr>
      <p:grpSpPr>
        <a:xfrm>
          <a:off x="0" y="0"/>
          <a:ext cx="0" cy="0"/>
          <a:chOff x="0" y="0"/>
          <a:chExt cx="0" cy="0"/>
        </a:xfrm>
      </p:grpSpPr>
      <p:sp>
        <p:nvSpPr>
          <p:cNvPr id="430" name="Google Shape;430;p45"/>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31" name="Google Shape;431;p45"/>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FBBF24"/>
                </a:solidFill>
                <a:latin typeface="Source Sans Pro"/>
                <a:ea typeface="Source Sans Pro"/>
                <a:cs typeface="Source Sans Pro"/>
                <a:sym typeface="Source Sans Pro"/>
              </a:rPr>
              <a:t>Factores Técnicos</a:t>
            </a:r>
            <a:endParaRPr b="1" sz="6000">
              <a:solidFill>
                <a:srgbClr val="FBBF24"/>
              </a:solidFill>
              <a:latin typeface="Source Sans Pro"/>
              <a:ea typeface="Source Sans Pro"/>
              <a:cs typeface="Source Sans Pro"/>
              <a:sym typeface="Source Sans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35" name="Shape 435"/>
        <p:cNvGrpSpPr/>
        <p:nvPr/>
      </p:nvGrpSpPr>
      <p:grpSpPr>
        <a:xfrm>
          <a:off x="0" y="0"/>
          <a:ext cx="0" cy="0"/>
          <a:chOff x="0" y="0"/>
          <a:chExt cx="0" cy="0"/>
        </a:xfrm>
      </p:grpSpPr>
      <p:sp>
        <p:nvSpPr>
          <p:cNvPr id="436" name="Google Shape;436;p4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37" name="Google Shape;437;p46"/>
          <p:cNvSpPr/>
          <p:nvPr/>
        </p:nvSpPr>
        <p:spPr>
          <a:xfrm>
            <a:off x="602625" y="247800"/>
            <a:ext cx="8136900" cy="511200"/>
          </a:xfrm>
          <a:prstGeom prst="rect">
            <a:avLst/>
          </a:prstGeom>
          <a:noFill/>
          <a:ln cap="flat" cmpd="sng" w="38100">
            <a:solidFill>
              <a:schemeClr val="lt1"/>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100">
                <a:solidFill>
                  <a:schemeClr val="lt1"/>
                </a:solidFill>
                <a:latin typeface="Source Sans Pro"/>
                <a:ea typeface="Source Sans Pro"/>
                <a:cs typeface="Source Sans Pro"/>
                <a:sym typeface="Source Sans Pro"/>
              </a:rPr>
              <a:t>Veamos </a:t>
            </a:r>
            <a:r>
              <a:rPr b="1" lang="es" sz="3100">
                <a:solidFill>
                  <a:schemeClr val="lt1"/>
                </a:solidFill>
                <a:latin typeface="Source Sans Pro"/>
                <a:ea typeface="Source Sans Pro"/>
                <a:cs typeface="Source Sans Pro"/>
                <a:sym typeface="Source Sans Pro"/>
              </a:rPr>
              <a:t>rápidamente</a:t>
            </a:r>
            <a:r>
              <a:rPr b="1" lang="es" sz="3100">
                <a:solidFill>
                  <a:schemeClr val="lt1"/>
                </a:solidFill>
                <a:latin typeface="Source Sans Pro"/>
                <a:ea typeface="Source Sans Pro"/>
                <a:cs typeface="Source Sans Pro"/>
                <a:sym typeface="Source Sans Pro"/>
              </a:rPr>
              <a:t> un ejemplo</a:t>
            </a:r>
            <a:endParaRPr b="1" sz="3100">
              <a:solidFill>
                <a:schemeClr val="lt1"/>
              </a:solidFill>
              <a:latin typeface="Source Sans Pro"/>
              <a:ea typeface="Source Sans Pro"/>
              <a:cs typeface="Source Sans Pro"/>
              <a:sym typeface="Source Sans Pro"/>
            </a:endParaRPr>
          </a:p>
        </p:txBody>
      </p:sp>
      <p:sp>
        <p:nvSpPr>
          <p:cNvPr id="438" name="Google Shape;438;p46"/>
          <p:cNvSpPr txBox="1"/>
          <p:nvPr/>
        </p:nvSpPr>
        <p:spPr>
          <a:xfrm>
            <a:off x="404550" y="1581950"/>
            <a:ext cx="8334900" cy="16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lang="es" sz="2500">
                <a:solidFill>
                  <a:schemeClr val="lt1"/>
                </a:solidFill>
                <a:latin typeface="Source Sans Pro"/>
                <a:ea typeface="Source Sans Pro"/>
                <a:cs typeface="Source Sans Pro"/>
                <a:sym typeface="Source Sans Pro"/>
              </a:rPr>
              <a:t>Supongamos que queremos hacer la siguiente consulta:</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Clr>
                <a:schemeClr val="dk2"/>
              </a:buClr>
              <a:buSzPts val="1100"/>
              <a:buFont typeface="Arial"/>
              <a:buNone/>
            </a:pPr>
            <a:r>
              <a:rPr lang="es" sz="2500">
                <a:solidFill>
                  <a:schemeClr val="lt1"/>
                </a:solidFill>
                <a:latin typeface="Source Sans Pro"/>
                <a:ea typeface="Source Sans Pro"/>
                <a:cs typeface="Source Sans Pro"/>
                <a:sym typeface="Source Sans Pro"/>
              </a:rPr>
              <a:t>"Mostrar los usuarios cuya edad sea mayor a 18, ordenados por nombre de manera ascendente."</a:t>
            </a:r>
            <a:endParaRPr sz="3200">
              <a:solidFill>
                <a:schemeClr val="lt1"/>
              </a:solidFill>
              <a:latin typeface="Source Sans Pro"/>
              <a:ea typeface="Source Sans Pro"/>
              <a:cs typeface="Source Sans Pro"/>
              <a:sym typeface="Source Sans Pr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42" name="Shape 442"/>
        <p:cNvGrpSpPr/>
        <p:nvPr/>
      </p:nvGrpSpPr>
      <p:grpSpPr>
        <a:xfrm>
          <a:off x="0" y="0"/>
          <a:ext cx="0" cy="0"/>
          <a:chOff x="0" y="0"/>
          <a:chExt cx="0" cy="0"/>
        </a:xfrm>
      </p:grpSpPr>
      <p:sp>
        <p:nvSpPr>
          <p:cNvPr id="443" name="Google Shape;443;p4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44" name="Google Shape;444;p47"/>
          <p:cNvSpPr/>
          <p:nvPr/>
        </p:nvSpPr>
        <p:spPr>
          <a:xfrm>
            <a:off x="5796375"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sp>
        <p:nvSpPr>
          <p:cNvPr id="445" name="Google Shape;445;p47"/>
          <p:cNvSpPr txBox="1"/>
          <p:nvPr/>
        </p:nvSpPr>
        <p:spPr>
          <a:xfrm>
            <a:off x="4951000" y="1293400"/>
            <a:ext cx="4029000" cy="295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500">
                <a:solidFill>
                  <a:schemeClr val="lt1"/>
                </a:solidFill>
                <a:latin typeface="Source Sans Pro"/>
                <a:ea typeface="Source Sans Pro"/>
                <a:cs typeface="Source Sans Pro"/>
                <a:sym typeface="Source Sans Pro"/>
              </a:rPr>
              <a:t>const users = await db</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500">
                <a:solidFill>
                  <a:schemeClr val="lt1"/>
                </a:solidFill>
                <a:latin typeface="Source Sans Pro"/>
                <a:ea typeface="Source Sans Pro"/>
                <a:cs typeface="Source Sans Pro"/>
                <a:sym typeface="Source Sans Pro"/>
              </a:rPr>
              <a:t>  .select()</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500">
                <a:solidFill>
                  <a:schemeClr val="lt1"/>
                </a:solidFill>
                <a:latin typeface="Source Sans Pro"/>
                <a:ea typeface="Source Sans Pro"/>
                <a:cs typeface="Source Sans Pro"/>
                <a:sym typeface="Source Sans Pro"/>
              </a:rPr>
              <a:t>  .from(users)</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500">
                <a:solidFill>
                  <a:schemeClr val="lt1"/>
                </a:solidFill>
                <a:latin typeface="Source Sans Pro"/>
                <a:ea typeface="Source Sans Pro"/>
                <a:cs typeface="Source Sans Pro"/>
                <a:sym typeface="Source Sans Pro"/>
              </a:rPr>
              <a:t>  .where(gt(users.age, 18))</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500">
                <a:solidFill>
                  <a:schemeClr val="lt1"/>
                </a:solidFill>
                <a:latin typeface="Source Sans Pro"/>
                <a:ea typeface="Source Sans Pro"/>
                <a:cs typeface="Source Sans Pro"/>
                <a:sym typeface="Source Sans Pro"/>
              </a:rPr>
              <a:t>  .orderBy(asc(users.name));</a:t>
            </a:r>
            <a:endParaRPr sz="2200">
              <a:solidFill>
                <a:schemeClr val="lt1"/>
              </a:solidFill>
              <a:latin typeface="Source Sans Pro"/>
              <a:ea typeface="Source Sans Pro"/>
              <a:cs typeface="Source Sans Pro"/>
              <a:sym typeface="Source Sans Pro"/>
            </a:endParaRPr>
          </a:p>
        </p:txBody>
      </p:sp>
      <p:sp>
        <p:nvSpPr>
          <p:cNvPr id="446" name="Google Shape;446;p47"/>
          <p:cNvSpPr/>
          <p:nvPr/>
        </p:nvSpPr>
        <p:spPr>
          <a:xfrm>
            <a:off x="746200" y="247800"/>
            <a:ext cx="1947900" cy="511200"/>
          </a:xfrm>
          <a:prstGeom prst="rect">
            <a:avLst/>
          </a:prstGeom>
          <a:noFill/>
          <a:ln cap="flat" cmpd="sng" w="38100">
            <a:solidFill>
              <a:srgbClr val="CCCCCC"/>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Raleway"/>
                <a:ea typeface="Raleway"/>
                <a:cs typeface="Raleway"/>
                <a:sym typeface="Raleway"/>
              </a:rPr>
              <a:t>SQL</a:t>
            </a:r>
            <a:endParaRPr sz="3100">
              <a:solidFill>
                <a:schemeClr val="lt1"/>
              </a:solidFill>
              <a:latin typeface="Source Sans Pro"/>
              <a:ea typeface="Source Sans Pro"/>
              <a:cs typeface="Source Sans Pro"/>
              <a:sym typeface="Source Sans Pro"/>
            </a:endParaRPr>
          </a:p>
        </p:txBody>
      </p:sp>
      <p:sp>
        <p:nvSpPr>
          <p:cNvPr id="447" name="Google Shape;447;p47"/>
          <p:cNvSpPr txBox="1"/>
          <p:nvPr/>
        </p:nvSpPr>
        <p:spPr>
          <a:xfrm>
            <a:off x="449825" y="1392300"/>
            <a:ext cx="3000000" cy="235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500">
                <a:solidFill>
                  <a:schemeClr val="lt1"/>
                </a:solidFill>
                <a:latin typeface="Source Sans Pro"/>
                <a:ea typeface="Source Sans Pro"/>
                <a:cs typeface="Source Sans Pro"/>
                <a:sym typeface="Source Sans Pro"/>
              </a:rPr>
              <a:t>SELECT *</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500">
                <a:solidFill>
                  <a:schemeClr val="lt1"/>
                </a:solidFill>
                <a:latin typeface="Source Sans Pro"/>
                <a:ea typeface="Source Sans Pro"/>
                <a:cs typeface="Source Sans Pro"/>
                <a:sym typeface="Source Sans Pro"/>
              </a:rPr>
              <a:t>FROM users</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500">
                <a:solidFill>
                  <a:schemeClr val="lt1"/>
                </a:solidFill>
                <a:latin typeface="Source Sans Pro"/>
                <a:ea typeface="Source Sans Pro"/>
                <a:cs typeface="Source Sans Pro"/>
                <a:sym typeface="Source Sans Pro"/>
              </a:rPr>
              <a:t>WHERE age &gt; 18</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500">
                <a:solidFill>
                  <a:schemeClr val="lt1"/>
                </a:solidFill>
                <a:latin typeface="Source Sans Pro"/>
                <a:ea typeface="Source Sans Pro"/>
                <a:cs typeface="Source Sans Pro"/>
                <a:sym typeface="Source Sans Pro"/>
              </a:rPr>
              <a:t>ORDER BY name ASC;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1" name="Shape 451"/>
        <p:cNvGrpSpPr/>
        <p:nvPr/>
      </p:nvGrpSpPr>
      <p:grpSpPr>
        <a:xfrm>
          <a:off x="0" y="0"/>
          <a:ext cx="0" cy="0"/>
          <a:chOff x="0" y="0"/>
          <a:chExt cx="0" cy="0"/>
        </a:xfrm>
      </p:grpSpPr>
      <p:grpSp>
        <p:nvGrpSpPr>
          <p:cNvPr id="452" name="Google Shape;452;p48"/>
          <p:cNvGrpSpPr/>
          <p:nvPr/>
        </p:nvGrpSpPr>
        <p:grpSpPr>
          <a:xfrm>
            <a:off x="394375" y="714375"/>
            <a:ext cx="8469447" cy="3714900"/>
            <a:chOff x="476247" y="714375"/>
            <a:chExt cx="8191747" cy="3714900"/>
          </a:xfrm>
        </p:grpSpPr>
        <p:sp>
          <p:nvSpPr>
            <p:cNvPr id="453" name="Google Shape;453;p48"/>
            <p:cNvSpPr/>
            <p:nvPr/>
          </p:nvSpPr>
          <p:spPr>
            <a:xfrm>
              <a:off x="476247" y="714375"/>
              <a:ext cx="3658800" cy="3714900"/>
            </a:xfrm>
            <a:prstGeom prst="roundRect">
              <a:avLst>
                <a:gd fmla="val 4102" name="adj"/>
              </a:avLst>
            </a:prstGeom>
            <a:solidFill>
              <a:srgbClr val="1A1A1E"/>
            </a:solidFill>
            <a:ln cap="flat" cmpd="sng" w="19050">
              <a:solidFill>
                <a:srgbClr val="2D2D3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48"/>
            <p:cNvSpPr/>
            <p:nvPr/>
          </p:nvSpPr>
          <p:spPr>
            <a:xfrm>
              <a:off x="4516894" y="714375"/>
              <a:ext cx="4151100" cy="3714900"/>
            </a:xfrm>
            <a:prstGeom prst="roundRect">
              <a:avLst>
                <a:gd fmla="val 4102" name="adj"/>
              </a:avLst>
            </a:prstGeom>
            <a:solidFill>
              <a:srgbClr val="1A1A1E"/>
            </a:solidFill>
            <a:ln cap="flat" cmpd="sng" w="19050">
              <a:solidFill>
                <a:srgbClr val="0F4C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48"/>
            <p:cNvSpPr/>
            <p:nvPr/>
          </p:nvSpPr>
          <p:spPr>
            <a:xfrm>
              <a:off x="762000" y="1000125"/>
              <a:ext cx="952500" cy="342900"/>
            </a:xfrm>
            <a:prstGeom prst="roundRect">
              <a:avLst>
                <a:gd fmla="val 22222" name="adj"/>
              </a:avLst>
            </a:prstGeom>
            <a:solidFill>
              <a:srgbClr val="2D2D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48"/>
            <p:cNvSpPr txBox="1"/>
            <p:nvPr/>
          </p:nvSpPr>
          <p:spPr>
            <a:xfrm>
              <a:off x="762000" y="1000125"/>
              <a:ext cx="952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400">
                  <a:solidFill>
                    <a:srgbClr val="FFFFFF"/>
                  </a:solidFill>
                  <a:latin typeface="Raleway"/>
                  <a:ea typeface="Raleway"/>
                  <a:cs typeface="Raleway"/>
                  <a:sym typeface="Raleway"/>
                </a:rPr>
                <a:t>SQL</a:t>
              </a:r>
              <a:endParaRPr b="1" sz="1400">
                <a:solidFill>
                  <a:srgbClr val="FFFFFF"/>
                </a:solidFill>
                <a:latin typeface="Raleway"/>
                <a:ea typeface="Raleway"/>
                <a:cs typeface="Raleway"/>
                <a:sym typeface="Raleway"/>
              </a:endParaRPr>
            </a:p>
          </p:txBody>
        </p:sp>
        <p:sp>
          <p:nvSpPr>
            <p:cNvPr id="457" name="Google Shape;457;p48"/>
            <p:cNvSpPr txBox="1"/>
            <p:nvPr/>
          </p:nvSpPr>
          <p:spPr>
            <a:xfrm>
              <a:off x="762000" y="1666875"/>
              <a:ext cx="33339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400">
                  <a:solidFill>
                    <a:srgbClr val="F43F5E"/>
                  </a:solidFill>
                  <a:latin typeface="Courier New"/>
                  <a:ea typeface="Courier New"/>
                  <a:cs typeface="Courier New"/>
                  <a:sym typeface="Courier New"/>
                </a:rPr>
                <a:t>SELECT</a:t>
              </a:r>
              <a:r>
                <a:rPr lang="es" sz="2400">
                  <a:solidFill>
                    <a:srgbClr val="E4E4E7"/>
                  </a:solidFill>
                  <a:latin typeface="Courier New"/>
                  <a:ea typeface="Courier New"/>
                  <a:cs typeface="Courier New"/>
                  <a:sym typeface="Courier New"/>
                </a:rPr>
                <a:t> *</a:t>
              </a:r>
              <a:endParaRPr sz="2400">
                <a:solidFill>
                  <a:srgbClr val="E4E4E7"/>
                </a:solidFill>
                <a:latin typeface="Courier New"/>
                <a:ea typeface="Courier New"/>
                <a:cs typeface="Courier New"/>
                <a:sym typeface="Courier New"/>
              </a:endParaRPr>
            </a:p>
            <a:p>
              <a:pPr indent="0" lvl="0" marL="0" rtl="0" algn="l">
                <a:spcBef>
                  <a:spcPts val="900"/>
                </a:spcBef>
                <a:spcAft>
                  <a:spcPts val="0"/>
                </a:spcAft>
                <a:buNone/>
              </a:pPr>
              <a:r>
                <a:rPr b="1" lang="es" sz="2400">
                  <a:solidFill>
                    <a:srgbClr val="F43F5E"/>
                  </a:solidFill>
                  <a:latin typeface="Courier New"/>
                  <a:ea typeface="Courier New"/>
                  <a:cs typeface="Courier New"/>
                  <a:sym typeface="Courier New"/>
                </a:rPr>
                <a:t>FROM</a:t>
              </a:r>
              <a:r>
                <a:rPr lang="es" sz="2400">
                  <a:solidFill>
                    <a:srgbClr val="E4E4E7"/>
                  </a:solidFill>
                  <a:latin typeface="Courier New"/>
                  <a:ea typeface="Courier New"/>
                  <a:cs typeface="Courier New"/>
                  <a:sym typeface="Courier New"/>
                </a:rPr>
                <a:t> users</a:t>
              </a:r>
              <a:endParaRPr sz="2400">
                <a:solidFill>
                  <a:srgbClr val="E4E4E7"/>
                </a:solidFill>
                <a:latin typeface="Courier New"/>
                <a:ea typeface="Courier New"/>
                <a:cs typeface="Courier New"/>
                <a:sym typeface="Courier New"/>
              </a:endParaRPr>
            </a:p>
            <a:p>
              <a:pPr indent="0" lvl="0" marL="0" rtl="0" algn="l">
                <a:spcBef>
                  <a:spcPts val="900"/>
                </a:spcBef>
                <a:spcAft>
                  <a:spcPts val="0"/>
                </a:spcAft>
                <a:buNone/>
              </a:pPr>
              <a:r>
                <a:rPr b="1" lang="es" sz="2400">
                  <a:solidFill>
                    <a:srgbClr val="F43F5E"/>
                  </a:solidFill>
                  <a:latin typeface="Courier New"/>
                  <a:ea typeface="Courier New"/>
                  <a:cs typeface="Courier New"/>
                  <a:sym typeface="Courier New"/>
                </a:rPr>
                <a:t>WHERE</a:t>
              </a:r>
              <a:r>
                <a:rPr lang="es" sz="2400">
                  <a:solidFill>
                    <a:srgbClr val="E4E4E7"/>
                  </a:solidFill>
                  <a:latin typeface="Courier New"/>
                  <a:ea typeface="Courier New"/>
                  <a:cs typeface="Courier New"/>
                  <a:sym typeface="Courier New"/>
                </a:rPr>
                <a:t> age &gt; </a:t>
              </a:r>
              <a:r>
                <a:rPr lang="es" sz="2400">
                  <a:solidFill>
                    <a:srgbClr val="60A5FA"/>
                  </a:solidFill>
                  <a:latin typeface="Courier New"/>
                  <a:ea typeface="Courier New"/>
                  <a:cs typeface="Courier New"/>
                  <a:sym typeface="Courier New"/>
                </a:rPr>
                <a:t>18</a:t>
              </a:r>
              <a:endParaRPr sz="2400">
                <a:solidFill>
                  <a:srgbClr val="E4E4E7"/>
                </a:solidFill>
                <a:latin typeface="Courier New"/>
                <a:ea typeface="Courier New"/>
                <a:cs typeface="Courier New"/>
                <a:sym typeface="Courier New"/>
              </a:endParaRPr>
            </a:p>
            <a:p>
              <a:pPr indent="0" lvl="0" marL="0" rtl="0" algn="l">
                <a:spcBef>
                  <a:spcPts val="900"/>
                </a:spcBef>
                <a:spcAft>
                  <a:spcPts val="0"/>
                </a:spcAft>
                <a:buNone/>
              </a:pPr>
              <a:r>
                <a:rPr b="1" lang="es" sz="2400">
                  <a:solidFill>
                    <a:srgbClr val="F43F5E"/>
                  </a:solidFill>
                  <a:latin typeface="Courier New"/>
                  <a:ea typeface="Courier New"/>
                  <a:cs typeface="Courier New"/>
                  <a:sym typeface="Courier New"/>
                </a:rPr>
                <a:t>ORDER BY</a:t>
              </a:r>
              <a:r>
                <a:rPr lang="es" sz="2400">
                  <a:solidFill>
                    <a:srgbClr val="E4E4E7"/>
                  </a:solidFill>
                  <a:latin typeface="Courier New"/>
                  <a:ea typeface="Courier New"/>
                  <a:cs typeface="Courier New"/>
                  <a:sym typeface="Courier New"/>
                </a:rPr>
                <a:t> name </a:t>
              </a:r>
              <a:r>
                <a:rPr b="1" lang="es" sz="2400">
                  <a:solidFill>
                    <a:srgbClr val="F43F5E"/>
                  </a:solidFill>
                  <a:latin typeface="Courier New"/>
                  <a:ea typeface="Courier New"/>
                  <a:cs typeface="Courier New"/>
                  <a:sym typeface="Courier New"/>
                </a:rPr>
                <a:t>ASC</a:t>
              </a:r>
              <a:r>
                <a:rPr lang="es" sz="2400">
                  <a:solidFill>
                    <a:srgbClr val="E4E4E7"/>
                  </a:solidFill>
                  <a:latin typeface="Courier New"/>
                  <a:ea typeface="Courier New"/>
                  <a:cs typeface="Courier New"/>
                  <a:sym typeface="Courier New"/>
                </a:rPr>
                <a:t>;</a:t>
              </a:r>
              <a:endParaRPr sz="2400">
                <a:solidFill>
                  <a:srgbClr val="E4E4E7"/>
                </a:solidFill>
                <a:latin typeface="Courier New"/>
                <a:ea typeface="Courier New"/>
                <a:cs typeface="Courier New"/>
                <a:sym typeface="Courier New"/>
              </a:endParaRPr>
            </a:p>
          </p:txBody>
        </p:sp>
        <p:sp>
          <p:nvSpPr>
            <p:cNvPr id="458" name="Google Shape;458;p48"/>
            <p:cNvSpPr/>
            <p:nvPr/>
          </p:nvSpPr>
          <p:spPr>
            <a:xfrm>
              <a:off x="4761012" y="1000125"/>
              <a:ext cx="1143000" cy="342900"/>
            </a:xfrm>
            <a:prstGeom prst="roundRect">
              <a:avLst>
                <a:gd fmla="val 22222" name="adj"/>
              </a:avLst>
            </a:prstGeom>
            <a:solidFill>
              <a:schemeClr val="accent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48"/>
            <p:cNvSpPr txBox="1"/>
            <p:nvPr/>
          </p:nvSpPr>
          <p:spPr>
            <a:xfrm>
              <a:off x="4761012" y="1000125"/>
              <a:ext cx="11430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400">
                  <a:solidFill>
                    <a:srgbClr val="FF00FF"/>
                  </a:solidFill>
                  <a:latin typeface="Raleway"/>
                  <a:ea typeface="Raleway"/>
                  <a:cs typeface="Raleway"/>
                  <a:sym typeface="Raleway"/>
                </a:rPr>
                <a:t>PRISMA</a:t>
              </a:r>
              <a:endParaRPr b="1" sz="1400">
                <a:solidFill>
                  <a:srgbClr val="FF00FF"/>
                </a:solidFill>
                <a:latin typeface="Raleway"/>
                <a:ea typeface="Raleway"/>
                <a:cs typeface="Raleway"/>
                <a:sym typeface="Raleway"/>
              </a:endParaRPr>
            </a:p>
          </p:txBody>
        </p:sp>
        <p:sp>
          <p:nvSpPr>
            <p:cNvPr id="460" name="Google Shape;460;p48"/>
            <p:cNvSpPr txBox="1"/>
            <p:nvPr/>
          </p:nvSpPr>
          <p:spPr>
            <a:xfrm>
              <a:off x="4761018" y="1442075"/>
              <a:ext cx="3806100" cy="289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800">
                  <a:solidFill>
                    <a:srgbClr val="F43F5E"/>
                  </a:solidFill>
                  <a:latin typeface="Courier New"/>
                  <a:ea typeface="Courier New"/>
                  <a:cs typeface="Courier New"/>
                  <a:sym typeface="Courier New"/>
                </a:rPr>
                <a:t>const</a:t>
              </a:r>
              <a:r>
                <a:rPr lang="es" sz="1800">
                  <a:solidFill>
                    <a:srgbClr val="E4E4E7"/>
                  </a:solidFill>
                  <a:latin typeface="Courier New"/>
                  <a:ea typeface="Courier New"/>
                  <a:cs typeface="Courier New"/>
                  <a:sym typeface="Courier New"/>
                </a:rPr>
                <a:t> users = </a:t>
              </a:r>
              <a:r>
                <a:rPr b="1" lang="es" sz="1800">
                  <a:solidFill>
                    <a:srgbClr val="F43F5E"/>
                  </a:solidFill>
                  <a:latin typeface="Courier New"/>
                  <a:ea typeface="Courier New"/>
                  <a:cs typeface="Courier New"/>
                  <a:sym typeface="Courier New"/>
                </a:rPr>
                <a:t>await</a:t>
              </a:r>
              <a:r>
                <a:rPr lang="es" sz="1800">
                  <a:solidFill>
                    <a:srgbClr val="E4E4E7"/>
                  </a:solidFill>
                  <a:latin typeface="Courier New"/>
                  <a:ea typeface="Courier New"/>
                  <a:cs typeface="Courier New"/>
                  <a:sym typeface="Courier New"/>
                </a:rPr>
                <a:t> prisma.user.findMany({</a:t>
              </a:r>
              <a:endParaRPr sz="1800">
                <a:solidFill>
                  <a:srgbClr val="E4E4E7"/>
                </a:solidFill>
                <a:latin typeface="Courier New"/>
                <a:ea typeface="Courier New"/>
                <a:cs typeface="Courier New"/>
                <a:sym typeface="Courier New"/>
              </a:endParaRPr>
            </a:p>
            <a:p>
              <a:pPr indent="0" lvl="0" marL="0" rtl="0" algn="l">
                <a:spcBef>
                  <a:spcPts val="900"/>
                </a:spcBef>
                <a:spcAft>
                  <a:spcPts val="0"/>
                </a:spcAft>
                <a:buNone/>
              </a:pPr>
              <a:r>
                <a:rPr lang="es" sz="1800">
                  <a:solidFill>
                    <a:srgbClr val="E4E4E7"/>
                  </a:solidFill>
                  <a:latin typeface="Courier New"/>
                  <a:ea typeface="Courier New"/>
                  <a:cs typeface="Courier New"/>
                  <a:sym typeface="Courier New"/>
                </a:rPr>
                <a:t>where: { age: { gt: </a:t>
              </a:r>
              <a:r>
                <a:rPr b="1" lang="es" sz="1800">
                  <a:solidFill>
                    <a:srgbClr val="6178F2"/>
                  </a:solidFill>
                  <a:latin typeface="Courier New"/>
                  <a:ea typeface="Courier New"/>
                  <a:cs typeface="Courier New"/>
                  <a:sym typeface="Courier New"/>
                </a:rPr>
                <a:t>18</a:t>
              </a:r>
              <a:r>
                <a:rPr b="1" lang="es" sz="1800">
                  <a:solidFill>
                    <a:srgbClr val="E4E4E7"/>
                  </a:solidFill>
                  <a:latin typeface="Courier New"/>
                  <a:ea typeface="Courier New"/>
                  <a:cs typeface="Courier New"/>
                  <a:sym typeface="Courier New"/>
                </a:rPr>
                <a:t> </a:t>
              </a:r>
              <a:r>
                <a:rPr lang="es" sz="1800">
                  <a:solidFill>
                    <a:srgbClr val="E4E4E7"/>
                  </a:solidFill>
                  <a:latin typeface="Courier New"/>
                  <a:ea typeface="Courier New"/>
                  <a:cs typeface="Courier New"/>
                  <a:sym typeface="Courier New"/>
                </a:rPr>
                <a:t>} },</a:t>
              </a:r>
              <a:endParaRPr sz="1800">
                <a:solidFill>
                  <a:srgbClr val="E4E4E7"/>
                </a:solidFill>
                <a:latin typeface="Courier New"/>
                <a:ea typeface="Courier New"/>
                <a:cs typeface="Courier New"/>
                <a:sym typeface="Courier New"/>
              </a:endParaRPr>
            </a:p>
            <a:p>
              <a:pPr indent="0" lvl="0" marL="0" rtl="0" algn="l">
                <a:spcBef>
                  <a:spcPts val="900"/>
                </a:spcBef>
                <a:spcAft>
                  <a:spcPts val="0"/>
                </a:spcAft>
                <a:buNone/>
              </a:pPr>
              <a:r>
                <a:rPr lang="es" sz="1800">
                  <a:solidFill>
                    <a:srgbClr val="E4E4E7"/>
                  </a:solidFill>
                  <a:latin typeface="Courier New"/>
                  <a:ea typeface="Courier New"/>
                  <a:cs typeface="Courier New"/>
                  <a:sym typeface="Courier New"/>
                </a:rPr>
                <a:t>orderBy: { name: </a:t>
              </a:r>
              <a:r>
                <a:rPr b="1" lang="es" sz="1800">
                  <a:solidFill>
                    <a:srgbClr val="34D399"/>
                  </a:solidFill>
                  <a:latin typeface="Courier New"/>
                  <a:ea typeface="Courier New"/>
                  <a:cs typeface="Courier New"/>
                  <a:sym typeface="Courier New"/>
                </a:rPr>
                <a:t>'asc'</a:t>
              </a:r>
              <a:r>
                <a:rPr lang="es" sz="1800">
                  <a:solidFill>
                    <a:srgbClr val="E4E4E7"/>
                  </a:solidFill>
                  <a:latin typeface="Courier New"/>
                  <a:ea typeface="Courier New"/>
                  <a:cs typeface="Courier New"/>
                  <a:sym typeface="Courier New"/>
                </a:rPr>
                <a:t> }</a:t>
              </a:r>
              <a:endParaRPr sz="1800">
                <a:solidFill>
                  <a:srgbClr val="E4E4E7"/>
                </a:solidFill>
                <a:latin typeface="Courier New"/>
                <a:ea typeface="Courier New"/>
                <a:cs typeface="Courier New"/>
                <a:sym typeface="Courier New"/>
              </a:endParaRPr>
            </a:p>
            <a:p>
              <a:pPr indent="0" lvl="0" marL="0" rtl="0" algn="l">
                <a:spcBef>
                  <a:spcPts val="900"/>
                </a:spcBef>
                <a:spcAft>
                  <a:spcPts val="0"/>
                </a:spcAft>
                <a:buNone/>
              </a:pPr>
              <a:r>
                <a:rPr lang="es" sz="1800">
                  <a:solidFill>
                    <a:srgbClr val="E4E4E7"/>
                  </a:solidFill>
                  <a:latin typeface="Courier New"/>
                  <a:ea typeface="Courier New"/>
                  <a:cs typeface="Courier New"/>
                  <a:sym typeface="Courier New"/>
                </a:rPr>
                <a:t>});</a:t>
              </a:r>
              <a:endParaRPr sz="1800">
                <a:solidFill>
                  <a:srgbClr val="E4E4E7"/>
                </a:solidFill>
                <a:latin typeface="Courier New"/>
                <a:ea typeface="Courier New"/>
                <a:cs typeface="Courier New"/>
                <a:sym typeface="Courier New"/>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64" name="Shape 464"/>
        <p:cNvGrpSpPr/>
        <p:nvPr/>
      </p:nvGrpSpPr>
      <p:grpSpPr>
        <a:xfrm>
          <a:off x="0" y="0"/>
          <a:ext cx="0" cy="0"/>
          <a:chOff x="0" y="0"/>
          <a:chExt cx="0" cy="0"/>
        </a:xfrm>
      </p:grpSpPr>
      <p:sp>
        <p:nvSpPr>
          <p:cNvPr id="465" name="Google Shape;465;p49"/>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66" name="Google Shape;466;p49"/>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MODELO DECLARATIVO</a:t>
            </a:r>
            <a:endParaRPr b="1" sz="3100">
              <a:solidFill>
                <a:srgbClr val="6178F2"/>
              </a:solidFill>
              <a:latin typeface="Source Sans Pro"/>
              <a:ea typeface="Source Sans Pro"/>
              <a:cs typeface="Source Sans Pro"/>
              <a:sym typeface="Source Sans Pro"/>
            </a:endParaRPr>
          </a:p>
        </p:txBody>
      </p:sp>
      <p:pic>
        <p:nvPicPr>
          <p:cNvPr id="467" name="Google Shape;467;p49"/>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468" name="Google Shape;468;p49"/>
          <p:cNvGrpSpPr/>
          <p:nvPr/>
        </p:nvGrpSpPr>
        <p:grpSpPr>
          <a:xfrm>
            <a:off x="263450" y="1143054"/>
            <a:ext cx="8750003" cy="3678894"/>
            <a:chOff x="263439" y="1143012"/>
            <a:chExt cx="8642832" cy="3003669"/>
          </a:xfrm>
        </p:grpSpPr>
        <p:sp>
          <p:nvSpPr>
            <p:cNvPr id="469" name="Google Shape;469;p49"/>
            <p:cNvSpPr/>
            <p:nvPr/>
          </p:nvSpPr>
          <p:spPr>
            <a:xfrm>
              <a:off x="263439" y="1146381"/>
              <a:ext cx="20226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49"/>
            <p:cNvSpPr/>
            <p:nvPr/>
          </p:nvSpPr>
          <p:spPr>
            <a:xfrm>
              <a:off x="2445405" y="1143012"/>
              <a:ext cx="2579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49"/>
            <p:cNvSpPr txBox="1"/>
            <p:nvPr/>
          </p:nvSpPr>
          <p:spPr>
            <a:xfrm>
              <a:off x="333371" y="1238269"/>
              <a:ext cx="19527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SQL PURO</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sz="1800">
                  <a:solidFill>
                    <a:srgbClr val="FFFFFF"/>
                  </a:solidFill>
                  <a:latin typeface="Source Sans Pro"/>
                  <a:ea typeface="Source Sans Pro"/>
                  <a:cs typeface="Source Sans Pro"/>
                  <a:sym typeface="Source Sans Pro"/>
                </a:rPr>
                <a:t>Gestión manual.</a:t>
              </a:r>
              <a:endParaRPr sz="1800">
                <a:solidFill>
                  <a:srgbClr val="FFFFFF"/>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lang="es" sz="1800">
                  <a:solidFill>
                    <a:srgbClr val="FFFFFF"/>
                  </a:solidFill>
                  <a:latin typeface="Source Sans Pro"/>
                  <a:ea typeface="Source Sans Pro"/>
                  <a:cs typeface="Source Sans Pro"/>
                  <a:sym typeface="Source Sans Pro"/>
                </a:rPr>
                <a:t>Paso por Paso.</a:t>
              </a:r>
              <a:endParaRPr sz="1800">
                <a:solidFill>
                  <a:srgbClr val="FFFFFF"/>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PRISMA</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sz="1800">
                  <a:solidFill>
                    <a:schemeClr val="lt1"/>
                  </a:solidFill>
                  <a:latin typeface="Source Sans Pro"/>
                  <a:ea typeface="Source Sans Pro"/>
                  <a:cs typeface="Source Sans Pro"/>
                  <a:sym typeface="Source Sans Pro"/>
                </a:rPr>
                <a:t>Modelo Declarativo.</a:t>
              </a:r>
              <a:endParaRPr sz="18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Clr>
                  <a:schemeClr val="dk2"/>
                </a:buClr>
                <a:buSzPts val="1100"/>
                <a:buFont typeface="Arial"/>
                <a:buNone/>
              </a:pPr>
              <a:r>
                <a:rPr lang="es" sz="1800">
                  <a:solidFill>
                    <a:schemeClr val="lt1"/>
                  </a:solidFill>
                  <a:latin typeface="Source Sans Pro"/>
                  <a:ea typeface="Source Sans Pro"/>
                  <a:cs typeface="Source Sans Pro"/>
                  <a:sym typeface="Source Sans Pro"/>
                </a:rPr>
                <a:t>Forma Final.</a:t>
              </a:r>
              <a:endParaRPr sz="1800">
                <a:solidFill>
                  <a:schemeClr val="lt1"/>
                </a:solidFill>
                <a:latin typeface="Source Sans Pro"/>
                <a:ea typeface="Source Sans Pro"/>
                <a:cs typeface="Source Sans Pro"/>
                <a:sym typeface="Source Sans Pro"/>
              </a:endParaRPr>
            </a:p>
          </p:txBody>
        </p:sp>
        <p:sp>
          <p:nvSpPr>
            <p:cNvPr id="472" name="Google Shape;472;p49"/>
            <p:cNvSpPr txBox="1"/>
            <p:nvPr/>
          </p:nvSpPr>
          <p:spPr>
            <a:xfrm>
              <a:off x="2498350" y="1241633"/>
              <a:ext cx="24795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ARCHIVO schema.prisma </a:t>
              </a:r>
              <a:endParaRPr b="1" sz="1800">
                <a:solidFill>
                  <a:srgbClr val="6178F2"/>
                </a:solidFill>
                <a:latin typeface="Source Sans Pro"/>
                <a:ea typeface="Source Sans Pro"/>
                <a:cs typeface="Source Sans Pro"/>
                <a:sym typeface="Source Sans Pro"/>
              </a:endParaRPr>
            </a:p>
            <a:p>
              <a:pPr indent="-209550" lvl="0" marL="360001" rtl="0" algn="l">
                <a:lnSpc>
                  <a:spcPct val="150000"/>
                </a:lnSpc>
                <a:spcBef>
                  <a:spcPts val="60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Fuente de Verdad.</a:t>
              </a:r>
              <a:endParaRPr sz="1800">
                <a:solidFill>
                  <a:srgbClr val="FFFFFF"/>
                </a:solidFill>
                <a:latin typeface="Source Sans Pro"/>
                <a:ea typeface="Source Sans Pro"/>
                <a:cs typeface="Source Sans Pro"/>
                <a:sym typeface="Source Sans Pro"/>
              </a:endParaRPr>
            </a:p>
            <a:p>
              <a:pPr indent="-20955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Evita la dispersión en la definición de los datos.</a:t>
              </a:r>
              <a:endParaRPr sz="1800">
                <a:solidFill>
                  <a:srgbClr val="FFFFFF"/>
                </a:solidFill>
                <a:latin typeface="Source Sans Pro"/>
                <a:ea typeface="Source Sans Pro"/>
                <a:cs typeface="Source Sans Pro"/>
                <a:sym typeface="Source Sans Pro"/>
              </a:endParaRPr>
            </a:p>
            <a:p>
              <a:pPr indent="-20955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Legibilidad.</a:t>
              </a:r>
              <a:endParaRPr sz="1800">
                <a:solidFill>
                  <a:srgbClr val="FFFFFF"/>
                </a:solidFill>
                <a:latin typeface="Source Sans Pro"/>
                <a:ea typeface="Source Sans Pro"/>
                <a:cs typeface="Source Sans Pro"/>
                <a:sym typeface="Source Sans Pro"/>
              </a:endParaRPr>
            </a:p>
            <a:p>
              <a:pPr indent="-20955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Separación de responsabilidades. </a:t>
              </a:r>
              <a:endParaRPr sz="1800">
                <a:solidFill>
                  <a:srgbClr val="FFFFFF"/>
                </a:solidFill>
                <a:latin typeface="Source Sans Pro"/>
                <a:ea typeface="Source Sans Pro"/>
                <a:cs typeface="Source Sans Pro"/>
                <a:sym typeface="Source Sans Pro"/>
              </a:endParaRPr>
            </a:p>
          </p:txBody>
        </p:sp>
        <p:sp>
          <p:nvSpPr>
            <p:cNvPr id="473" name="Google Shape;473;p49"/>
            <p:cNvSpPr/>
            <p:nvPr/>
          </p:nvSpPr>
          <p:spPr>
            <a:xfrm>
              <a:off x="5184170" y="1143012"/>
              <a:ext cx="37221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49"/>
            <p:cNvSpPr txBox="1"/>
            <p:nvPr/>
          </p:nvSpPr>
          <p:spPr>
            <a:xfrm>
              <a:off x="5256128" y="1238264"/>
              <a:ext cx="36501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EJEMPLO CÓDIGO:</a:t>
              </a:r>
              <a:endParaRPr b="1" sz="175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sz="1700">
                  <a:solidFill>
                    <a:srgbClr val="CC7BF4"/>
                  </a:solidFill>
                </a:rPr>
                <a:t>model</a:t>
              </a:r>
              <a:r>
                <a:rPr lang="es" sz="1700">
                  <a:solidFill>
                    <a:schemeClr val="dk2"/>
                  </a:solidFill>
                </a:rPr>
                <a:t> </a:t>
              </a:r>
              <a:r>
                <a:rPr lang="es" sz="1700">
                  <a:solidFill>
                    <a:srgbClr val="FBAD60"/>
                  </a:solidFill>
                </a:rPr>
                <a:t>User</a:t>
              </a:r>
              <a:r>
                <a:rPr lang="es" sz="1700">
                  <a:solidFill>
                    <a:schemeClr val="dk2"/>
                  </a:solidFill>
                </a:rPr>
                <a:t> </a:t>
              </a:r>
              <a:r>
                <a:rPr lang="es" sz="1700">
                  <a:solidFill>
                    <a:schemeClr val="lt1"/>
                  </a:solidFill>
                </a:rPr>
                <a:t>{</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None/>
              </a:pPr>
              <a:r>
                <a:rPr lang="es" sz="1700">
                  <a:solidFill>
                    <a:schemeClr val="lt1"/>
                  </a:solidFill>
                </a:rPr>
                <a:t>id </a:t>
              </a:r>
              <a:r>
                <a:rPr lang="es" sz="1700">
                  <a:solidFill>
                    <a:srgbClr val="FBAD60"/>
                  </a:solidFill>
                </a:rPr>
                <a:t>Int</a:t>
              </a:r>
              <a:r>
                <a:rPr lang="es" sz="1700">
                  <a:solidFill>
                    <a:schemeClr val="dk2"/>
                  </a:solidFill>
                </a:rPr>
                <a:t> </a:t>
              </a:r>
              <a:r>
                <a:rPr lang="es" sz="1700">
                  <a:solidFill>
                    <a:srgbClr val="70B8FF"/>
                  </a:solidFill>
                </a:rPr>
                <a:t>@id</a:t>
              </a:r>
              <a:r>
                <a:rPr lang="es" sz="1700">
                  <a:solidFill>
                    <a:schemeClr val="dk2"/>
                  </a:solidFill>
                </a:rPr>
                <a:t> </a:t>
              </a:r>
              <a:r>
                <a:rPr lang="es" sz="1700">
                  <a:solidFill>
                    <a:srgbClr val="70B8FF"/>
                  </a:solidFill>
                </a:rPr>
                <a:t>@default</a:t>
              </a:r>
              <a:r>
                <a:rPr lang="es" sz="1700">
                  <a:solidFill>
                    <a:schemeClr val="lt1"/>
                  </a:solidFill>
                </a:rPr>
                <a:t>(</a:t>
              </a:r>
              <a:r>
                <a:rPr lang="es" sz="1700">
                  <a:solidFill>
                    <a:srgbClr val="70B8FF"/>
                  </a:solidFill>
                </a:rPr>
                <a:t>autoincrement</a:t>
              </a:r>
              <a:r>
                <a:rPr lang="es" sz="1700">
                  <a:solidFill>
                    <a:schemeClr val="lt1"/>
                  </a:solidFill>
                </a:rPr>
                <a:t>())</a:t>
              </a:r>
              <a:endParaRPr sz="1700">
                <a:solidFill>
                  <a:schemeClr val="dk2"/>
                </a:solidFill>
              </a:endParaRPr>
            </a:p>
            <a:p>
              <a:pPr indent="0" lvl="0" marL="0" rtl="0" algn="l">
                <a:lnSpc>
                  <a:spcPct val="150000"/>
                </a:lnSpc>
                <a:spcBef>
                  <a:spcPts val="0"/>
                </a:spcBef>
                <a:spcAft>
                  <a:spcPts val="0"/>
                </a:spcAft>
                <a:buNone/>
              </a:pPr>
              <a:r>
                <a:rPr lang="es" sz="1700">
                  <a:solidFill>
                    <a:schemeClr val="lt1"/>
                  </a:solidFill>
                </a:rPr>
                <a:t>email </a:t>
              </a:r>
              <a:r>
                <a:rPr lang="es" sz="1700">
                  <a:solidFill>
                    <a:srgbClr val="FBAD60"/>
                  </a:solidFill>
                </a:rPr>
                <a:t>String</a:t>
              </a:r>
              <a:r>
                <a:rPr lang="es" sz="1700">
                  <a:solidFill>
                    <a:schemeClr val="dk2"/>
                  </a:solidFill>
                </a:rPr>
                <a:t> </a:t>
              </a:r>
              <a:r>
                <a:rPr lang="es" sz="1700">
                  <a:solidFill>
                    <a:srgbClr val="70B8FF"/>
                  </a:solidFill>
                </a:rPr>
                <a:t>@unique</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None/>
              </a:pPr>
              <a:r>
                <a:rPr lang="es" sz="1700">
                  <a:solidFill>
                    <a:schemeClr val="lt1"/>
                  </a:solidFill>
                </a:rPr>
                <a:t>posts </a:t>
              </a:r>
              <a:r>
                <a:rPr lang="es" sz="1700">
                  <a:solidFill>
                    <a:srgbClr val="CC7BF4"/>
                  </a:solidFill>
                </a:rPr>
                <a:t>Post </a:t>
              </a:r>
              <a:r>
                <a:rPr lang="es" sz="1700">
                  <a:solidFill>
                    <a:schemeClr val="lt1"/>
                  </a:solidFill>
                </a:rPr>
                <a:t>[ ]</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None/>
              </a:pPr>
              <a:r>
                <a:rPr lang="es" sz="1700">
                  <a:solidFill>
                    <a:schemeClr val="lt1"/>
                  </a:solidFill>
                </a:rPr>
                <a:t>} </a:t>
              </a:r>
              <a:endParaRPr b="1" sz="23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78" name="Shape 478"/>
        <p:cNvGrpSpPr/>
        <p:nvPr/>
      </p:nvGrpSpPr>
      <p:grpSpPr>
        <a:xfrm>
          <a:off x="0" y="0"/>
          <a:ext cx="0" cy="0"/>
          <a:chOff x="0" y="0"/>
          <a:chExt cx="0" cy="0"/>
        </a:xfrm>
      </p:grpSpPr>
      <p:sp>
        <p:nvSpPr>
          <p:cNvPr id="479" name="Google Shape;479;p50"/>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80" name="Google Shape;480;p50"/>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PRISMA CLIENT</a:t>
            </a:r>
            <a:endParaRPr b="1" sz="3100">
              <a:solidFill>
                <a:srgbClr val="6178F2"/>
              </a:solidFill>
              <a:latin typeface="Source Sans Pro"/>
              <a:ea typeface="Source Sans Pro"/>
              <a:cs typeface="Source Sans Pro"/>
              <a:sym typeface="Source Sans Pro"/>
            </a:endParaRPr>
          </a:p>
        </p:txBody>
      </p:sp>
      <p:pic>
        <p:nvPicPr>
          <p:cNvPr id="481" name="Google Shape;481;p50"/>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482" name="Google Shape;482;p50"/>
          <p:cNvGrpSpPr/>
          <p:nvPr/>
        </p:nvGrpSpPr>
        <p:grpSpPr>
          <a:xfrm>
            <a:off x="263450" y="1774069"/>
            <a:ext cx="8750003" cy="2993155"/>
            <a:chOff x="263439" y="1143012"/>
            <a:chExt cx="8642832" cy="3003668"/>
          </a:xfrm>
        </p:grpSpPr>
        <p:sp>
          <p:nvSpPr>
            <p:cNvPr id="483" name="Google Shape;483;p50"/>
            <p:cNvSpPr/>
            <p:nvPr/>
          </p:nvSpPr>
          <p:spPr>
            <a:xfrm>
              <a:off x="263439" y="1146380"/>
              <a:ext cx="22782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50"/>
            <p:cNvSpPr/>
            <p:nvPr/>
          </p:nvSpPr>
          <p:spPr>
            <a:xfrm>
              <a:off x="2701063" y="1143018"/>
              <a:ext cx="23238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50"/>
            <p:cNvSpPr txBox="1"/>
            <p:nvPr/>
          </p:nvSpPr>
          <p:spPr>
            <a:xfrm>
              <a:off x="333371" y="1238251"/>
              <a:ext cx="21363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Produce</a:t>
              </a:r>
              <a:r>
                <a:rPr lang="es" sz="1600">
                  <a:solidFill>
                    <a:schemeClr val="lt1"/>
                  </a:solidFill>
                  <a:latin typeface="Source Sans Pro"/>
                  <a:ea typeface="Source Sans Pro"/>
                  <a:cs typeface="Source Sans Pro"/>
                  <a:sym typeface="Source Sans Pro"/>
                </a:rPr>
                <a:t> código TypeScript nuevo, adaptado exactamente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a los modelos, campos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y relaciones definidos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en el schema.prisma. </a:t>
              </a:r>
              <a:endParaRPr sz="1600">
                <a:solidFill>
                  <a:schemeClr val="lt1"/>
                </a:solidFill>
                <a:latin typeface="Source Sans Pro"/>
                <a:ea typeface="Source Sans Pro"/>
                <a:cs typeface="Source Sans Pro"/>
                <a:sym typeface="Source Sans Pro"/>
              </a:endParaRPr>
            </a:p>
          </p:txBody>
        </p:sp>
        <p:sp>
          <p:nvSpPr>
            <p:cNvPr id="486" name="Google Shape;486;p50"/>
            <p:cNvSpPr txBox="1"/>
            <p:nvPr/>
          </p:nvSpPr>
          <p:spPr>
            <a:xfrm>
              <a:off x="2795145" y="1241638"/>
              <a:ext cx="21828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TYPE SAFETY</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600"/>
                </a:spcAft>
                <a:buNone/>
              </a:pPr>
              <a:r>
                <a:rPr lang="es" sz="1600">
                  <a:solidFill>
                    <a:schemeClr val="lt1"/>
                  </a:solidFill>
                  <a:latin typeface="Source Sans Pro"/>
                  <a:ea typeface="Source Sans Pro"/>
                  <a:cs typeface="Source Sans Pro"/>
                  <a:sym typeface="Source Sans Pro"/>
                </a:rPr>
                <a:t>Previene errores en tiempo de compilación y ofrece autocompletado en el editor de código.</a:t>
              </a:r>
              <a:endParaRPr sz="1600">
                <a:solidFill>
                  <a:schemeClr val="lt1"/>
                </a:solidFill>
                <a:latin typeface="Source Sans Pro"/>
                <a:ea typeface="Source Sans Pro"/>
                <a:cs typeface="Source Sans Pro"/>
                <a:sym typeface="Source Sans Pro"/>
              </a:endParaRPr>
            </a:p>
          </p:txBody>
        </p:sp>
        <p:sp>
          <p:nvSpPr>
            <p:cNvPr id="487" name="Google Shape;487;p50"/>
            <p:cNvSpPr/>
            <p:nvPr/>
          </p:nvSpPr>
          <p:spPr>
            <a:xfrm>
              <a:off x="5184170" y="1143012"/>
              <a:ext cx="37221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50"/>
            <p:cNvSpPr txBox="1"/>
            <p:nvPr/>
          </p:nvSpPr>
          <p:spPr>
            <a:xfrm>
              <a:off x="5256128" y="1238264"/>
              <a:ext cx="36501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EJEMPLO </a:t>
              </a:r>
              <a:r>
                <a:rPr b="1" lang="es" sz="1750">
                  <a:solidFill>
                    <a:srgbClr val="6178F2"/>
                  </a:solidFill>
                  <a:latin typeface="Source Sans Pro"/>
                  <a:ea typeface="Source Sans Pro"/>
                  <a:cs typeface="Source Sans Pro"/>
                  <a:sym typeface="Source Sans Pro"/>
                </a:rPr>
                <a:t>CÓDIGO</a:t>
              </a:r>
              <a:r>
                <a:rPr b="1" lang="es" sz="1750">
                  <a:solidFill>
                    <a:srgbClr val="6178F2"/>
                  </a:solidFill>
                  <a:latin typeface="Source Sans Pro"/>
                  <a:ea typeface="Source Sans Pro"/>
                  <a:cs typeface="Source Sans Pro"/>
                  <a:sym typeface="Source Sans Pro"/>
                </a:rPr>
                <a:t>:</a:t>
              </a:r>
              <a:endParaRPr b="1" sz="175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a:solidFill>
                    <a:srgbClr val="CC7BF4"/>
                  </a:solidFill>
                </a:rPr>
                <a:t>import</a:t>
              </a:r>
              <a:r>
                <a:rPr lang="es">
                  <a:solidFill>
                    <a:schemeClr val="dk2"/>
                  </a:solidFill>
                </a:rPr>
                <a:t> </a:t>
              </a:r>
              <a:r>
                <a:rPr lang="es">
                  <a:solidFill>
                    <a:schemeClr val="lt1"/>
                  </a:solidFill>
                </a:rPr>
                <a:t>{ PrismaClient }</a:t>
              </a:r>
              <a:r>
                <a:rPr lang="es">
                  <a:solidFill>
                    <a:schemeClr val="dk2"/>
                  </a:solidFill>
                </a:rPr>
                <a:t> </a:t>
              </a:r>
              <a:r>
                <a:rPr lang="es">
                  <a:solidFill>
                    <a:srgbClr val="CC7BF4"/>
                  </a:solidFill>
                </a:rPr>
                <a:t>from</a:t>
              </a:r>
              <a:r>
                <a:rPr lang="es">
                  <a:solidFill>
                    <a:schemeClr val="dk2"/>
                  </a:solidFill>
                </a:rPr>
                <a:t> </a:t>
              </a:r>
              <a:r>
                <a:rPr lang="es">
                  <a:solidFill>
                    <a:srgbClr val="9BE963"/>
                  </a:solidFill>
                </a:rPr>
                <a:t>'@prisma/client'</a:t>
              </a:r>
              <a:r>
                <a:rPr lang="es">
                  <a:solidFill>
                    <a:schemeClr val="dk2"/>
                  </a:solidFill>
                </a:rPr>
                <a:t> </a:t>
              </a:r>
              <a:endParaRPr>
                <a:solidFill>
                  <a:schemeClr val="dk2"/>
                </a:solidFill>
              </a:endParaRPr>
            </a:p>
            <a:p>
              <a:pPr indent="0" lvl="0" marL="0" rtl="0" algn="l">
                <a:lnSpc>
                  <a:spcPct val="150000"/>
                </a:lnSpc>
                <a:spcBef>
                  <a:spcPts val="0"/>
                </a:spcBef>
                <a:spcAft>
                  <a:spcPts val="0"/>
                </a:spcAft>
                <a:buNone/>
              </a:pPr>
              <a:r>
                <a:rPr lang="es">
                  <a:solidFill>
                    <a:srgbClr val="CC7BF4"/>
                  </a:solidFill>
                </a:rPr>
                <a:t>const</a:t>
              </a:r>
              <a:r>
                <a:rPr lang="es">
                  <a:solidFill>
                    <a:schemeClr val="dk2"/>
                  </a:solidFill>
                </a:rPr>
                <a:t> </a:t>
              </a:r>
              <a:r>
                <a:rPr lang="es">
                  <a:solidFill>
                    <a:schemeClr val="lt1"/>
                  </a:solidFill>
                </a:rPr>
                <a:t>prisma =</a:t>
              </a:r>
              <a:r>
                <a:rPr lang="es">
                  <a:solidFill>
                    <a:schemeClr val="dk2"/>
                  </a:solidFill>
                </a:rPr>
                <a:t> </a:t>
              </a:r>
              <a:r>
                <a:rPr lang="es">
                  <a:solidFill>
                    <a:srgbClr val="CC7BF4"/>
                  </a:solidFill>
                </a:rPr>
                <a:t>new</a:t>
              </a:r>
              <a:r>
                <a:rPr lang="es">
                  <a:solidFill>
                    <a:schemeClr val="dk2"/>
                  </a:solidFill>
                </a:rPr>
                <a:t> </a:t>
              </a:r>
              <a:r>
                <a:rPr lang="es">
                  <a:solidFill>
                    <a:srgbClr val="70B8FF"/>
                  </a:solidFill>
                </a:rPr>
                <a:t>PrismaClient</a:t>
              </a:r>
              <a:r>
                <a:rPr lang="es">
                  <a:solidFill>
                    <a:schemeClr val="lt1"/>
                  </a:solidFill>
                </a:rPr>
                <a:t>()</a:t>
              </a:r>
              <a:r>
                <a:rPr lang="es">
                  <a:solidFill>
                    <a:schemeClr val="dk2"/>
                  </a:solidFill>
                </a:rPr>
                <a:t> </a:t>
              </a:r>
              <a:endParaRPr>
                <a:solidFill>
                  <a:schemeClr val="dk2"/>
                </a:solidFill>
              </a:endParaRPr>
            </a:p>
            <a:p>
              <a:pPr indent="0" lvl="0" marL="0" rtl="0" algn="l">
                <a:lnSpc>
                  <a:spcPct val="150000"/>
                </a:lnSpc>
                <a:spcBef>
                  <a:spcPts val="0"/>
                </a:spcBef>
                <a:spcAft>
                  <a:spcPts val="0"/>
                </a:spcAft>
                <a:buNone/>
              </a:pPr>
              <a:r>
                <a:t/>
              </a:r>
              <a:endParaRPr>
                <a:solidFill>
                  <a:schemeClr val="dk2"/>
                </a:solidFill>
              </a:endParaRPr>
            </a:p>
            <a:p>
              <a:pPr indent="0" lvl="0" marL="0" rtl="0" algn="l">
                <a:lnSpc>
                  <a:spcPct val="150000"/>
                </a:lnSpc>
                <a:spcBef>
                  <a:spcPts val="0"/>
                </a:spcBef>
                <a:spcAft>
                  <a:spcPts val="0"/>
                </a:spcAft>
                <a:buNone/>
              </a:pPr>
              <a:r>
                <a:rPr lang="es">
                  <a:solidFill>
                    <a:srgbClr val="CC7BF4"/>
                  </a:solidFill>
                </a:rPr>
                <a:t>const</a:t>
              </a:r>
              <a:r>
                <a:rPr lang="es">
                  <a:solidFill>
                    <a:schemeClr val="dk2"/>
                  </a:solidFill>
                </a:rPr>
                <a:t> </a:t>
              </a:r>
              <a:r>
                <a:rPr lang="es">
                  <a:solidFill>
                    <a:schemeClr val="lt1"/>
                  </a:solidFill>
                </a:rPr>
                <a:t>user = </a:t>
              </a:r>
              <a:r>
                <a:rPr lang="es">
                  <a:solidFill>
                    <a:srgbClr val="CC7BF4"/>
                  </a:solidFill>
                </a:rPr>
                <a:t>await</a:t>
              </a:r>
              <a:r>
                <a:rPr lang="es">
                  <a:solidFill>
                    <a:schemeClr val="dk2"/>
                  </a:solidFill>
                </a:rPr>
                <a:t> </a:t>
              </a:r>
              <a:r>
                <a:rPr lang="es">
                  <a:solidFill>
                    <a:schemeClr val="lt1"/>
                  </a:solidFill>
                </a:rPr>
                <a:t>prisma.user.</a:t>
              </a:r>
              <a:r>
                <a:rPr lang="es">
                  <a:solidFill>
                    <a:srgbClr val="70B8FF"/>
                  </a:solidFill>
                </a:rPr>
                <a:t>findUnique</a:t>
              </a:r>
              <a:r>
                <a:rPr lang="es">
                  <a:solidFill>
                    <a:schemeClr val="lt1"/>
                  </a:solidFill>
                </a:rPr>
                <a:t>({</a:t>
              </a:r>
              <a:r>
                <a:rPr lang="es">
                  <a:solidFill>
                    <a:schemeClr val="dk2"/>
                  </a:solidFill>
                </a:rPr>
                <a:t> </a:t>
              </a:r>
              <a:endParaRPr>
                <a:solidFill>
                  <a:schemeClr val="dk2"/>
                </a:solidFill>
              </a:endParaRPr>
            </a:p>
            <a:p>
              <a:pPr indent="457200" lvl="0" marL="0" rtl="0" algn="l">
                <a:lnSpc>
                  <a:spcPct val="150000"/>
                </a:lnSpc>
                <a:spcBef>
                  <a:spcPts val="0"/>
                </a:spcBef>
                <a:spcAft>
                  <a:spcPts val="0"/>
                </a:spcAft>
                <a:buNone/>
              </a:pPr>
              <a:r>
                <a:rPr lang="es">
                  <a:solidFill>
                    <a:srgbClr val="F47B85"/>
                  </a:solidFill>
                </a:rPr>
                <a:t>where</a:t>
              </a:r>
              <a:r>
                <a:rPr lang="es">
                  <a:solidFill>
                    <a:schemeClr val="lt1"/>
                  </a:solidFill>
                </a:rPr>
                <a:t>: {</a:t>
              </a:r>
              <a:r>
                <a:rPr lang="es">
                  <a:solidFill>
                    <a:schemeClr val="dk2"/>
                  </a:solidFill>
                </a:rPr>
                <a:t> </a:t>
              </a:r>
              <a:r>
                <a:rPr lang="es">
                  <a:solidFill>
                    <a:srgbClr val="F47B85"/>
                  </a:solidFill>
                </a:rPr>
                <a:t>email</a:t>
              </a:r>
              <a:r>
                <a:rPr lang="es">
                  <a:solidFill>
                    <a:schemeClr val="lt1"/>
                  </a:solidFill>
                </a:rPr>
                <a:t>:</a:t>
              </a:r>
              <a:r>
                <a:rPr lang="es">
                  <a:solidFill>
                    <a:schemeClr val="dk2"/>
                  </a:solidFill>
                </a:rPr>
                <a:t> </a:t>
              </a:r>
              <a:r>
                <a:rPr lang="es">
                  <a:solidFill>
                    <a:srgbClr val="9BE963"/>
                  </a:solidFill>
                </a:rPr>
                <a:t>"juan@mail.com"</a:t>
              </a:r>
              <a:r>
                <a:rPr lang="es">
                  <a:solidFill>
                    <a:schemeClr val="dk2"/>
                  </a:solidFill>
                </a:rPr>
                <a:t> </a:t>
              </a:r>
              <a:r>
                <a:rPr lang="es">
                  <a:solidFill>
                    <a:schemeClr val="lt1"/>
                  </a:solidFill>
                </a:rPr>
                <a:t>}</a:t>
              </a:r>
              <a:endParaRPr>
                <a:solidFill>
                  <a:schemeClr val="dk2"/>
                </a:solidFill>
              </a:endParaRPr>
            </a:p>
            <a:p>
              <a:pPr indent="0" lvl="0" marL="0" rtl="0" algn="l">
                <a:lnSpc>
                  <a:spcPct val="150000"/>
                </a:lnSpc>
                <a:spcBef>
                  <a:spcPts val="0"/>
                </a:spcBef>
                <a:spcAft>
                  <a:spcPts val="0"/>
                </a:spcAft>
                <a:buNone/>
              </a:pPr>
              <a:r>
                <a:rPr lang="es">
                  <a:solidFill>
                    <a:schemeClr val="lt1"/>
                  </a:solidFill>
                </a:rPr>
                <a:t>})</a:t>
              </a:r>
              <a:r>
                <a:rPr lang="es">
                  <a:solidFill>
                    <a:schemeClr val="dk2"/>
                  </a:solidFill>
                </a:rPr>
                <a:t> </a:t>
              </a:r>
              <a:endParaRPr b="1" sz="26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grpSp>
      <p:sp>
        <p:nvSpPr>
          <p:cNvPr id="489" name="Google Shape;489;p50"/>
          <p:cNvSpPr txBox="1"/>
          <p:nvPr/>
        </p:nvSpPr>
        <p:spPr>
          <a:xfrm>
            <a:off x="263450" y="1128538"/>
            <a:ext cx="8477400" cy="523800"/>
          </a:xfrm>
          <a:prstGeom prst="rect">
            <a:avLst/>
          </a:prstGeom>
          <a:solidFill>
            <a:srgbClr val="14191F"/>
          </a:solidFill>
          <a:ln>
            <a:noFill/>
          </a:ln>
        </p:spPr>
        <p:txBody>
          <a:bodyPr anchorCtr="0" anchor="ctr" bIns="0" lIns="0" spcFirstLastPara="1" rIns="0" wrap="square" tIns="0">
            <a:noAutofit/>
          </a:bodyPr>
          <a:lstStyle/>
          <a:p>
            <a:pPr indent="0" lvl="0" marL="0" rtl="0" algn="ctr">
              <a:spcBef>
                <a:spcPts val="0"/>
              </a:spcBef>
              <a:spcAft>
                <a:spcPts val="0"/>
              </a:spcAft>
              <a:buNone/>
            </a:pPr>
            <a:r>
              <a:rPr lang="es" sz="1475">
                <a:solidFill>
                  <a:srgbClr val="FFFFFF"/>
                </a:solidFill>
                <a:latin typeface="Source Sans Pro"/>
                <a:ea typeface="Source Sans Pro"/>
                <a:cs typeface="Source Sans Pro"/>
                <a:sym typeface="Source Sans Pro"/>
              </a:rPr>
              <a:t>Se define el modelo en schema.prisma</a:t>
            </a:r>
            <a:r>
              <a:rPr lang="es" sz="1475">
                <a:solidFill>
                  <a:srgbClr val="FFFFFF"/>
                </a:solidFill>
                <a:latin typeface="Source Sans Pro"/>
                <a:ea typeface="Source Sans Pro"/>
                <a:cs typeface="Source Sans Pro"/>
                <a:sym typeface="Source Sans Pro"/>
              </a:rPr>
              <a:t>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Se ejecuta </a:t>
            </a:r>
            <a:r>
              <a:rPr lang="es" sz="1475">
                <a:solidFill>
                  <a:srgbClr val="FFFFFF"/>
                </a:solidFill>
                <a:latin typeface="Source Sans Pro"/>
                <a:ea typeface="Source Sans Pro"/>
                <a:cs typeface="Source Sans Pro"/>
                <a:sym typeface="Source Sans Pro"/>
              </a:rPr>
              <a:t>prisma generate</a:t>
            </a:r>
            <a:r>
              <a:rPr lang="es" sz="1475">
                <a:solidFill>
                  <a:srgbClr val="FFFFFF"/>
                </a:solidFill>
                <a:latin typeface="Source Sans Pro"/>
                <a:ea typeface="Source Sans Pro"/>
                <a:cs typeface="Source Sans Pro"/>
                <a:sym typeface="Source Sans Pro"/>
              </a:rPr>
              <a:t>  </a:t>
            </a:r>
            <a:br>
              <a:rPr lang="es" sz="1475">
                <a:solidFill>
                  <a:srgbClr val="FFFFFF"/>
                </a:solidFill>
                <a:latin typeface="Source Sans Pro"/>
                <a:ea typeface="Source Sans Pro"/>
                <a:cs typeface="Source Sans Pro"/>
                <a:sym typeface="Source Sans Pro"/>
              </a:rPr>
            </a:b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a:t>
            </a:r>
            <a:r>
              <a:rPr lang="es" sz="1475">
                <a:solidFill>
                  <a:srgbClr val="FFFFFF"/>
                </a:solidFill>
                <a:latin typeface="Source Sans Pro"/>
                <a:ea typeface="Source Sans Pro"/>
                <a:cs typeface="Source Sans Pro"/>
                <a:sym typeface="Source Sans Pro"/>
              </a:rPr>
              <a:t>Prisma produce el código del cliente </a:t>
            </a:r>
            <a:r>
              <a:rPr lang="es" sz="1475">
                <a:solidFill>
                  <a:srgbClr val="FFFFFF"/>
                </a:solidFill>
                <a:latin typeface="Source Sans Pro"/>
                <a:ea typeface="Source Sans Pro"/>
                <a:cs typeface="Source Sans Pro"/>
                <a:sym typeface="Source Sans Pro"/>
              </a:rPr>
              <a:t>  </a:t>
            </a:r>
            <a:r>
              <a:rPr lang="es" sz="1475">
                <a:solidFill>
                  <a:srgbClr val="6178F2"/>
                </a:solidFill>
                <a:latin typeface="Source Sans Pro"/>
                <a:ea typeface="Source Sans Pro"/>
                <a:cs typeface="Source Sans Pro"/>
                <a:sym typeface="Source Sans Pro"/>
              </a:rPr>
              <a:t>→</a:t>
            </a:r>
            <a:r>
              <a:rPr lang="es" sz="1475">
                <a:solidFill>
                  <a:srgbClr val="FFFFFF"/>
                </a:solidFill>
                <a:latin typeface="Source Sans Pro"/>
                <a:ea typeface="Source Sans Pro"/>
                <a:cs typeface="Source Sans Pro"/>
                <a:sym typeface="Source Sans Pro"/>
              </a:rPr>
              <a:t>  Se </a:t>
            </a:r>
            <a:r>
              <a:rPr lang="es" sz="1475">
                <a:solidFill>
                  <a:srgbClr val="FFFFFF"/>
                </a:solidFill>
                <a:latin typeface="Source Sans Pro"/>
                <a:ea typeface="Source Sans Pro"/>
                <a:cs typeface="Source Sans Pro"/>
                <a:sym typeface="Source Sans Pro"/>
              </a:rPr>
              <a:t>Importa y usa el cliente en la aplicación </a:t>
            </a:r>
            <a:endParaRPr sz="1475">
              <a:solidFill>
                <a:srgbClr val="FFFFFF"/>
              </a:solidFill>
              <a:latin typeface="Source Sans Pro"/>
              <a:ea typeface="Source Sans Pro"/>
              <a:cs typeface="Source Sans Pro"/>
              <a:sym typeface="Source Sans Pr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93" name="Shape 493"/>
        <p:cNvGrpSpPr/>
        <p:nvPr/>
      </p:nvGrpSpPr>
      <p:grpSpPr>
        <a:xfrm>
          <a:off x="0" y="0"/>
          <a:ext cx="0" cy="0"/>
          <a:chOff x="0" y="0"/>
          <a:chExt cx="0" cy="0"/>
        </a:xfrm>
      </p:grpSpPr>
      <p:sp>
        <p:nvSpPr>
          <p:cNvPr id="494" name="Google Shape;494;p51"/>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495" name="Google Shape;495;p51"/>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PRISMA MIGRATE</a:t>
            </a:r>
            <a:endParaRPr b="1" sz="3100">
              <a:solidFill>
                <a:srgbClr val="6178F2"/>
              </a:solidFill>
              <a:latin typeface="Source Sans Pro"/>
              <a:ea typeface="Source Sans Pro"/>
              <a:cs typeface="Source Sans Pro"/>
              <a:sym typeface="Source Sans Pro"/>
            </a:endParaRPr>
          </a:p>
        </p:txBody>
      </p:sp>
      <p:pic>
        <p:nvPicPr>
          <p:cNvPr id="496" name="Google Shape;496;p51"/>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497" name="Google Shape;497;p51"/>
          <p:cNvGrpSpPr/>
          <p:nvPr/>
        </p:nvGrpSpPr>
        <p:grpSpPr>
          <a:xfrm>
            <a:off x="263450" y="1329700"/>
            <a:ext cx="8750065" cy="3545829"/>
            <a:chOff x="263439" y="1143008"/>
            <a:chExt cx="8642893" cy="3003667"/>
          </a:xfrm>
        </p:grpSpPr>
        <p:sp>
          <p:nvSpPr>
            <p:cNvPr id="498" name="Google Shape;498;p51"/>
            <p:cNvSpPr/>
            <p:nvPr/>
          </p:nvSpPr>
          <p:spPr>
            <a:xfrm>
              <a:off x="263439" y="1146375"/>
              <a:ext cx="29202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51"/>
            <p:cNvSpPr/>
            <p:nvPr/>
          </p:nvSpPr>
          <p:spPr>
            <a:xfrm>
              <a:off x="3321741" y="1143050"/>
              <a:ext cx="2231400" cy="10308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51"/>
            <p:cNvSpPr txBox="1"/>
            <p:nvPr/>
          </p:nvSpPr>
          <p:spPr>
            <a:xfrm>
              <a:off x="333372" y="1238243"/>
              <a:ext cx="27549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600">
                  <a:solidFill>
                    <a:srgbClr val="6178F2"/>
                  </a:solidFill>
                  <a:latin typeface="Source Sans Pro"/>
                  <a:ea typeface="Source Sans Pro"/>
                  <a:cs typeface="Source Sans Pro"/>
                  <a:sym typeface="Source Sans Pro"/>
                </a:rPr>
                <a:t>Al modificar el schema.prisma:</a:t>
              </a:r>
              <a:endParaRPr b="1" sz="1600">
                <a:solidFill>
                  <a:srgbClr val="6178F2"/>
                </a:solidFill>
                <a:latin typeface="Source Sans Pro"/>
                <a:ea typeface="Source Sans Pro"/>
                <a:cs typeface="Source Sans Pro"/>
                <a:sym typeface="Source Sans Pro"/>
              </a:endParaRPr>
            </a:p>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Compara el estado actual del schema con la base de datos.</a:t>
              </a:r>
              <a:endParaRPr sz="1600">
                <a:solidFill>
                  <a:schemeClr val="lt1"/>
                </a:solidFill>
                <a:latin typeface="Source Sans Pro"/>
                <a:ea typeface="Source Sans Pro"/>
                <a:cs typeface="Source Sans Pro"/>
                <a:sym typeface="Source Sans Pro"/>
              </a:endParaRPr>
            </a:p>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Genera un archivo SQL de migración versionado.</a:t>
              </a:r>
              <a:endParaRPr sz="1600">
                <a:solidFill>
                  <a:schemeClr val="lt1"/>
                </a:solidFill>
                <a:latin typeface="Source Sans Pro"/>
                <a:ea typeface="Source Sans Pro"/>
                <a:cs typeface="Source Sans Pro"/>
                <a:sym typeface="Source Sans Pro"/>
              </a:endParaRPr>
            </a:p>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Lo aplica.</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t/>
              </a:r>
              <a:endParaRPr sz="1600">
                <a:solidFill>
                  <a:schemeClr val="lt1"/>
                </a:solidFill>
                <a:latin typeface="Source Sans Pro"/>
                <a:ea typeface="Source Sans Pro"/>
                <a:cs typeface="Source Sans Pro"/>
                <a:sym typeface="Source Sans Pro"/>
              </a:endParaRPr>
            </a:p>
          </p:txBody>
        </p:sp>
        <p:sp>
          <p:nvSpPr>
            <p:cNvPr id="501" name="Google Shape;501;p51"/>
            <p:cNvSpPr txBox="1"/>
            <p:nvPr/>
          </p:nvSpPr>
          <p:spPr>
            <a:xfrm>
              <a:off x="3435604" y="1241631"/>
              <a:ext cx="2004600" cy="870900"/>
            </a:xfrm>
            <a:prstGeom prst="rect">
              <a:avLst/>
            </a:prstGeom>
            <a:solidFill>
              <a:srgbClr val="14191F"/>
            </a:solidFill>
            <a:ln>
              <a:noFill/>
            </a:ln>
          </p:spPr>
          <p:txBody>
            <a:bodyPr anchorCtr="0" anchor="t" bIns="0" lIns="0" spcFirstLastPara="1" rIns="0" wrap="square" tIns="0">
              <a:noAutofit/>
            </a:bodyPr>
            <a:lstStyle/>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Reproducibilidad.</a:t>
              </a:r>
              <a:endParaRPr sz="1600">
                <a:solidFill>
                  <a:schemeClr val="lt1"/>
                </a:solidFill>
                <a:latin typeface="Source Sans Pro"/>
                <a:ea typeface="Source Sans Pro"/>
                <a:cs typeface="Source Sans Pro"/>
                <a:sym typeface="Source Sans Pro"/>
              </a:endParaRPr>
            </a:p>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Historial auditable.</a:t>
              </a:r>
              <a:endParaRPr sz="1600">
                <a:solidFill>
                  <a:schemeClr val="lt1"/>
                </a:solidFill>
                <a:latin typeface="Source Sans Pro"/>
                <a:ea typeface="Source Sans Pro"/>
                <a:cs typeface="Source Sans Pro"/>
                <a:sym typeface="Source Sans Pro"/>
              </a:endParaRPr>
            </a:p>
            <a:p>
              <a:pPr indent="-196850" lvl="0" marL="269999" rtl="0" algn="l">
                <a:lnSpc>
                  <a:spcPct val="150000"/>
                </a:lnSpc>
                <a:spcBef>
                  <a:spcPts val="0"/>
                </a:spcBef>
                <a:spcAft>
                  <a:spcPts val="0"/>
                </a:spcAft>
                <a:buClr>
                  <a:srgbClr val="6178F2"/>
                </a:buClr>
                <a:buSzPts val="1600"/>
                <a:buFont typeface="Source Sans Pro"/>
                <a:buAutoNum type="arabicPeriod"/>
              </a:pPr>
              <a:r>
                <a:rPr lang="es" sz="1600">
                  <a:solidFill>
                    <a:schemeClr val="lt1"/>
                  </a:solidFill>
                  <a:latin typeface="Source Sans Pro"/>
                  <a:ea typeface="Source Sans Pro"/>
                  <a:cs typeface="Source Sans Pro"/>
                  <a:sym typeface="Source Sans Pro"/>
                </a:rPr>
                <a:t>Rollback controlado.</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600"/>
                </a:spcAft>
                <a:buNone/>
              </a:pPr>
              <a:r>
                <a:t/>
              </a:r>
              <a:endParaRPr sz="1600">
                <a:solidFill>
                  <a:schemeClr val="lt1"/>
                </a:solidFill>
                <a:latin typeface="Source Sans Pro"/>
                <a:ea typeface="Source Sans Pro"/>
                <a:cs typeface="Source Sans Pro"/>
                <a:sym typeface="Source Sans Pro"/>
              </a:endParaRPr>
            </a:p>
          </p:txBody>
        </p:sp>
        <p:sp>
          <p:nvSpPr>
            <p:cNvPr id="502" name="Google Shape;502;p51"/>
            <p:cNvSpPr/>
            <p:nvPr/>
          </p:nvSpPr>
          <p:spPr>
            <a:xfrm>
              <a:off x="5687332" y="1143008"/>
              <a:ext cx="32190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51"/>
            <p:cNvSpPr txBox="1"/>
            <p:nvPr/>
          </p:nvSpPr>
          <p:spPr>
            <a:xfrm>
              <a:off x="5850460" y="1238243"/>
              <a:ext cx="29202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EJEMPLO CÓDIGO:</a:t>
              </a:r>
              <a:endParaRPr b="1" sz="175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Clr>
                  <a:schemeClr val="dk2"/>
                </a:buClr>
                <a:buSzPts val="1100"/>
                <a:buFont typeface="Arial"/>
                <a:buNone/>
              </a:pPr>
              <a:r>
                <a:rPr lang="es" sz="1700">
                  <a:solidFill>
                    <a:srgbClr val="CC7BF4"/>
                  </a:solidFill>
                </a:rPr>
                <a:t>model</a:t>
              </a:r>
              <a:r>
                <a:rPr lang="es" sz="1700">
                  <a:solidFill>
                    <a:schemeClr val="dk2"/>
                  </a:solidFill>
                </a:rPr>
                <a:t> </a:t>
              </a:r>
              <a:r>
                <a:rPr lang="es" sz="1700">
                  <a:solidFill>
                    <a:srgbClr val="FBAD60"/>
                  </a:solidFill>
                </a:rPr>
                <a:t>User</a:t>
              </a:r>
              <a:r>
                <a:rPr lang="es" sz="1700">
                  <a:solidFill>
                    <a:schemeClr val="dk2"/>
                  </a:solidFill>
                </a:rPr>
                <a:t> </a:t>
              </a:r>
              <a:r>
                <a:rPr lang="es" sz="1700">
                  <a:solidFill>
                    <a:schemeClr val="lt1"/>
                  </a:solidFill>
                </a:rPr>
                <a:t>{</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Clr>
                  <a:schemeClr val="dk2"/>
                </a:buClr>
                <a:buSzPts val="1100"/>
                <a:buFont typeface="Arial"/>
                <a:buNone/>
              </a:pPr>
              <a:r>
                <a:rPr lang="es" sz="1700">
                  <a:solidFill>
                    <a:schemeClr val="lt1"/>
                  </a:solidFill>
                </a:rPr>
                <a:t>id </a:t>
              </a:r>
              <a:r>
                <a:rPr lang="es" sz="1700">
                  <a:solidFill>
                    <a:srgbClr val="FBAD60"/>
                  </a:solidFill>
                </a:rPr>
                <a:t>Int</a:t>
              </a:r>
              <a:r>
                <a:rPr lang="es" sz="1700">
                  <a:solidFill>
                    <a:schemeClr val="dk2"/>
                  </a:solidFill>
                </a:rPr>
                <a:t> </a:t>
              </a:r>
              <a:r>
                <a:rPr lang="es" sz="1700">
                  <a:solidFill>
                    <a:srgbClr val="70B8FF"/>
                  </a:solidFill>
                </a:rPr>
                <a:t>@id</a:t>
              </a:r>
              <a:r>
                <a:rPr lang="es" sz="1700">
                  <a:solidFill>
                    <a:schemeClr val="dk2"/>
                  </a:solidFill>
                </a:rPr>
                <a:t> </a:t>
              </a:r>
              <a:r>
                <a:rPr lang="es" sz="1700">
                  <a:solidFill>
                    <a:srgbClr val="70B8FF"/>
                  </a:solidFill>
                </a:rPr>
                <a:t>@default</a:t>
              </a:r>
              <a:r>
                <a:rPr lang="es" sz="1700">
                  <a:solidFill>
                    <a:schemeClr val="lt1"/>
                  </a:solidFill>
                </a:rPr>
                <a:t>(</a:t>
              </a:r>
              <a:r>
                <a:rPr lang="es" sz="1700">
                  <a:solidFill>
                    <a:srgbClr val="70B8FF"/>
                  </a:solidFill>
                </a:rPr>
                <a:t>autoincrement</a:t>
              </a:r>
              <a:r>
                <a:rPr lang="es" sz="1700">
                  <a:solidFill>
                    <a:schemeClr val="lt1"/>
                  </a:solidFill>
                </a:rPr>
                <a:t>())</a:t>
              </a:r>
              <a:endParaRPr sz="1700">
                <a:solidFill>
                  <a:schemeClr val="dk2"/>
                </a:solidFill>
              </a:endParaRPr>
            </a:p>
            <a:p>
              <a:pPr indent="0" lvl="0" marL="0" rtl="0" algn="l">
                <a:lnSpc>
                  <a:spcPct val="150000"/>
                </a:lnSpc>
                <a:spcBef>
                  <a:spcPts val="0"/>
                </a:spcBef>
                <a:spcAft>
                  <a:spcPts val="0"/>
                </a:spcAft>
                <a:buNone/>
              </a:pPr>
              <a:r>
                <a:rPr lang="es" sz="1700">
                  <a:solidFill>
                    <a:schemeClr val="lt1"/>
                  </a:solidFill>
                </a:rPr>
                <a:t>email </a:t>
              </a:r>
              <a:r>
                <a:rPr lang="es" sz="1700">
                  <a:solidFill>
                    <a:srgbClr val="FBAD60"/>
                  </a:solidFill>
                </a:rPr>
                <a:t>String</a:t>
              </a:r>
              <a:r>
                <a:rPr lang="es" sz="1700">
                  <a:solidFill>
                    <a:schemeClr val="dk2"/>
                  </a:solidFill>
                </a:rPr>
                <a:t> </a:t>
              </a:r>
              <a:r>
                <a:rPr lang="es" sz="1700">
                  <a:solidFill>
                    <a:srgbClr val="70B8FF"/>
                  </a:solidFill>
                </a:rPr>
                <a:t>@unique</a:t>
              </a:r>
              <a:endParaRPr sz="1700">
                <a:solidFill>
                  <a:srgbClr val="70B8FF"/>
                </a:solidFill>
              </a:endParaRPr>
            </a:p>
            <a:p>
              <a:pPr indent="0" lvl="0" marL="0" rtl="0" algn="l">
                <a:lnSpc>
                  <a:spcPct val="150000"/>
                </a:lnSpc>
                <a:spcBef>
                  <a:spcPts val="0"/>
                </a:spcBef>
                <a:spcAft>
                  <a:spcPts val="0"/>
                </a:spcAft>
                <a:buClr>
                  <a:schemeClr val="dk2"/>
                </a:buClr>
                <a:buSzPts val="1100"/>
                <a:buFont typeface="Arial"/>
                <a:buNone/>
              </a:pPr>
              <a:r>
                <a:rPr lang="es" sz="1700">
                  <a:solidFill>
                    <a:schemeClr val="lt1"/>
                  </a:solidFill>
                </a:rPr>
                <a:t>name</a:t>
              </a:r>
              <a:r>
                <a:rPr lang="es" sz="1700">
                  <a:solidFill>
                    <a:schemeClr val="dk2"/>
                  </a:solidFill>
                </a:rPr>
                <a:t> </a:t>
              </a:r>
              <a:r>
                <a:rPr lang="es" sz="1700">
                  <a:solidFill>
                    <a:srgbClr val="FBAD60"/>
                  </a:solidFill>
                </a:rPr>
                <a:t>String</a:t>
              </a:r>
              <a:r>
                <a:rPr lang="es" sz="1700">
                  <a:solidFill>
                    <a:schemeClr val="lt1"/>
                  </a:solidFill>
                </a:rPr>
                <a:t>?</a:t>
              </a:r>
              <a:r>
                <a:rPr lang="es" sz="1700">
                  <a:solidFill>
                    <a:schemeClr val="dk2"/>
                  </a:solidFill>
                </a:rPr>
                <a:t> </a:t>
              </a:r>
              <a:r>
                <a:rPr lang="es" sz="1700">
                  <a:solidFill>
                    <a:srgbClr val="818898"/>
                  </a:solidFill>
                </a:rPr>
                <a:t>// campo nuevo</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Clr>
                  <a:schemeClr val="dk2"/>
                </a:buClr>
                <a:buSzPts val="1100"/>
                <a:buFont typeface="Arial"/>
                <a:buNone/>
              </a:pPr>
              <a:r>
                <a:rPr lang="es" sz="1700">
                  <a:solidFill>
                    <a:schemeClr val="lt1"/>
                  </a:solidFill>
                </a:rPr>
                <a:t>posts </a:t>
              </a:r>
              <a:r>
                <a:rPr lang="es" sz="1700">
                  <a:solidFill>
                    <a:srgbClr val="CC7BF4"/>
                  </a:solidFill>
                </a:rPr>
                <a:t>Post </a:t>
              </a:r>
              <a:r>
                <a:rPr lang="es" sz="1700">
                  <a:solidFill>
                    <a:schemeClr val="lt1"/>
                  </a:solidFill>
                </a:rPr>
                <a:t>[ ]</a:t>
              </a:r>
              <a:r>
                <a:rPr lang="es" sz="1700">
                  <a:solidFill>
                    <a:schemeClr val="dk2"/>
                  </a:solidFill>
                </a:rPr>
                <a:t> </a:t>
              </a:r>
              <a:endParaRPr sz="1700">
                <a:solidFill>
                  <a:schemeClr val="dk2"/>
                </a:solidFill>
              </a:endParaRPr>
            </a:p>
            <a:p>
              <a:pPr indent="0" lvl="0" marL="0" rtl="0" algn="l">
                <a:lnSpc>
                  <a:spcPct val="150000"/>
                </a:lnSpc>
                <a:spcBef>
                  <a:spcPts val="0"/>
                </a:spcBef>
                <a:spcAft>
                  <a:spcPts val="0"/>
                </a:spcAft>
                <a:buClr>
                  <a:schemeClr val="dk2"/>
                </a:buClr>
                <a:buSzPts val="1100"/>
                <a:buFont typeface="Arial"/>
                <a:buNone/>
              </a:pPr>
              <a:r>
                <a:rPr lang="es" sz="1700">
                  <a:solidFill>
                    <a:schemeClr val="lt1"/>
                  </a:solidFill>
                </a:rPr>
                <a:t>} </a:t>
              </a:r>
              <a:endParaRPr>
                <a:solidFill>
                  <a:srgbClr val="CC7BF4"/>
                </a:solidFill>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grpSp>
      <p:sp>
        <p:nvSpPr>
          <p:cNvPr id="504" name="Google Shape;504;p51"/>
          <p:cNvSpPr/>
          <p:nvPr/>
        </p:nvSpPr>
        <p:spPr>
          <a:xfrm>
            <a:off x="3361200" y="2670775"/>
            <a:ext cx="2259000" cy="22047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51"/>
          <p:cNvSpPr txBox="1"/>
          <p:nvPr/>
        </p:nvSpPr>
        <p:spPr>
          <a:xfrm>
            <a:off x="3475950" y="2821675"/>
            <a:ext cx="2029500" cy="17916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El archivo contiene el SQL explícito.</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600">
                <a:solidFill>
                  <a:schemeClr val="lt1"/>
                </a:solidFill>
                <a:latin typeface="Source Sans Pro"/>
                <a:ea typeface="Source Sans Pro"/>
                <a:cs typeface="Source Sans Pro"/>
                <a:sym typeface="Source Sans Pro"/>
              </a:rPr>
              <a:t>Prisma aplica automáticamente esa migración a la BD</a:t>
            </a:r>
            <a:endParaRPr b="1"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lang="es" sz="1600">
                <a:solidFill>
                  <a:schemeClr val="lt1"/>
                </a:solidFill>
                <a:latin typeface="Source Sans Pro"/>
                <a:ea typeface="Source Sans Pro"/>
                <a:cs typeface="Source Sans Pro"/>
                <a:sym typeface="Source Sans Pro"/>
              </a:rPr>
              <a:t>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600"/>
              </a:spcAft>
              <a:buNone/>
            </a:pPr>
            <a:r>
              <a:t/>
            </a:r>
            <a:endParaRPr sz="1600">
              <a:solidFill>
                <a:schemeClr val="lt1"/>
              </a:solidFill>
              <a:latin typeface="Source Sans Pro"/>
              <a:ea typeface="Source Sans Pro"/>
              <a:cs typeface="Source Sans Pro"/>
              <a:sym typeface="Source Sans Pr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09" name="Shape 509"/>
        <p:cNvGrpSpPr/>
        <p:nvPr/>
      </p:nvGrpSpPr>
      <p:grpSpPr>
        <a:xfrm>
          <a:off x="0" y="0"/>
          <a:ext cx="0" cy="0"/>
          <a:chOff x="0" y="0"/>
          <a:chExt cx="0" cy="0"/>
        </a:xfrm>
      </p:grpSpPr>
      <p:sp>
        <p:nvSpPr>
          <p:cNvPr id="510" name="Google Shape;510;p52"/>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11" name="Google Shape;511;p52"/>
          <p:cNvSpPr/>
          <p:nvPr/>
        </p:nvSpPr>
        <p:spPr>
          <a:xfrm>
            <a:off x="2221700" y="215700"/>
            <a:ext cx="45609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100">
                <a:solidFill>
                  <a:srgbClr val="6178F2"/>
                </a:solidFill>
                <a:latin typeface="Source Sans Pro"/>
                <a:ea typeface="Source Sans Pro"/>
                <a:cs typeface="Source Sans Pro"/>
                <a:sym typeface="Source Sans Pro"/>
              </a:rPr>
              <a:t>MANEJO DE RELACIONES</a:t>
            </a:r>
            <a:endParaRPr b="1" sz="3100">
              <a:solidFill>
                <a:srgbClr val="6178F2"/>
              </a:solidFill>
              <a:latin typeface="Source Sans Pro"/>
              <a:ea typeface="Source Sans Pro"/>
              <a:cs typeface="Source Sans Pro"/>
              <a:sym typeface="Source Sans Pro"/>
            </a:endParaRPr>
          </a:p>
        </p:txBody>
      </p:sp>
      <p:pic>
        <p:nvPicPr>
          <p:cNvPr id="512" name="Google Shape;512;p52"/>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513" name="Google Shape;513;p52"/>
          <p:cNvGrpSpPr/>
          <p:nvPr/>
        </p:nvGrpSpPr>
        <p:grpSpPr>
          <a:xfrm>
            <a:off x="263450" y="1463426"/>
            <a:ext cx="8750003" cy="3228943"/>
            <a:chOff x="263439" y="1143012"/>
            <a:chExt cx="8642832" cy="3003668"/>
          </a:xfrm>
        </p:grpSpPr>
        <p:sp>
          <p:nvSpPr>
            <p:cNvPr id="514" name="Google Shape;514;p52"/>
            <p:cNvSpPr/>
            <p:nvPr/>
          </p:nvSpPr>
          <p:spPr>
            <a:xfrm>
              <a:off x="263439" y="1146380"/>
              <a:ext cx="22782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52"/>
            <p:cNvSpPr/>
            <p:nvPr/>
          </p:nvSpPr>
          <p:spPr>
            <a:xfrm>
              <a:off x="2701063" y="1143018"/>
              <a:ext cx="23238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52"/>
            <p:cNvSpPr txBox="1"/>
            <p:nvPr/>
          </p:nvSpPr>
          <p:spPr>
            <a:xfrm>
              <a:off x="393699" y="1238246"/>
              <a:ext cx="20760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600">
                  <a:solidFill>
                    <a:schemeClr val="lt1"/>
                  </a:solidFill>
                  <a:latin typeface="Source Sans Pro"/>
                  <a:ea typeface="Source Sans Pro"/>
                  <a:cs typeface="Source Sans Pro"/>
                  <a:sym typeface="Source Sans Pro"/>
                </a:rPr>
                <a:t>Reconstruye automáticamente la estructura de objetos anidados.</a:t>
              </a:r>
              <a:endParaRPr b="1" sz="1600">
                <a:solidFill>
                  <a:schemeClr val="lt1"/>
                </a:solidFill>
                <a:latin typeface="Source Sans Pro"/>
                <a:ea typeface="Source Sans Pro"/>
                <a:cs typeface="Source Sans Pro"/>
                <a:sym typeface="Source Sans Pro"/>
              </a:endParaRPr>
            </a:p>
          </p:txBody>
        </p:sp>
        <p:sp>
          <p:nvSpPr>
            <p:cNvPr id="517" name="Google Shape;517;p52"/>
            <p:cNvSpPr txBox="1"/>
            <p:nvPr/>
          </p:nvSpPr>
          <p:spPr>
            <a:xfrm>
              <a:off x="2795145" y="1241638"/>
              <a:ext cx="21828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Filtrado de relaciones </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600"/>
                </a:spcAft>
                <a:buNone/>
              </a:pPr>
              <a:r>
                <a:rPr b="1" lang="es" sz="1600">
                  <a:solidFill>
                    <a:schemeClr val="lt1"/>
                  </a:solidFill>
                  <a:latin typeface="Source Sans Pro"/>
                  <a:ea typeface="Source Sans Pro"/>
                  <a:cs typeface="Source Sans Pro"/>
                  <a:sym typeface="Source Sans Pro"/>
                </a:rPr>
                <a:t>Se pueden cargar relaciones anidadas, filtrarlas y ordenarlas. </a:t>
              </a:r>
              <a:endParaRPr sz="1600">
                <a:solidFill>
                  <a:schemeClr val="lt1"/>
                </a:solidFill>
                <a:latin typeface="Source Sans Pro"/>
                <a:ea typeface="Source Sans Pro"/>
                <a:cs typeface="Source Sans Pro"/>
                <a:sym typeface="Source Sans Pro"/>
              </a:endParaRPr>
            </a:p>
          </p:txBody>
        </p:sp>
        <p:sp>
          <p:nvSpPr>
            <p:cNvPr id="518" name="Google Shape;518;p52"/>
            <p:cNvSpPr/>
            <p:nvPr/>
          </p:nvSpPr>
          <p:spPr>
            <a:xfrm>
              <a:off x="5184170" y="1143012"/>
              <a:ext cx="37221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52"/>
            <p:cNvSpPr txBox="1"/>
            <p:nvPr/>
          </p:nvSpPr>
          <p:spPr>
            <a:xfrm>
              <a:off x="5256128" y="1238264"/>
              <a:ext cx="36501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800">
                  <a:solidFill>
                    <a:srgbClr val="6178F2"/>
                  </a:solidFill>
                  <a:latin typeface="Source Sans Pro"/>
                  <a:ea typeface="Source Sans Pro"/>
                  <a:cs typeface="Source Sans Pro"/>
                  <a:sym typeface="Source Sans Pro"/>
                </a:rPr>
                <a:t>EJEMPLO CÓDIGO:</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sz="1800">
                  <a:solidFill>
                    <a:srgbClr val="CC7BF4"/>
                  </a:solidFill>
                </a:rPr>
                <a:t>const</a:t>
              </a:r>
              <a:r>
                <a:rPr lang="es" sz="1800">
                  <a:solidFill>
                    <a:schemeClr val="dk2"/>
                  </a:solidFill>
                </a:rPr>
                <a:t> </a:t>
              </a:r>
              <a:r>
                <a:rPr lang="es" sz="1800">
                  <a:solidFill>
                    <a:schemeClr val="lt1"/>
                  </a:solidFill>
                </a:rPr>
                <a:t>user =</a:t>
              </a:r>
              <a:r>
                <a:rPr lang="es" sz="1800">
                  <a:solidFill>
                    <a:schemeClr val="dk2"/>
                  </a:solidFill>
                </a:rPr>
                <a:t> </a:t>
              </a:r>
              <a:r>
                <a:rPr lang="es" sz="1800">
                  <a:solidFill>
                    <a:srgbClr val="CC7BF4"/>
                  </a:solidFill>
                </a:rPr>
                <a:t>await</a:t>
              </a:r>
              <a:r>
                <a:rPr lang="es" sz="1800">
                  <a:solidFill>
                    <a:schemeClr val="dk2"/>
                  </a:solidFill>
                </a:rPr>
                <a:t> </a:t>
              </a:r>
              <a:r>
                <a:rPr lang="es" sz="1800">
                  <a:solidFill>
                    <a:schemeClr val="lt1"/>
                  </a:solidFill>
                </a:rPr>
                <a:t>prisma.user.</a:t>
              </a:r>
              <a:r>
                <a:rPr lang="es" sz="1800">
                  <a:solidFill>
                    <a:srgbClr val="70B8FF"/>
                  </a:solidFill>
                </a:rPr>
                <a:t>findUnique</a:t>
              </a:r>
              <a:r>
                <a:rPr lang="es" sz="1800">
                  <a:solidFill>
                    <a:schemeClr val="lt1"/>
                  </a:solidFill>
                </a:rPr>
                <a:t>({</a:t>
              </a:r>
              <a:r>
                <a:rPr lang="es" sz="1800">
                  <a:solidFill>
                    <a:schemeClr val="dk2"/>
                  </a:solidFill>
                </a:rPr>
                <a:t> </a:t>
              </a:r>
              <a:endParaRPr sz="1800">
                <a:solidFill>
                  <a:schemeClr val="dk2"/>
                </a:solidFill>
              </a:endParaRPr>
            </a:p>
            <a:p>
              <a:pPr indent="457200" lvl="0" marL="0" rtl="0" algn="l">
                <a:lnSpc>
                  <a:spcPct val="150000"/>
                </a:lnSpc>
                <a:spcBef>
                  <a:spcPts val="0"/>
                </a:spcBef>
                <a:spcAft>
                  <a:spcPts val="0"/>
                </a:spcAft>
                <a:buNone/>
              </a:pPr>
              <a:r>
                <a:rPr lang="es" sz="1800">
                  <a:solidFill>
                    <a:srgbClr val="F47B85"/>
                  </a:solidFill>
                </a:rPr>
                <a:t>where</a:t>
              </a:r>
              <a:r>
                <a:rPr lang="es" sz="1800">
                  <a:solidFill>
                    <a:schemeClr val="lt1"/>
                  </a:solidFill>
                </a:rPr>
                <a:t>: {</a:t>
              </a:r>
              <a:r>
                <a:rPr lang="es" sz="1800">
                  <a:solidFill>
                    <a:schemeClr val="dk2"/>
                  </a:solidFill>
                </a:rPr>
                <a:t> </a:t>
              </a:r>
              <a:r>
                <a:rPr lang="es" sz="1800">
                  <a:solidFill>
                    <a:srgbClr val="F47B85"/>
                  </a:solidFill>
                </a:rPr>
                <a:t>id</a:t>
              </a:r>
              <a:r>
                <a:rPr lang="es" sz="1800">
                  <a:solidFill>
                    <a:srgbClr val="D3D7DE"/>
                  </a:solidFill>
                </a:rPr>
                <a:t>:</a:t>
              </a:r>
              <a:r>
                <a:rPr lang="es" sz="1800">
                  <a:solidFill>
                    <a:schemeClr val="dk2"/>
                  </a:solidFill>
                </a:rPr>
                <a:t> </a:t>
              </a:r>
              <a:r>
                <a:rPr lang="es" sz="1800">
                  <a:solidFill>
                    <a:srgbClr val="5EEDED"/>
                  </a:solidFill>
                </a:rPr>
                <a:t>1</a:t>
              </a:r>
              <a:r>
                <a:rPr lang="es" sz="1800">
                  <a:solidFill>
                    <a:schemeClr val="dk2"/>
                  </a:solidFill>
                </a:rPr>
                <a:t> </a:t>
              </a:r>
              <a:r>
                <a:rPr lang="es" sz="1800">
                  <a:solidFill>
                    <a:schemeClr val="lt1"/>
                  </a:solidFill>
                </a:rPr>
                <a:t>},</a:t>
              </a:r>
              <a:r>
                <a:rPr lang="es" sz="1800">
                  <a:solidFill>
                    <a:schemeClr val="dk2"/>
                  </a:solidFill>
                </a:rPr>
                <a:t> </a:t>
              </a:r>
              <a:endParaRPr sz="1800">
                <a:solidFill>
                  <a:schemeClr val="dk2"/>
                </a:solidFill>
              </a:endParaRPr>
            </a:p>
            <a:p>
              <a:pPr indent="0" lvl="0" marL="457200" rtl="0" algn="l">
                <a:lnSpc>
                  <a:spcPct val="150000"/>
                </a:lnSpc>
                <a:spcBef>
                  <a:spcPts val="0"/>
                </a:spcBef>
                <a:spcAft>
                  <a:spcPts val="0"/>
                </a:spcAft>
                <a:buNone/>
              </a:pPr>
              <a:r>
                <a:rPr lang="es" sz="1800">
                  <a:solidFill>
                    <a:srgbClr val="F47B85"/>
                  </a:solidFill>
                </a:rPr>
                <a:t>include</a:t>
              </a:r>
              <a:r>
                <a:rPr lang="es" sz="1800">
                  <a:solidFill>
                    <a:schemeClr val="lt1"/>
                  </a:solidFill>
                </a:rPr>
                <a:t>: {</a:t>
              </a:r>
              <a:r>
                <a:rPr lang="es" sz="1800">
                  <a:solidFill>
                    <a:schemeClr val="dk2"/>
                  </a:solidFill>
                </a:rPr>
                <a:t> </a:t>
              </a:r>
              <a:r>
                <a:rPr lang="es" sz="1800">
                  <a:solidFill>
                    <a:srgbClr val="F47B85"/>
                  </a:solidFill>
                </a:rPr>
                <a:t>posts</a:t>
              </a:r>
              <a:r>
                <a:rPr lang="es" sz="1800">
                  <a:solidFill>
                    <a:srgbClr val="D3D7DE"/>
                  </a:solidFill>
                </a:rPr>
                <a:t>:</a:t>
              </a:r>
              <a:r>
                <a:rPr lang="es" sz="1800">
                  <a:solidFill>
                    <a:schemeClr val="dk2"/>
                  </a:solidFill>
                </a:rPr>
                <a:t> </a:t>
              </a:r>
              <a:r>
                <a:rPr lang="es" sz="1800">
                  <a:solidFill>
                    <a:srgbClr val="5EEDED"/>
                  </a:solidFill>
                </a:rPr>
                <a:t>true</a:t>
              </a:r>
              <a:r>
                <a:rPr lang="es" sz="1800">
                  <a:solidFill>
                    <a:schemeClr val="dk2"/>
                  </a:solidFill>
                </a:rPr>
                <a:t> </a:t>
              </a:r>
              <a:r>
                <a:rPr lang="es" sz="1800">
                  <a:solidFill>
                    <a:schemeClr val="lt1"/>
                  </a:solidFill>
                </a:rPr>
                <a:t>}</a:t>
              </a:r>
              <a:endParaRPr sz="1800">
                <a:solidFill>
                  <a:schemeClr val="lt1"/>
                </a:solidFill>
              </a:endParaRPr>
            </a:p>
            <a:p>
              <a:pPr indent="0" lvl="0" marL="0" rtl="0" algn="l">
                <a:lnSpc>
                  <a:spcPct val="150000"/>
                </a:lnSpc>
                <a:spcBef>
                  <a:spcPts val="0"/>
                </a:spcBef>
                <a:spcAft>
                  <a:spcPts val="0"/>
                </a:spcAft>
                <a:buNone/>
              </a:pPr>
              <a:r>
                <a:rPr lang="es" sz="1800">
                  <a:solidFill>
                    <a:schemeClr val="lt1"/>
                  </a:solidFill>
                </a:rPr>
                <a:t>})</a:t>
              </a:r>
              <a:r>
                <a:rPr lang="es" sz="1800">
                  <a:solidFill>
                    <a:schemeClr val="dk2"/>
                  </a:solidFill>
                </a:rPr>
                <a:t>  </a:t>
              </a:r>
              <a:endParaRPr b="1" sz="18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23" name="Shape 523"/>
        <p:cNvGrpSpPr/>
        <p:nvPr/>
      </p:nvGrpSpPr>
      <p:grpSpPr>
        <a:xfrm>
          <a:off x="0" y="0"/>
          <a:ext cx="0" cy="0"/>
          <a:chOff x="0" y="0"/>
          <a:chExt cx="0" cy="0"/>
        </a:xfrm>
      </p:grpSpPr>
      <p:sp>
        <p:nvSpPr>
          <p:cNvPr id="524" name="Google Shape;524;p53"/>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25" name="Google Shape;525;p53"/>
          <p:cNvSpPr/>
          <p:nvPr/>
        </p:nvSpPr>
        <p:spPr>
          <a:xfrm>
            <a:off x="1239800" y="128325"/>
            <a:ext cx="7134900" cy="7347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COMPATIBILIDAD MULTI</a:t>
            </a:r>
            <a:r>
              <a:rPr b="1" lang="es" sz="3100">
                <a:solidFill>
                  <a:srgbClr val="6178F2"/>
                </a:solidFill>
                <a:latin typeface="Source Sans Pro"/>
                <a:ea typeface="Source Sans Pro"/>
                <a:cs typeface="Source Sans Pro"/>
                <a:sym typeface="Source Sans Pro"/>
              </a:rPr>
              <a:t>-</a:t>
            </a:r>
            <a:r>
              <a:rPr b="1" lang="es" sz="3100">
                <a:solidFill>
                  <a:srgbClr val="6178F2"/>
                </a:solidFill>
                <a:latin typeface="Source Sans Pro"/>
                <a:ea typeface="Source Sans Pro"/>
                <a:cs typeface="Source Sans Pro"/>
                <a:sym typeface="Source Sans Pro"/>
              </a:rPr>
              <a:t>BASE DE DATOS</a:t>
            </a:r>
            <a:endParaRPr b="1" sz="3100">
              <a:solidFill>
                <a:srgbClr val="6178F2"/>
              </a:solidFill>
              <a:latin typeface="Source Sans Pro"/>
              <a:ea typeface="Source Sans Pro"/>
              <a:cs typeface="Source Sans Pro"/>
              <a:sym typeface="Source Sans Pro"/>
            </a:endParaRPr>
          </a:p>
        </p:txBody>
      </p:sp>
      <p:pic>
        <p:nvPicPr>
          <p:cNvPr id="526" name="Google Shape;526;p53"/>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527" name="Google Shape;527;p53"/>
          <p:cNvGrpSpPr/>
          <p:nvPr/>
        </p:nvGrpSpPr>
        <p:grpSpPr>
          <a:xfrm>
            <a:off x="263450" y="1143050"/>
            <a:ext cx="8750003" cy="3678892"/>
            <a:chOff x="263439" y="1143009"/>
            <a:chExt cx="8642832" cy="3003668"/>
          </a:xfrm>
        </p:grpSpPr>
        <p:sp>
          <p:nvSpPr>
            <p:cNvPr id="528" name="Google Shape;528;p53"/>
            <p:cNvSpPr/>
            <p:nvPr/>
          </p:nvSpPr>
          <p:spPr>
            <a:xfrm>
              <a:off x="263439" y="1146377"/>
              <a:ext cx="25323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53"/>
            <p:cNvSpPr/>
            <p:nvPr/>
          </p:nvSpPr>
          <p:spPr>
            <a:xfrm>
              <a:off x="2955336" y="1143009"/>
              <a:ext cx="2069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53"/>
            <p:cNvSpPr txBox="1"/>
            <p:nvPr/>
          </p:nvSpPr>
          <p:spPr>
            <a:xfrm>
              <a:off x="333372" y="1238269"/>
              <a:ext cx="2390700" cy="2809800"/>
            </a:xfrm>
            <a:prstGeom prst="rect">
              <a:avLst/>
            </a:prstGeom>
            <a:solidFill>
              <a:srgbClr val="14191F"/>
            </a:solidFill>
            <a:ln>
              <a:noFill/>
            </a:ln>
          </p:spPr>
          <p:txBody>
            <a:bodyPr anchorCtr="0" anchor="t" bIns="0" lIns="0" spcFirstLastPara="1" rIns="0" wrap="square" tIns="0">
              <a:noAutofit/>
            </a:bodyPr>
            <a:lstStyle/>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PostgreSQL</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MySQL</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MariaDB</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SQLite</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SQL Server</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CockroachDB</a:t>
              </a:r>
              <a:endParaRPr sz="1800">
                <a:solidFill>
                  <a:srgbClr val="FFFFFF"/>
                </a:solidFill>
                <a:latin typeface="Source Sans Pro"/>
                <a:ea typeface="Source Sans Pro"/>
                <a:cs typeface="Source Sans Pro"/>
                <a:sym typeface="Source Sans Pro"/>
              </a:endParaRPr>
            </a:p>
            <a:p>
              <a:pPr indent="-30480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MongoDB como motor NoSQL </a:t>
              </a:r>
              <a:endParaRPr sz="1800">
                <a:solidFill>
                  <a:schemeClr val="lt1"/>
                </a:solidFill>
                <a:latin typeface="Source Sans Pro"/>
                <a:ea typeface="Source Sans Pro"/>
                <a:cs typeface="Source Sans Pro"/>
                <a:sym typeface="Source Sans Pro"/>
              </a:endParaRPr>
            </a:p>
          </p:txBody>
        </p:sp>
        <p:sp>
          <p:nvSpPr>
            <p:cNvPr id="531" name="Google Shape;531;p53"/>
            <p:cNvSpPr txBox="1"/>
            <p:nvPr/>
          </p:nvSpPr>
          <p:spPr>
            <a:xfrm>
              <a:off x="3024193" y="1241637"/>
              <a:ext cx="19536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100"/>
                <a:buFont typeface="Arial"/>
                <a:buNone/>
              </a:pPr>
              <a:r>
                <a:rPr b="1" lang="es" sz="2000">
                  <a:solidFill>
                    <a:srgbClr val="6178F2"/>
                  </a:solidFill>
                  <a:latin typeface="Source Sans Pro"/>
                  <a:ea typeface="Source Sans Pro"/>
                  <a:cs typeface="Source Sans Pro"/>
                  <a:sym typeface="Source Sans Pro"/>
                </a:rPr>
                <a:t>Configuración:</a:t>
              </a:r>
              <a:endParaRPr b="1" sz="20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600"/>
                </a:spcAft>
                <a:buClr>
                  <a:schemeClr val="dk2"/>
                </a:buClr>
                <a:buSzPts val="1100"/>
                <a:buFont typeface="Arial"/>
                <a:buNone/>
              </a:pPr>
              <a:r>
                <a:rPr lang="es" sz="1800">
                  <a:solidFill>
                    <a:schemeClr val="lt1"/>
                  </a:solidFill>
                  <a:latin typeface="Source Sans Pro"/>
                  <a:ea typeface="Source Sans Pro"/>
                  <a:cs typeface="Source Sans Pro"/>
                  <a:sym typeface="Source Sans Pro"/>
                </a:rPr>
                <a:t>Se define en un solo bloque (datasource) dentro del schema.</a:t>
              </a:r>
              <a:endParaRPr sz="2000">
                <a:solidFill>
                  <a:srgbClr val="FFFFFF"/>
                </a:solidFill>
                <a:latin typeface="Source Sans Pro"/>
                <a:ea typeface="Source Sans Pro"/>
                <a:cs typeface="Source Sans Pro"/>
                <a:sym typeface="Source Sans Pro"/>
              </a:endParaRPr>
            </a:p>
          </p:txBody>
        </p:sp>
        <p:sp>
          <p:nvSpPr>
            <p:cNvPr id="532" name="Google Shape;532;p53"/>
            <p:cNvSpPr/>
            <p:nvPr/>
          </p:nvSpPr>
          <p:spPr>
            <a:xfrm>
              <a:off x="5184170" y="1143012"/>
              <a:ext cx="37221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53"/>
            <p:cNvSpPr txBox="1"/>
            <p:nvPr/>
          </p:nvSpPr>
          <p:spPr>
            <a:xfrm>
              <a:off x="5245906" y="1238264"/>
              <a:ext cx="3650100" cy="2809800"/>
            </a:xfrm>
            <a:prstGeom prst="rect">
              <a:avLst/>
            </a:prstGeom>
            <a:solidFill>
              <a:srgbClr val="14191F"/>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750">
                  <a:solidFill>
                    <a:srgbClr val="6178F2"/>
                  </a:solidFill>
                  <a:latin typeface="Source Sans Pro"/>
                  <a:ea typeface="Source Sans Pro"/>
                  <a:cs typeface="Source Sans Pro"/>
                  <a:sym typeface="Source Sans Pro"/>
                </a:rPr>
                <a:t>EJEMPLO CÓDIGO:</a:t>
              </a:r>
              <a:endParaRPr b="1" sz="175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None/>
              </a:pPr>
              <a:r>
                <a:rPr lang="es" sz="1800">
                  <a:solidFill>
                    <a:srgbClr val="CC7BF4"/>
                  </a:solidFill>
                </a:rPr>
                <a:t>datasource</a:t>
              </a:r>
              <a:r>
                <a:rPr lang="es" sz="1800">
                  <a:solidFill>
                    <a:schemeClr val="dk2"/>
                  </a:solidFill>
                </a:rPr>
                <a:t> </a:t>
              </a:r>
              <a:r>
                <a:rPr lang="es" sz="1800">
                  <a:solidFill>
                    <a:srgbClr val="FBAD60"/>
                  </a:solidFill>
                </a:rPr>
                <a:t>db</a:t>
              </a:r>
              <a:r>
                <a:rPr lang="es" sz="1800">
                  <a:solidFill>
                    <a:schemeClr val="dk2"/>
                  </a:solidFill>
                </a:rPr>
                <a:t> </a:t>
              </a:r>
              <a:r>
                <a:rPr lang="es" sz="1800">
                  <a:solidFill>
                    <a:srgbClr val="D3D7DE"/>
                  </a:solidFill>
                </a:rPr>
                <a:t>{</a:t>
              </a:r>
              <a:r>
                <a:rPr lang="es" sz="1800">
                  <a:solidFill>
                    <a:schemeClr val="dk2"/>
                  </a:solidFill>
                </a:rPr>
                <a:t> </a:t>
              </a:r>
              <a:endParaRPr sz="1800">
                <a:solidFill>
                  <a:schemeClr val="dk2"/>
                </a:solidFill>
              </a:endParaRPr>
            </a:p>
            <a:p>
              <a:pPr indent="457200" lvl="0" marL="0" rtl="0" algn="l">
                <a:lnSpc>
                  <a:spcPct val="150000"/>
                </a:lnSpc>
                <a:spcBef>
                  <a:spcPts val="0"/>
                </a:spcBef>
                <a:spcAft>
                  <a:spcPts val="0"/>
                </a:spcAft>
                <a:buNone/>
              </a:pPr>
              <a:r>
                <a:rPr lang="es" sz="1800">
                  <a:solidFill>
                    <a:schemeClr val="lt1"/>
                  </a:solidFill>
                </a:rPr>
                <a:t>provider = </a:t>
              </a:r>
              <a:r>
                <a:rPr lang="es" sz="1800">
                  <a:solidFill>
                    <a:srgbClr val="9BE963"/>
                  </a:solidFill>
                </a:rPr>
                <a:t>"postgresql"</a:t>
              </a:r>
              <a:r>
                <a:rPr lang="es" sz="1800">
                  <a:solidFill>
                    <a:schemeClr val="dk2"/>
                  </a:solidFill>
                </a:rPr>
                <a:t> </a:t>
              </a:r>
              <a:endParaRPr sz="1800">
                <a:solidFill>
                  <a:schemeClr val="dk2"/>
                </a:solidFill>
              </a:endParaRPr>
            </a:p>
            <a:p>
              <a:pPr indent="457200" lvl="0" marL="0" rtl="0" algn="l">
                <a:lnSpc>
                  <a:spcPct val="150000"/>
                </a:lnSpc>
                <a:spcBef>
                  <a:spcPts val="0"/>
                </a:spcBef>
                <a:spcAft>
                  <a:spcPts val="0"/>
                </a:spcAft>
                <a:buNone/>
              </a:pPr>
              <a:r>
                <a:rPr lang="es" sz="1800">
                  <a:solidFill>
                    <a:schemeClr val="lt1"/>
                  </a:solidFill>
                </a:rPr>
                <a:t>url =	 </a:t>
              </a:r>
              <a:r>
                <a:rPr lang="es" sz="1800">
                  <a:solidFill>
                    <a:srgbClr val="70B8FF"/>
                  </a:solidFill>
                </a:rPr>
                <a:t>env</a:t>
              </a:r>
              <a:r>
                <a:rPr lang="es" sz="1800">
                  <a:solidFill>
                    <a:srgbClr val="D3D7DE"/>
                  </a:solidFill>
                </a:rPr>
                <a:t>(</a:t>
              </a:r>
              <a:r>
                <a:rPr lang="es" sz="1800">
                  <a:solidFill>
                    <a:srgbClr val="9BE963"/>
                  </a:solidFill>
                </a:rPr>
                <a:t>"DATABASE_URL"</a:t>
              </a:r>
              <a:r>
                <a:rPr lang="es" sz="1800">
                  <a:solidFill>
                    <a:srgbClr val="D3D7DE"/>
                  </a:solidFill>
                </a:rPr>
                <a:t>)</a:t>
              </a:r>
              <a:r>
                <a:rPr lang="es" sz="1800">
                  <a:solidFill>
                    <a:schemeClr val="dk2"/>
                  </a:solidFill>
                </a:rPr>
                <a:t> </a:t>
              </a:r>
              <a:endParaRPr sz="1800">
                <a:solidFill>
                  <a:schemeClr val="dk2"/>
                </a:solidFill>
              </a:endParaRPr>
            </a:p>
            <a:p>
              <a:pPr indent="0" lvl="0" marL="0" rtl="0" algn="l">
                <a:lnSpc>
                  <a:spcPct val="150000"/>
                </a:lnSpc>
                <a:spcBef>
                  <a:spcPts val="0"/>
                </a:spcBef>
                <a:spcAft>
                  <a:spcPts val="0"/>
                </a:spcAft>
                <a:buNone/>
              </a:pPr>
              <a:r>
                <a:rPr lang="es" sz="1800">
                  <a:solidFill>
                    <a:schemeClr val="lt1"/>
                  </a:solidFill>
                </a:rPr>
                <a:t>}</a:t>
              </a:r>
              <a:r>
                <a:rPr lang="es" sz="1800">
                  <a:solidFill>
                    <a:schemeClr val="dk2"/>
                  </a:solidFill>
                </a:rPr>
                <a:t> </a:t>
              </a:r>
              <a:endParaRPr b="1" sz="18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rgbClr val="FFFFFF"/>
                </a:solidFill>
                <a:latin typeface="Source Sans Pro"/>
                <a:ea typeface="Source Sans Pro"/>
                <a:cs typeface="Source Sans Pro"/>
                <a:sym typeface="Source Sans Pro"/>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7" name="Shape 537"/>
        <p:cNvGrpSpPr/>
        <p:nvPr/>
      </p:nvGrpSpPr>
      <p:grpSpPr>
        <a:xfrm>
          <a:off x="0" y="0"/>
          <a:ext cx="0" cy="0"/>
          <a:chOff x="0" y="0"/>
          <a:chExt cx="0" cy="0"/>
        </a:xfrm>
      </p:grpSpPr>
      <p:sp>
        <p:nvSpPr>
          <p:cNvPr id="538" name="Google Shape;538;p54"/>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39" name="Google Shape;539;p54"/>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QUERY ENGINE</a:t>
            </a:r>
            <a:r>
              <a:rPr b="1" lang="es" sz="3100">
                <a:solidFill>
                  <a:srgbClr val="6178F2"/>
                </a:solidFill>
                <a:latin typeface="Source Sans Pro"/>
                <a:ea typeface="Source Sans Pro"/>
                <a:cs typeface="Source Sans Pro"/>
                <a:sym typeface="Source Sans Pro"/>
              </a:rPr>
              <a:t> </a:t>
            </a:r>
            <a:endParaRPr b="1" sz="3100">
              <a:solidFill>
                <a:srgbClr val="6178F2"/>
              </a:solidFill>
              <a:latin typeface="Source Sans Pro"/>
              <a:ea typeface="Source Sans Pro"/>
              <a:cs typeface="Source Sans Pro"/>
              <a:sym typeface="Source Sans Pro"/>
            </a:endParaRPr>
          </a:p>
        </p:txBody>
      </p:sp>
      <p:pic>
        <p:nvPicPr>
          <p:cNvPr id="540" name="Google Shape;540;p54"/>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541" name="Google Shape;541;p54"/>
          <p:cNvGrpSpPr/>
          <p:nvPr/>
        </p:nvGrpSpPr>
        <p:grpSpPr>
          <a:xfrm>
            <a:off x="263458" y="1143048"/>
            <a:ext cx="8597600" cy="3678894"/>
            <a:chOff x="263439" y="1143012"/>
            <a:chExt cx="4761367" cy="3003669"/>
          </a:xfrm>
        </p:grpSpPr>
        <p:sp>
          <p:nvSpPr>
            <p:cNvPr id="542" name="Google Shape;542;p54"/>
            <p:cNvSpPr/>
            <p:nvPr/>
          </p:nvSpPr>
          <p:spPr>
            <a:xfrm>
              <a:off x="263439" y="1146381"/>
              <a:ext cx="20226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54"/>
            <p:cNvSpPr/>
            <p:nvPr/>
          </p:nvSpPr>
          <p:spPr>
            <a:xfrm>
              <a:off x="2445405" y="1143012"/>
              <a:ext cx="25794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54"/>
            <p:cNvSpPr txBox="1"/>
            <p:nvPr/>
          </p:nvSpPr>
          <p:spPr>
            <a:xfrm>
              <a:off x="333371" y="1238264"/>
              <a:ext cx="18807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Antes </a:t>
              </a:r>
              <a:endParaRPr b="1" sz="1800">
                <a:solidFill>
                  <a:srgbClr val="6178F2"/>
                </a:solidFill>
                <a:latin typeface="Source Sans Pro"/>
                <a:ea typeface="Source Sans Pro"/>
                <a:cs typeface="Source Sans Pro"/>
                <a:sym typeface="Source Sans Pro"/>
              </a:endParaRPr>
            </a:p>
            <a:p>
              <a:pPr indent="0" lvl="0" marL="0" rtl="0" algn="l">
                <a:lnSpc>
                  <a:spcPct val="150000"/>
                </a:lnSpc>
                <a:spcBef>
                  <a:spcPts val="600"/>
                </a:spcBef>
                <a:spcAft>
                  <a:spcPts val="0"/>
                </a:spcAft>
                <a:buClr>
                  <a:schemeClr val="dk2"/>
                </a:buClr>
                <a:buSzPts val="1100"/>
                <a:buFont typeface="Arial"/>
                <a:buNone/>
              </a:pPr>
              <a:r>
                <a:rPr lang="es" sz="1700">
                  <a:solidFill>
                    <a:srgbClr val="FFFFFF"/>
                  </a:solidFill>
                  <a:latin typeface="Source Sans Pro"/>
                  <a:ea typeface="Source Sans Pro"/>
                  <a:cs typeface="Source Sans Pro"/>
                  <a:sym typeface="Source Sans Pro"/>
                </a:rPr>
                <a:t>Query Engine escrito en rust que corría como proceso independiente.</a:t>
              </a:r>
              <a:endParaRPr sz="1700">
                <a:solidFill>
                  <a:srgbClr val="FFFFFF"/>
                </a:solidFill>
                <a:latin typeface="Source Sans Pro"/>
                <a:ea typeface="Source Sans Pro"/>
                <a:cs typeface="Source Sans Pro"/>
                <a:sym typeface="Source Sans Pro"/>
              </a:endParaRPr>
            </a:p>
            <a:p>
              <a:pPr indent="-298450" lvl="0" marL="360001" rtl="0" algn="l">
                <a:lnSpc>
                  <a:spcPct val="150000"/>
                </a:lnSpc>
                <a:spcBef>
                  <a:spcPts val="0"/>
                </a:spcBef>
                <a:spcAft>
                  <a:spcPts val="0"/>
                </a:spcAft>
                <a:buClr>
                  <a:srgbClr val="6178F2"/>
                </a:buClr>
                <a:buSzPts val="1700"/>
                <a:buFont typeface="Source Sans Pro"/>
                <a:buChar char="●"/>
              </a:pPr>
              <a:r>
                <a:rPr lang="es" sz="1700">
                  <a:solidFill>
                    <a:srgbClr val="FFFFFF"/>
                  </a:solidFill>
                  <a:latin typeface="Source Sans Pro"/>
                  <a:ea typeface="Source Sans Pro"/>
                  <a:cs typeface="Source Sans Pro"/>
                  <a:sym typeface="Source Sans Pro"/>
                </a:rPr>
                <a:t>Overhead.</a:t>
              </a:r>
              <a:endParaRPr sz="1700">
                <a:solidFill>
                  <a:srgbClr val="FFFFFF"/>
                </a:solidFill>
                <a:latin typeface="Source Sans Pro"/>
                <a:ea typeface="Source Sans Pro"/>
                <a:cs typeface="Source Sans Pro"/>
                <a:sym typeface="Source Sans Pro"/>
              </a:endParaRPr>
            </a:p>
            <a:p>
              <a:pPr indent="-298450" lvl="0" marL="360001" rtl="0" algn="l">
                <a:lnSpc>
                  <a:spcPct val="150000"/>
                </a:lnSpc>
                <a:spcBef>
                  <a:spcPts val="0"/>
                </a:spcBef>
                <a:spcAft>
                  <a:spcPts val="0"/>
                </a:spcAft>
                <a:buClr>
                  <a:srgbClr val="6178F2"/>
                </a:buClr>
                <a:buSzPts val="1700"/>
                <a:buFont typeface="Source Sans Pro"/>
                <a:buChar char="●"/>
              </a:pPr>
              <a:r>
                <a:rPr lang="es" sz="1700">
                  <a:solidFill>
                    <a:srgbClr val="FFFFFF"/>
                  </a:solidFill>
                  <a:latin typeface="Source Sans Pro"/>
                  <a:ea typeface="Source Sans Pro"/>
                  <a:cs typeface="Source Sans Pro"/>
                  <a:sym typeface="Source Sans Pro"/>
                </a:rPr>
                <a:t>Peso Grande (14 MB).</a:t>
              </a:r>
              <a:endParaRPr sz="1700">
                <a:solidFill>
                  <a:srgbClr val="FFFFFF"/>
                </a:solidFill>
                <a:latin typeface="Source Sans Pro"/>
                <a:ea typeface="Source Sans Pro"/>
                <a:cs typeface="Source Sans Pro"/>
                <a:sym typeface="Source Sans Pro"/>
              </a:endParaRPr>
            </a:p>
            <a:p>
              <a:pPr indent="-298450" lvl="0" marL="360001" rtl="0" algn="l">
                <a:lnSpc>
                  <a:spcPct val="150000"/>
                </a:lnSpc>
                <a:spcBef>
                  <a:spcPts val="0"/>
                </a:spcBef>
                <a:spcAft>
                  <a:spcPts val="0"/>
                </a:spcAft>
                <a:buClr>
                  <a:srgbClr val="6178F2"/>
                </a:buClr>
                <a:buSzPts val="1700"/>
                <a:buFont typeface="Source Sans Pro"/>
                <a:buChar char="●"/>
              </a:pPr>
              <a:r>
                <a:rPr lang="es" sz="1700">
                  <a:solidFill>
                    <a:srgbClr val="FFFFFF"/>
                  </a:solidFill>
                  <a:latin typeface="Source Sans Pro"/>
                  <a:ea typeface="Source Sans Pro"/>
                  <a:cs typeface="Source Sans Pro"/>
                  <a:sym typeface="Source Sans Pro"/>
                </a:rPr>
                <a:t>Peor rendimiento que el driver nativo.</a:t>
              </a:r>
              <a:endParaRPr sz="1700">
                <a:solidFill>
                  <a:srgbClr val="FFFFFF"/>
                </a:solidFill>
                <a:latin typeface="Source Sans Pro"/>
                <a:ea typeface="Source Sans Pro"/>
                <a:cs typeface="Source Sans Pro"/>
                <a:sym typeface="Source Sans Pro"/>
              </a:endParaRPr>
            </a:p>
          </p:txBody>
        </p:sp>
        <p:sp>
          <p:nvSpPr>
            <p:cNvPr id="545" name="Google Shape;545;p54"/>
            <p:cNvSpPr txBox="1"/>
            <p:nvPr/>
          </p:nvSpPr>
          <p:spPr>
            <a:xfrm>
              <a:off x="2498350" y="1241633"/>
              <a:ext cx="24795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1800">
                  <a:solidFill>
                    <a:srgbClr val="6178F2"/>
                  </a:solidFill>
                  <a:latin typeface="Source Sans Pro"/>
                  <a:ea typeface="Source Sans Pro"/>
                  <a:cs typeface="Source Sans Pro"/>
                  <a:sym typeface="Source Sans Pro"/>
                </a:rPr>
                <a:t>Ahora</a:t>
              </a:r>
              <a:r>
                <a:rPr b="1" lang="es" sz="1800">
                  <a:solidFill>
                    <a:srgbClr val="6178F2"/>
                  </a:solidFill>
                  <a:latin typeface="Source Sans Pro"/>
                  <a:ea typeface="Source Sans Pro"/>
                  <a:cs typeface="Source Sans Pro"/>
                  <a:sym typeface="Source Sans Pro"/>
                </a:rPr>
                <a:t> </a:t>
              </a:r>
              <a:endParaRPr b="1" sz="1800">
                <a:solidFill>
                  <a:srgbClr val="6178F2"/>
                </a:solidFill>
                <a:latin typeface="Source Sans Pro"/>
                <a:ea typeface="Source Sans Pro"/>
                <a:cs typeface="Source Sans Pro"/>
                <a:sym typeface="Source Sans Pro"/>
              </a:endParaRPr>
            </a:p>
            <a:p>
              <a:pPr indent="-209550" lvl="0" marL="360001" rtl="0" algn="l">
                <a:lnSpc>
                  <a:spcPct val="150000"/>
                </a:lnSpc>
                <a:spcBef>
                  <a:spcPts val="60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TypeScript puro.</a:t>
              </a:r>
              <a:endParaRPr sz="1800">
                <a:solidFill>
                  <a:srgbClr val="FFFFFF"/>
                </a:solidFill>
                <a:latin typeface="Source Sans Pro"/>
                <a:ea typeface="Source Sans Pro"/>
                <a:cs typeface="Source Sans Pro"/>
                <a:sym typeface="Source Sans Pro"/>
              </a:endParaRPr>
            </a:p>
            <a:p>
              <a:pPr indent="-20955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Peso reducido (100  KB).</a:t>
              </a:r>
              <a:endParaRPr sz="1800">
                <a:solidFill>
                  <a:srgbClr val="FFFFFF"/>
                </a:solidFill>
                <a:latin typeface="Source Sans Pro"/>
                <a:ea typeface="Source Sans Pro"/>
                <a:cs typeface="Source Sans Pro"/>
                <a:sym typeface="Source Sans Pro"/>
              </a:endParaRPr>
            </a:p>
            <a:p>
              <a:pPr indent="-209550" lvl="0" marL="360001" rtl="0" algn="l">
                <a:lnSpc>
                  <a:spcPct val="150000"/>
                </a:lnSpc>
                <a:spcBef>
                  <a:spcPts val="0"/>
                </a:spcBef>
                <a:spcAft>
                  <a:spcPts val="0"/>
                </a:spcAft>
                <a:buClr>
                  <a:srgbClr val="6178F2"/>
                </a:buClr>
                <a:buSzPts val="1800"/>
                <a:buFont typeface="Source Sans Pro"/>
                <a:buChar char="●"/>
              </a:pPr>
              <a:r>
                <a:rPr lang="es" sz="1800">
                  <a:solidFill>
                    <a:srgbClr val="FFFFFF"/>
                  </a:solidFill>
                  <a:latin typeface="Source Sans Pro"/>
                  <a:ea typeface="Source Sans Pro"/>
                  <a:cs typeface="Source Sans Pro"/>
                  <a:sym typeface="Source Sans Pro"/>
                </a:rPr>
                <a:t>90% del rendimiento del driver nativo. </a:t>
              </a:r>
              <a:endParaRPr sz="1800">
                <a:solidFill>
                  <a:srgbClr val="FFFFFF"/>
                </a:solidFill>
                <a:latin typeface="Source Sans Pro"/>
                <a:ea typeface="Source Sans Pro"/>
                <a:cs typeface="Source Sans Pro"/>
                <a:sym typeface="Source Sans Pro"/>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49" name="Shape 549"/>
        <p:cNvGrpSpPr/>
        <p:nvPr/>
      </p:nvGrpSpPr>
      <p:grpSpPr>
        <a:xfrm>
          <a:off x="0" y="0"/>
          <a:ext cx="0" cy="0"/>
          <a:chOff x="0" y="0"/>
          <a:chExt cx="0" cy="0"/>
        </a:xfrm>
      </p:grpSpPr>
      <p:sp>
        <p:nvSpPr>
          <p:cNvPr id="550" name="Google Shape;550;p55"/>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51" name="Google Shape;551;p55"/>
          <p:cNvSpPr/>
          <p:nvPr/>
        </p:nvSpPr>
        <p:spPr>
          <a:xfrm>
            <a:off x="2412375" y="215700"/>
            <a:ext cx="43194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Raw SQL </a:t>
            </a:r>
            <a:endParaRPr b="1" sz="3100">
              <a:solidFill>
                <a:srgbClr val="6178F2"/>
              </a:solidFill>
              <a:latin typeface="Source Sans Pro"/>
              <a:ea typeface="Source Sans Pro"/>
              <a:cs typeface="Source Sans Pro"/>
              <a:sym typeface="Source Sans Pro"/>
            </a:endParaRPr>
          </a:p>
        </p:txBody>
      </p:sp>
      <p:pic>
        <p:nvPicPr>
          <p:cNvPr id="552" name="Google Shape;552;p55"/>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553" name="Google Shape;553;p55"/>
          <p:cNvGrpSpPr/>
          <p:nvPr/>
        </p:nvGrpSpPr>
        <p:grpSpPr>
          <a:xfrm>
            <a:off x="263458" y="1143049"/>
            <a:ext cx="8597589" cy="3678893"/>
            <a:chOff x="263439" y="1143013"/>
            <a:chExt cx="4761361" cy="3003668"/>
          </a:xfrm>
        </p:grpSpPr>
        <p:sp>
          <p:nvSpPr>
            <p:cNvPr id="554" name="Google Shape;554;p55"/>
            <p:cNvSpPr/>
            <p:nvPr/>
          </p:nvSpPr>
          <p:spPr>
            <a:xfrm>
              <a:off x="263439" y="1146381"/>
              <a:ext cx="20226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55"/>
            <p:cNvSpPr/>
            <p:nvPr/>
          </p:nvSpPr>
          <p:spPr>
            <a:xfrm>
              <a:off x="2445400" y="1143013"/>
              <a:ext cx="2579400" cy="19851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55"/>
            <p:cNvSpPr txBox="1"/>
            <p:nvPr/>
          </p:nvSpPr>
          <p:spPr>
            <a:xfrm>
              <a:off x="333371" y="1238264"/>
              <a:ext cx="18807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Es posible ejecutar SQL crudo</a:t>
              </a:r>
              <a:r>
                <a:rPr b="1" lang="es" sz="2000">
                  <a:solidFill>
                    <a:schemeClr val="lt1"/>
                  </a:solidFill>
                  <a:latin typeface="Source Sans Pro"/>
                  <a:ea typeface="Source Sans Pro"/>
                  <a:cs typeface="Source Sans Pro"/>
                  <a:sym typeface="Source Sans Pro"/>
                </a:rPr>
                <a:t> </a:t>
              </a:r>
              <a:r>
                <a:rPr lang="es" sz="2000">
                  <a:solidFill>
                    <a:schemeClr val="lt1"/>
                  </a:solidFill>
                  <a:latin typeface="Source Sans Pro"/>
                  <a:ea typeface="Source Sans Pro"/>
                  <a:cs typeface="Source Sans Pro"/>
                  <a:sym typeface="Source Sans Pro"/>
                </a:rPr>
                <a:t>en caso de ser necesario.</a:t>
              </a:r>
              <a:endParaRPr sz="20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t/>
              </a:r>
              <a:endParaRPr b="1" sz="20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t/>
              </a:r>
              <a:endParaRPr b="1" sz="20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t/>
              </a:r>
              <a:endParaRPr b="1" sz="20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Por ejemplo</a:t>
              </a:r>
              <a:r>
                <a:rPr lang="es" sz="2000">
                  <a:solidFill>
                    <a:schemeClr val="lt1"/>
                  </a:solidFill>
                  <a:latin typeface="Source Sans Pro"/>
                  <a:ea typeface="Source Sans Pro"/>
                  <a:cs typeface="Source Sans Pro"/>
                  <a:sym typeface="Source Sans Pro"/>
                </a:rPr>
                <a:t>,</a:t>
              </a:r>
              <a:r>
                <a:rPr b="1" lang="es" sz="2000">
                  <a:solidFill>
                    <a:schemeClr val="lt1"/>
                  </a:solidFill>
                  <a:latin typeface="Source Sans Pro"/>
                  <a:ea typeface="Source Sans Pro"/>
                  <a:cs typeface="Source Sans Pro"/>
                  <a:sym typeface="Source Sans Pro"/>
                </a:rPr>
                <a:t> </a:t>
              </a:r>
              <a:r>
                <a:rPr lang="es" sz="2000">
                  <a:solidFill>
                    <a:schemeClr val="lt1"/>
                  </a:solidFill>
                  <a:latin typeface="Source Sans Pro"/>
                  <a:ea typeface="Source Sans Pro"/>
                  <a:cs typeface="Source Sans Pro"/>
                  <a:sym typeface="Source Sans Pro"/>
                </a:rPr>
                <a:t>al necesitar una función específica de un motor.</a:t>
              </a:r>
              <a:endParaRPr sz="2000">
                <a:solidFill>
                  <a:schemeClr val="lt1"/>
                </a:solidFill>
                <a:latin typeface="Source Sans Pro"/>
                <a:ea typeface="Source Sans Pro"/>
                <a:cs typeface="Source Sans Pro"/>
                <a:sym typeface="Source Sans Pro"/>
              </a:endParaRPr>
            </a:p>
          </p:txBody>
        </p:sp>
        <p:sp>
          <p:nvSpPr>
            <p:cNvPr id="557" name="Google Shape;557;p55"/>
            <p:cNvSpPr txBox="1"/>
            <p:nvPr/>
          </p:nvSpPr>
          <p:spPr>
            <a:xfrm>
              <a:off x="2498357" y="1241639"/>
              <a:ext cx="2479500" cy="18360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s" sz="1800">
                  <a:solidFill>
                    <a:srgbClr val="CC7BF4"/>
                  </a:solidFill>
                </a:rPr>
                <a:t>const</a:t>
              </a:r>
              <a:r>
                <a:rPr lang="es" sz="1800">
                  <a:solidFill>
                    <a:schemeClr val="dk2"/>
                  </a:solidFill>
                </a:rPr>
                <a:t> </a:t>
              </a:r>
              <a:r>
                <a:rPr lang="es" sz="1800">
                  <a:solidFill>
                    <a:schemeClr val="lt1"/>
                  </a:solidFill>
                </a:rPr>
                <a:t>result =</a:t>
              </a:r>
              <a:r>
                <a:rPr lang="es" sz="1800">
                  <a:solidFill>
                    <a:schemeClr val="dk2"/>
                  </a:solidFill>
                </a:rPr>
                <a:t> </a:t>
              </a:r>
              <a:r>
                <a:rPr lang="es" sz="1800">
                  <a:solidFill>
                    <a:srgbClr val="CC7BF4"/>
                  </a:solidFill>
                </a:rPr>
                <a:t>await</a:t>
              </a:r>
              <a:r>
                <a:rPr lang="es" sz="1800">
                  <a:solidFill>
                    <a:schemeClr val="dk2"/>
                  </a:solidFill>
                </a:rPr>
                <a:t> </a:t>
              </a:r>
              <a:r>
                <a:rPr lang="es" sz="1800">
                  <a:solidFill>
                    <a:schemeClr val="lt1"/>
                  </a:solidFill>
                </a:rPr>
                <a:t>prisma</a:t>
              </a:r>
              <a:r>
                <a:rPr lang="es" sz="1800">
                  <a:solidFill>
                    <a:srgbClr val="D3D7DE"/>
                  </a:solidFill>
                </a:rPr>
                <a:t>.</a:t>
              </a:r>
              <a:r>
                <a:rPr lang="es" sz="1800">
                  <a:solidFill>
                    <a:srgbClr val="70B8FF"/>
                  </a:solidFill>
                </a:rPr>
                <a:t>$queryRaw</a:t>
              </a:r>
              <a:endParaRPr sz="1800">
                <a:solidFill>
                  <a:srgbClr val="70B8FF"/>
                </a:solidFill>
              </a:endParaRPr>
            </a:p>
            <a:p>
              <a:pPr indent="0" lvl="0" marL="0" rtl="0" algn="l">
                <a:lnSpc>
                  <a:spcPct val="150000"/>
                </a:lnSpc>
                <a:spcBef>
                  <a:spcPts val="450"/>
                </a:spcBef>
                <a:spcAft>
                  <a:spcPts val="0"/>
                </a:spcAft>
                <a:buNone/>
              </a:pPr>
              <a:r>
                <a:rPr lang="es" sz="1600">
                  <a:solidFill>
                    <a:srgbClr val="9BE963"/>
                  </a:solidFill>
                </a:rPr>
                <a:t>`SELECT * FROM "User" WHERE age &gt; </a:t>
              </a:r>
              <a:r>
                <a:rPr lang="es" sz="1600">
                  <a:solidFill>
                    <a:srgbClr val="D3D7DE"/>
                  </a:solidFill>
                </a:rPr>
                <a:t>${</a:t>
              </a:r>
              <a:r>
                <a:rPr lang="es" sz="1600">
                  <a:solidFill>
                    <a:srgbClr val="5EEDED"/>
                  </a:solidFill>
                </a:rPr>
                <a:t>18</a:t>
              </a:r>
              <a:r>
                <a:rPr lang="es" sz="1600">
                  <a:solidFill>
                    <a:srgbClr val="D3D7DE"/>
                  </a:solidFill>
                </a:rPr>
                <a:t>}</a:t>
              </a:r>
              <a:r>
                <a:rPr lang="es" sz="1600">
                  <a:solidFill>
                    <a:schemeClr val="dk2"/>
                  </a:solidFill>
                </a:rPr>
                <a:t> </a:t>
              </a:r>
              <a:r>
                <a:rPr lang="es" sz="1600">
                  <a:solidFill>
                    <a:srgbClr val="9BE963"/>
                  </a:solidFill>
                </a:rPr>
                <a:t>`</a:t>
              </a:r>
              <a:r>
                <a:rPr lang="es" sz="1800">
                  <a:solidFill>
                    <a:srgbClr val="D3D7DE"/>
                  </a:solidFill>
                </a:rPr>
                <a:t>;</a:t>
              </a:r>
              <a:endParaRPr sz="1800">
                <a:solidFill>
                  <a:srgbClr val="D3D7DE"/>
                </a:solidFill>
              </a:endParaRPr>
            </a:p>
            <a:p>
              <a:pPr indent="0" lvl="0" marL="0" rtl="0" algn="l">
                <a:lnSpc>
                  <a:spcPct val="150000"/>
                </a:lnSpc>
                <a:spcBef>
                  <a:spcPts val="450"/>
                </a:spcBef>
                <a:spcAft>
                  <a:spcPts val="0"/>
                </a:spcAft>
                <a:buNone/>
              </a:pPr>
              <a:r>
                <a:rPr lang="es" sz="1800">
                  <a:solidFill>
                    <a:srgbClr val="CC7BF4"/>
                  </a:solidFill>
                </a:rPr>
                <a:t>await</a:t>
              </a:r>
              <a:r>
                <a:rPr lang="es" sz="1800">
                  <a:solidFill>
                    <a:schemeClr val="dk2"/>
                  </a:solidFill>
                </a:rPr>
                <a:t> </a:t>
              </a:r>
              <a:r>
                <a:rPr lang="es" sz="1800">
                  <a:solidFill>
                    <a:schemeClr val="lt1"/>
                  </a:solidFill>
                </a:rPr>
                <a:t>prisma</a:t>
              </a:r>
              <a:r>
                <a:rPr lang="es" sz="1800">
                  <a:solidFill>
                    <a:srgbClr val="D3D7DE"/>
                  </a:solidFill>
                </a:rPr>
                <a:t>.</a:t>
              </a:r>
              <a:r>
                <a:rPr lang="es" sz="1800">
                  <a:solidFill>
                    <a:srgbClr val="70B8FF"/>
                  </a:solidFill>
                </a:rPr>
                <a:t>$executeRaw</a:t>
              </a:r>
              <a:endParaRPr sz="1800">
                <a:solidFill>
                  <a:srgbClr val="70B8FF"/>
                </a:solidFill>
              </a:endParaRPr>
            </a:p>
            <a:p>
              <a:pPr indent="0" lvl="0" marL="0" rtl="0" algn="l">
                <a:lnSpc>
                  <a:spcPct val="150000"/>
                </a:lnSpc>
                <a:spcBef>
                  <a:spcPts val="450"/>
                </a:spcBef>
                <a:spcAft>
                  <a:spcPts val="0"/>
                </a:spcAft>
                <a:buNone/>
              </a:pPr>
              <a:r>
                <a:rPr lang="es" sz="1800">
                  <a:solidFill>
                    <a:srgbClr val="9BE963"/>
                  </a:solidFill>
                </a:rPr>
                <a:t>`UPDATE "User" SET activo = true </a:t>
              </a:r>
              <a:endParaRPr sz="1800">
                <a:solidFill>
                  <a:srgbClr val="9BE963"/>
                </a:solidFill>
              </a:endParaRPr>
            </a:p>
            <a:p>
              <a:pPr indent="0" lvl="0" marL="0" rtl="0" algn="l">
                <a:lnSpc>
                  <a:spcPct val="150000"/>
                </a:lnSpc>
                <a:spcBef>
                  <a:spcPts val="450"/>
                </a:spcBef>
                <a:spcAft>
                  <a:spcPts val="450"/>
                </a:spcAft>
                <a:buNone/>
              </a:pPr>
              <a:r>
                <a:rPr lang="es" sz="1800">
                  <a:solidFill>
                    <a:srgbClr val="9BE963"/>
                  </a:solidFill>
                </a:rPr>
                <a:t>WHERE "lastLogin" &gt; </a:t>
              </a:r>
              <a:r>
                <a:rPr lang="es" sz="1800">
                  <a:solidFill>
                    <a:srgbClr val="D3D7DE"/>
                  </a:solidFill>
                </a:rPr>
                <a:t>${</a:t>
              </a:r>
              <a:r>
                <a:rPr lang="es" sz="1800">
                  <a:solidFill>
                    <a:srgbClr val="9BE963"/>
                  </a:solidFill>
                </a:rPr>
                <a:t>fecha</a:t>
              </a:r>
              <a:r>
                <a:rPr lang="es" sz="1800">
                  <a:solidFill>
                    <a:srgbClr val="D3D7DE"/>
                  </a:solidFill>
                </a:rPr>
                <a:t>}</a:t>
              </a:r>
              <a:r>
                <a:rPr lang="es" sz="1800">
                  <a:solidFill>
                    <a:schemeClr val="dk2"/>
                  </a:solidFill>
                </a:rPr>
                <a:t> </a:t>
              </a:r>
              <a:r>
                <a:rPr lang="es" sz="1800">
                  <a:solidFill>
                    <a:srgbClr val="9BE963"/>
                  </a:solidFill>
                </a:rPr>
                <a:t>`</a:t>
              </a:r>
              <a:r>
                <a:rPr lang="es" sz="1800">
                  <a:solidFill>
                    <a:srgbClr val="D3D7DE"/>
                  </a:solidFill>
                </a:rPr>
                <a:t>;</a:t>
              </a:r>
              <a:r>
                <a:rPr lang="es" sz="1800">
                  <a:solidFill>
                    <a:schemeClr val="dk2"/>
                  </a:solidFill>
                </a:rPr>
                <a:t>  </a:t>
              </a:r>
              <a:r>
                <a:rPr lang="es" sz="1800">
                  <a:solidFill>
                    <a:srgbClr val="FFFFFF"/>
                  </a:solidFill>
                  <a:latin typeface="Source Sans Pro"/>
                  <a:ea typeface="Source Sans Pro"/>
                  <a:cs typeface="Source Sans Pro"/>
                  <a:sym typeface="Source Sans Pro"/>
                </a:rPr>
                <a:t> </a:t>
              </a:r>
              <a:endParaRPr sz="1800">
                <a:solidFill>
                  <a:srgbClr val="FFFFFF"/>
                </a:solidFill>
                <a:latin typeface="Source Sans Pro"/>
                <a:ea typeface="Source Sans Pro"/>
                <a:cs typeface="Source Sans Pro"/>
                <a:sym typeface="Source Sans Pro"/>
              </a:endParaRPr>
            </a:p>
          </p:txBody>
        </p:sp>
      </p:grpSp>
      <p:sp>
        <p:nvSpPr>
          <p:cNvPr id="558" name="Google Shape;558;p55"/>
          <p:cNvSpPr/>
          <p:nvPr/>
        </p:nvSpPr>
        <p:spPr>
          <a:xfrm>
            <a:off x="4196175" y="3700575"/>
            <a:ext cx="4665000" cy="10068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9" name="Google Shape;559;p55"/>
          <p:cNvSpPr txBox="1"/>
          <p:nvPr/>
        </p:nvSpPr>
        <p:spPr>
          <a:xfrm>
            <a:off x="4196175" y="3966825"/>
            <a:ext cx="4665000" cy="474300"/>
          </a:xfrm>
          <a:prstGeom prst="rect">
            <a:avLst/>
          </a:prstGeom>
          <a:solidFill>
            <a:srgbClr val="14191F"/>
          </a:solidFill>
          <a:ln>
            <a:noFill/>
          </a:ln>
        </p:spPr>
        <p:txBody>
          <a:bodyPr anchorCtr="0" anchor="t" bIns="0" lIns="0" spcFirstLastPara="1" rIns="0" wrap="square" tIns="0">
            <a:noAutofit/>
          </a:bodyPr>
          <a:lstStyle/>
          <a:p>
            <a:pPr indent="0" lvl="0" marL="0" rtl="0" algn="ctr">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Parametrización automática.</a:t>
            </a:r>
            <a:endParaRPr b="1" sz="2000">
              <a:solidFill>
                <a:srgbClr val="6178F2"/>
              </a:solidFill>
              <a:latin typeface="Source Sans Pro"/>
              <a:ea typeface="Source Sans Pro"/>
              <a:cs typeface="Source Sans Pro"/>
              <a:sym typeface="Source Sans Pr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63" name="Shape 563"/>
        <p:cNvGrpSpPr/>
        <p:nvPr/>
      </p:nvGrpSpPr>
      <p:grpSpPr>
        <a:xfrm>
          <a:off x="0" y="0"/>
          <a:ext cx="0" cy="0"/>
          <a:chOff x="0" y="0"/>
          <a:chExt cx="0" cy="0"/>
        </a:xfrm>
      </p:grpSpPr>
      <p:sp>
        <p:nvSpPr>
          <p:cNvPr id="564" name="Google Shape;564;p56"/>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65" name="Google Shape;565;p56"/>
          <p:cNvSpPr/>
          <p:nvPr/>
        </p:nvSpPr>
        <p:spPr>
          <a:xfrm>
            <a:off x="1792450" y="215700"/>
            <a:ext cx="58473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Compatibilidad Serverless / Edge </a:t>
            </a:r>
            <a:endParaRPr b="1" sz="3100">
              <a:solidFill>
                <a:srgbClr val="6178F2"/>
              </a:solidFill>
              <a:latin typeface="Source Sans Pro"/>
              <a:ea typeface="Source Sans Pro"/>
              <a:cs typeface="Source Sans Pro"/>
              <a:sym typeface="Source Sans Pro"/>
            </a:endParaRPr>
          </a:p>
        </p:txBody>
      </p:sp>
      <p:pic>
        <p:nvPicPr>
          <p:cNvPr id="566" name="Google Shape;566;p56"/>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567" name="Google Shape;567;p56"/>
          <p:cNvGrpSpPr/>
          <p:nvPr/>
        </p:nvGrpSpPr>
        <p:grpSpPr>
          <a:xfrm>
            <a:off x="263458" y="1143050"/>
            <a:ext cx="8597589" cy="3678892"/>
            <a:chOff x="263439" y="1143014"/>
            <a:chExt cx="4761361" cy="3003667"/>
          </a:xfrm>
        </p:grpSpPr>
        <p:sp>
          <p:nvSpPr>
            <p:cNvPr id="568" name="Google Shape;568;p56"/>
            <p:cNvSpPr/>
            <p:nvPr/>
          </p:nvSpPr>
          <p:spPr>
            <a:xfrm>
              <a:off x="263439" y="1146381"/>
              <a:ext cx="20226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56"/>
            <p:cNvSpPr/>
            <p:nvPr/>
          </p:nvSpPr>
          <p:spPr>
            <a:xfrm>
              <a:off x="2445400" y="1143014"/>
              <a:ext cx="2579400" cy="29049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56"/>
            <p:cNvSpPr txBox="1"/>
            <p:nvPr/>
          </p:nvSpPr>
          <p:spPr>
            <a:xfrm>
              <a:off x="333371" y="1238264"/>
              <a:ext cx="18807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Prisma Accelerate</a:t>
              </a:r>
              <a:r>
                <a:rPr b="1" lang="es" sz="2000">
                  <a:solidFill>
                    <a:schemeClr val="lt1"/>
                  </a:solidFill>
                  <a:latin typeface="Source Sans Pro"/>
                  <a:ea typeface="Source Sans Pro"/>
                  <a:cs typeface="Source Sans Pro"/>
                  <a:sym typeface="Source Sans Pro"/>
                </a:rPr>
                <a:t> </a:t>
              </a:r>
              <a:endParaRPr b="1" sz="20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800">
                  <a:solidFill>
                    <a:schemeClr val="lt1"/>
                  </a:solidFill>
                  <a:latin typeface="Source Sans Pro"/>
                  <a:ea typeface="Source Sans Pro"/>
                  <a:cs typeface="Source Sans Pro"/>
                  <a:sym typeface="Source Sans Pro"/>
                </a:rPr>
                <a:t>Servicio gestionado por Prisma.</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800">
                  <a:solidFill>
                    <a:schemeClr val="lt1"/>
                  </a:solidFill>
                  <a:latin typeface="Source Sans Pro"/>
                  <a:ea typeface="Source Sans Pro"/>
                  <a:cs typeface="Source Sans Pro"/>
                  <a:sym typeface="Source Sans Pro"/>
                </a:rPr>
                <a:t>Connection pooling externo.</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800">
                  <a:solidFill>
                    <a:schemeClr val="lt1"/>
                  </a:solidFill>
                  <a:latin typeface="Source Sans Pro"/>
                  <a:ea typeface="Source Sans Pro"/>
                  <a:cs typeface="Source Sans Pro"/>
                  <a:sym typeface="Source Sans Pro"/>
                </a:rPr>
                <a:t>Caché</a:t>
              </a:r>
              <a:r>
                <a:rPr b="1" lang="es" sz="1800">
                  <a:solidFill>
                    <a:schemeClr val="lt1"/>
                  </a:solidFill>
                  <a:latin typeface="Source Sans Pro"/>
                  <a:ea typeface="Source Sans Pro"/>
                  <a:cs typeface="Source Sans Pro"/>
                  <a:sym typeface="Source Sans Pro"/>
                </a:rPr>
                <a:t> de queries.</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0"/>
                </a:spcBef>
                <a:spcAft>
                  <a:spcPts val="0"/>
                </a:spcAft>
                <a:buNone/>
              </a:pPr>
              <a:r>
                <a:rPr b="1" lang="es" sz="1800">
                  <a:solidFill>
                    <a:schemeClr val="lt1"/>
                  </a:solidFill>
                  <a:latin typeface="Source Sans Pro"/>
                  <a:ea typeface="Source Sans Pro"/>
                  <a:cs typeface="Source Sans Pro"/>
                  <a:sym typeface="Source Sans Pro"/>
                </a:rPr>
                <a:t>Se descontinúa el 1/12/2026 — el pooling pasa a integrarse directamente en Prisma Postgres. </a:t>
              </a:r>
              <a:endParaRPr b="1" sz="1800">
                <a:solidFill>
                  <a:schemeClr val="lt1"/>
                </a:solidFill>
                <a:latin typeface="Source Sans Pro"/>
                <a:ea typeface="Source Sans Pro"/>
                <a:cs typeface="Source Sans Pro"/>
                <a:sym typeface="Source Sans Pro"/>
              </a:endParaRPr>
            </a:p>
          </p:txBody>
        </p:sp>
        <p:sp>
          <p:nvSpPr>
            <p:cNvPr id="571" name="Google Shape;571;p56"/>
            <p:cNvSpPr txBox="1"/>
            <p:nvPr/>
          </p:nvSpPr>
          <p:spPr>
            <a:xfrm>
              <a:off x="2498357" y="1241642"/>
              <a:ext cx="2479500" cy="26979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Driver Adapters</a:t>
              </a:r>
              <a:endParaRPr b="1" sz="2000">
                <a:solidFill>
                  <a:srgbClr val="6178F2"/>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rPr b="1" lang="es" sz="1800">
                  <a:solidFill>
                    <a:schemeClr val="lt1"/>
                  </a:solidFill>
                  <a:latin typeface="Source Sans Pro"/>
                  <a:ea typeface="Source Sans Pro"/>
                  <a:cs typeface="Source Sans Pro"/>
                  <a:sym typeface="Source Sans Pro"/>
                </a:rPr>
                <a:t>Prisma permite conectar el cliente directamente a drivers nativos específicos de cada motor.</a:t>
              </a:r>
              <a:endParaRPr b="1" sz="1800">
                <a:solidFill>
                  <a:schemeClr val="lt1"/>
                </a:solidFill>
                <a:latin typeface="Source Sans Pro"/>
                <a:ea typeface="Source Sans Pro"/>
                <a:cs typeface="Source Sans Pro"/>
                <a:sym typeface="Source Sans Pro"/>
              </a:endParaRPr>
            </a:p>
            <a:p>
              <a:pPr indent="-342900" lvl="0" marL="457200" rtl="0" algn="l">
                <a:lnSpc>
                  <a:spcPct val="150000"/>
                </a:lnSpc>
                <a:spcBef>
                  <a:spcPts val="45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Reduce el tamaño del bundle final </a:t>
              </a:r>
              <a:endParaRPr b="1" sz="1800">
                <a:solidFill>
                  <a:schemeClr val="lt1"/>
                </a:solidFill>
                <a:latin typeface="Source Sans Pro"/>
                <a:ea typeface="Source Sans Pro"/>
                <a:cs typeface="Source Sans Pro"/>
                <a:sym typeface="Source Sans Pro"/>
              </a:endParaRPr>
            </a:p>
            <a:p>
              <a:pPr indent="-342900" lvl="0" marL="457200"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Permite aprovechar drivers ya optimizados para el entorno serverless.</a:t>
              </a:r>
              <a:endParaRPr b="1" sz="1800">
                <a:solidFill>
                  <a:schemeClr val="lt1"/>
                </a:solidFill>
                <a:latin typeface="Source Sans Pro"/>
                <a:ea typeface="Source Sans Pro"/>
                <a:cs typeface="Source Sans Pro"/>
                <a:sym typeface="Source Sans Pro"/>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75" name="Shape 575"/>
        <p:cNvGrpSpPr/>
        <p:nvPr/>
      </p:nvGrpSpPr>
      <p:grpSpPr>
        <a:xfrm>
          <a:off x="0" y="0"/>
          <a:ext cx="0" cy="0"/>
          <a:chOff x="0" y="0"/>
          <a:chExt cx="0" cy="0"/>
        </a:xfrm>
      </p:grpSpPr>
      <p:sp>
        <p:nvSpPr>
          <p:cNvPr id="576" name="Google Shape;576;p5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77" name="Google Shape;577;p57"/>
          <p:cNvSpPr/>
          <p:nvPr/>
        </p:nvSpPr>
        <p:spPr>
          <a:xfrm>
            <a:off x="3009450" y="247800"/>
            <a:ext cx="31251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TEMAS TÉCNICOS</a:t>
            </a:r>
            <a:endParaRPr b="1" sz="3000">
              <a:solidFill>
                <a:schemeClr val="lt1"/>
              </a:solidFill>
              <a:latin typeface="Source Sans Pro"/>
              <a:ea typeface="Source Sans Pro"/>
              <a:cs typeface="Source Sans Pro"/>
              <a:sym typeface="Source Sans Pro"/>
            </a:endParaRPr>
          </a:p>
        </p:txBody>
      </p:sp>
      <p:sp>
        <p:nvSpPr>
          <p:cNvPr id="578" name="Google Shape;578;p57"/>
          <p:cNvSpPr txBox="1"/>
          <p:nvPr/>
        </p:nvSpPr>
        <p:spPr>
          <a:xfrm>
            <a:off x="220431" y="1211475"/>
            <a:ext cx="8265600" cy="30783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b="1" lang="es" sz="3100">
                <a:solidFill>
                  <a:schemeClr val="lt1"/>
                </a:solidFill>
                <a:latin typeface="Source Sans Pro"/>
                <a:ea typeface="Source Sans Pro"/>
                <a:cs typeface="Source Sans Pro"/>
                <a:sym typeface="Source Sans Pro"/>
              </a:rPr>
              <a:t>Conexión mediante drivers</a:t>
            </a:r>
            <a:endParaRPr b="1"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r>
              <a:rPr lang="es" sz="2100">
                <a:solidFill>
                  <a:schemeClr val="lt1"/>
                </a:solidFill>
                <a:latin typeface="Source Sans Pro"/>
                <a:ea typeface="Source Sans Pro"/>
                <a:cs typeface="Source Sans Pro"/>
                <a:sym typeface="Source Sans Pro"/>
              </a:rPr>
              <a:t>Drizzle se comunica con la base de datos utilizando drivers existentes, como node-postgres, postgres.js o mysql2. </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100">
                <a:solidFill>
                  <a:schemeClr val="lt1"/>
                </a:solidFill>
                <a:latin typeface="Source Sans Pro"/>
                <a:ea typeface="Source Sans Pro"/>
                <a:cs typeface="Source Sans Pro"/>
                <a:sym typeface="Source Sans Pro"/>
              </a:rPr>
              <a:t>No necesita un motor de consultas independiente entre la aplicación y el driver.</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100">
                <a:solidFill>
                  <a:schemeClr val="lt1"/>
                </a:solidFill>
                <a:latin typeface="Source Sans Pro"/>
                <a:ea typeface="Source Sans Pro"/>
                <a:cs typeface="Source Sans Pro"/>
                <a:sym typeface="Source Sans Pro"/>
              </a:rPr>
              <a:t>Esto lo hace más </a:t>
            </a:r>
            <a:r>
              <a:rPr b="1" lang="es" sz="2100">
                <a:solidFill>
                  <a:schemeClr val="lt1"/>
                </a:solidFill>
                <a:latin typeface="Source Sans Pro"/>
                <a:ea typeface="Source Sans Pro"/>
                <a:cs typeface="Source Sans Pro"/>
                <a:sym typeface="Source Sans Pro"/>
              </a:rPr>
              <a:t>liviano</a:t>
            </a:r>
            <a:r>
              <a:rPr lang="es" sz="2100">
                <a:solidFill>
                  <a:schemeClr val="lt1"/>
                </a:solidFill>
                <a:latin typeface="Source Sans Pro"/>
                <a:ea typeface="Source Sans Pro"/>
                <a:cs typeface="Source Sans Pro"/>
                <a:sym typeface="Source Sans Pro"/>
              </a:rPr>
              <a:t>, aparte de tener un bajo overhead.</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82" name="Shape 582"/>
        <p:cNvGrpSpPr/>
        <p:nvPr/>
      </p:nvGrpSpPr>
      <p:grpSpPr>
        <a:xfrm>
          <a:off x="0" y="0"/>
          <a:ext cx="0" cy="0"/>
          <a:chOff x="0" y="0"/>
          <a:chExt cx="0" cy="0"/>
        </a:xfrm>
      </p:grpSpPr>
      <p:sp>
        <p:nvSpPr>
          <p:cNvPr id="583" name="Google Shape;583;p5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84" name="Google Shape;584;p58"/>
          <p:cNvSpPr/>
          <p:nvPr/>
        </p:nvSpPr>
        <p:spPr>
          <a:xfrm>
            <a:off x="3009450" y="247800"/>
            <a:ext cx="31251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TEMAS TÉCNICOS</a:t>
            </a:r>
            <a:endParaRPr b="1" sz="3000">
              <a:solidFill>
                <a:schemeClr val="lt1"/>
              </a:solidFill>
              <a:latin typeface="Source Sans Pro"/>
              <a:ea typeface="Source Sans Pro"/>
              <a:cs typeface="Source Sans Pro"/>
              <a:sym typeface="Source Sans Pro"/>
            </a:endParaRPr>
          </a:p>
        </p:txBody>
      </p:sp>
      <p:sp>
        <p:nvSpPr>
          <p:cNvPr id="585" name="Google Shape;585;p58"/>
          <p:cNvSpPr txBox="1"/>
          <p:nvPr/>
        </p:nvSpPr>
        <p:spPr>
          <a:xfrm>
            <a:off x="220431" y="1211475"/>
            <a:ext cx="8265600" cy="30783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b="1" lang="es" sz="3100">
                <a:solidFill>
                  <a:schemeClr val="lt1"/>
                </a:solidFill>
                <a:latin typeface="Source Sans Pro"/>
                <a:ea typeface="Source Sans Pro"/>
                <a:cs typeface="Source Sans Pro"/>
                <a:sym typeface="Source Sans Pro"/>
              </a:rPr>
              <a:t>Arquitectura Headless</a:t>
            </a:r>
            <a:endParaRPr b="1"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r>
              <a:rPr lang="es" sz="2100">
                <a:solidFill>
                  <a:schemeClr val="lt1"/>
                </a:solidFill>
                <a:latin typeface="Source Sans Pro"/>
                <a:ea typeface="Source Sans Pro"/>
                <a:cs typeface="Source Sans Pro"/>
                <a:sym typeface="Source Sans Pro"/>
              </a:rPr>
              <a:t>Drizzle no impone una arquitectura específica al proyecto. Puede integrarse en diferentes frameworks y runtimes sin obligar al desarrollador a estructurar la aplicación alrededor del ORM.</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100">
                <a:solidFill>
                  <a:schemeClr val="lt1"/>
                </a:solidFill>
                <a:latin typeface="Source Sans Pro"/>
                <a:ea typeface="Source Sans Pro"/>
                <a:cs typeface="Source Sans Pro"/>
                <a:sym typeface="Source Sans Pro"/>
              </a:rPr>
              <a:t>Esto lo hace muy </a:t>
            </a:r>
            <a:r>
              <a:rPr b="1" lang="es" sz="2100">
                <a:solidFill>
                  <a:schemeClr val="lt1"/>
                </a:solidFill>
                <a:latin typeface="Source Sans Pro"/>
                <a:ea typeface="Source Sans Pro"/>
                <a:cs typeface="Source Sans Pro"/>
                <a:sym typeface="Source Sans Pro"/>
              </a:rPr>
              <a:t>flexible</a:t>
            </a:r>
            <a:r>
              <a:rPr lang="es" sz="2100">
                <a:solidFill>
                  <a:schemeClr val="lt1"/>
                </a:solidFill>
                <a:latin typeface="Source Sans Pro"/>
                <a:ea typeface="Source Sans Pro"/>
                <a:cs typeface="Source Sans Pro"/>
                <a:sym typeface="Source Sans Pro"/>
              </a:rPr>
              <a:t>.</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89" name="Shape 589"/>
        <p:cNvGrpSpPr/>
        <p:nvPr/>
      </p:nvGrpSpPr>
      <p:grpSpPr>
        <a:xfrm>
          <a:off x="0" y="0"/>
          <a:ext cx="0" cy="0"/>
          <a:chOff x="0" y="0"/>
          <a:chExt cx="0" cy="0"/>
        </a:xfrm>
      </p:grpSpPr>
      <p:sp>
        <p:nvSpPr>
          <p:cNvPr id="590" name="Google Shape;590;p5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91" name="Google Shape;591;p59"/>
          <p:cNvSpPr/>
          <p:nvPr/>
        </p:nvSpPr>
        <p:spPr>
          <a:xfrm>
            <a:off x="3009450" y="247800"/>
            <a:ext cx="31251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TEMAS TÉCNICOS</a:t>
            </a:r>
            <a:endParaRPr b="1" sz="3000">
              <a:solidFill>
                <a:schemeClr val="lt1"/>
              </a:solidFill>
              <a:latin typeface="Source Sans Pro"/>
              <a:ea typeface="Source Sans Pro"/>
              <a:cs typeface="Source Sans Pro"/>
              <a:sym typeface="Source Sans Pro"/>
            </a:endParaRPr>
          </a:p>
        </p:txBody>
      </p:sp>
      <p:sp>
        <p:nvSpPr>
          <p:cNvPr id="592" name="Google Shape;592;p59"/>
          <p:cNvSpPr txBox="1"/>
          <p:nvPr/>
        </p:nvSpPr>
        <p:spPr>
          <a:xfrm>
            <a:off x="220431" y="1211475"/>
            <a:ext cx="8265600" cy="3078300"/>
          </a:xfrm>
          <a:prstGeom prst="rect">
            <a:avLst/>
          </a:prstGeom>
          <a:noFill/>
          <a:ln>
            <a:noFill/>
          </a:ln>
        </p:spPr>
        <p:txBody>
          <a:bodyPr anchorCtr="0" anchor="t" bIns="91425" lIns="91425" spcFirstLastPara="1" rIns="91425" wrap="square" tIns="91425">
            <a:spAutoFit/>
          </a:bodyPr>
          <a:lstStyle/>
          <a:p>
            <a:pPr indent="-425450" lvl="0" marL="457200" rtl="0" algn="ctr">
              <a:spcBef>
                <a:spcPts val="0"/>
              </a:spcBef>
              <a:spcAft>
                <a:spcPts val="0"/>
              </a:spcAft>
              <a:buClr>
                <a:srgbClr val="C5F74F"/>
              </a:buClr>
              <a:buSzPts val="3100"/>
              <a:buFont typeface="Source Sans Pro"/>
              <a:buChar char="●"/>
            </a:pPr>
            <a:r>
              <a:rPr b="1" lang="es" sz="3100">
                <a:solidFill>
                  <a:schemeClr val="lt1"/>
                </a:solidFill>
                <a:latin typeface="Source Sans Pro"/>
                <a:ea typeface="Source Sans Pro"/>
                <a:cs typeface="Source Sans Pro"/>
                <a:sym typeface="Source Sans Pro"/>
              </a:rPr>
              <a:t>Dos APIs para realizar consultas</a:t>
            </a:r>
            <a:endParaRPr b="1"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3100">
                <a:solidFill>
                  <a:schemeClr val="lt1"/>
                </a:solidFill>
                <a:latin typeface="Source Sans Pro"/>
                <a:ea typeface="Source Sans Pro"/>
                <a:cs typeface="Source Sans Pro"/>
                <a:sym typeface="Source Sans Pro"/>
              </a:rPr>
              <a:t> </a:t>
            </a:r>
            <a:r>
              <a:rPr lang="es" sz="2100">
                <a:solidFill>
                  <a:schemeClr val="lt1"/>
                </a:solidFill>
                <a:latin typeface="Source Sans Pro"/>
                <a:ea typeface="Source Sans Pro"/>
                <a:cs typeface="Source Sans Pro"/>
                <a:sym typeface="Source Sans Pro"/>
              </a:rPr>
              <a:t>En Drizzle se puede escribir una consulta con la SQL-like API (pensando en SQL y tablas) y con la Relational Query API (pensando en relaciones)</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rPr lang="es" sz="2100">
                <a:solidFill>
                  <a:schemeClr val="lt1"/>
                </a:solidFill>
                <a:latin typeface="Source Sans Pro"/>
                <a:ea typeface="Source Sans Pro"/>
                <a:cs typeface="Source Sans Pro"/>
                <a:sym typeface="Source Sans Pro"/>
              </a:rPr>
              <a:t>Además, Drizzle permite incorporar SQL personalizado dentro de sus consultas hechas con su API.</a:t>
            </a:r>
            <a:endParaRPr sz="2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96" name="Shape 596"/>
        <p:cNvGrpSpPr/>
        <p:nvPr/>
      </p:nvGrpSpPr>
      <p:grpSpPr>
        <a:xfrm>
          <a:off x="0" y="0"/>
          <a:ext cx="0" cy="0"/>
          <a:chOff x="0" y="0"/>
          <a:chExt cx="0" cy="0"/>
        </a:xfrm>
      </p:grpSpPr>
      <p:sp>
        <p:nvSpPr>
          <p:cNvPr id="597" name="Google Shape;597;p6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598" name="Google Shape;598;p60"/>
          <p:cNvSpPr/>
          <p:nvPr/>
        </p:nvSpPr>
        <p:spPr>
          <a:xfrm>
            <a:off x="602625" y="247800"/>
            <a:ext cx="8136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100">
                <a:solidFill>
                  <a:schemeClr val="lt1"/>
                </a:solidFill>
                <a:latin typeface="Source Sans Pro"/>
                <a:ea typeface="Source Sans Pro"/>
                <a:cs typeface="Source Sans Pro"/>
                <a:sym typeface="Source Sans Pro"/>
              </a:rPr>
              <a:t>Veamos rápidamente un ejemplo</a:t>
            </a:r>
            <a:endParaRPr b="1" sz="3100">
              <a:solidFill>
                <a:schemeClr val="lt1"/>
              </a:solidFill>
              <a:latin typeface="Source Sans Pro"/>
              <a:ea typeface="Source Sans Pro"/>
              <a:cs typeface="Source Sans Pro"/>
              <a:sym typeface="Source Sans Pro"/>
            </a:endParaRPr>
          </a:p>
        </p:txBody>
      </p:sp>
      <p:sp>
        <p:nvSpPr>
          <p:cNvPr id="599" name="Google Shape;599;p60"/>
          <p:cNvSpPr txBox="1"/>
          <p:nvPr/>
        </p:nvSpPr>
        <p:spPr>
          <a:xfrm>
            <a:off x="404550" y="1581950"/>
            <a:ext cx="8334900" cy="116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lang="es" sz="2500">
                <a:solidFill>
                  <a:schemeClr val="lt1"/>
                </a:solidFill>
                <a:latin typeface="Source Sans Pro"/>
                <a:ea typeface="Source Sans Pro"/>
                <a:cs typeface="Source Sans Pro"/>
                <a:sym typeface="Source Sans Pro"/>
              </a:rPr>
              <a:t>Supongamos que queremos hacer la siguiente consulta:</a:t>
            </a:r>
            <a:endParaRPr sz="25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Clr>
                <a:schemeClr val="dk2"/>
              </a:buClr>
              <a:buSzPts val="1100"/>
              <a:buFont typeface="Arial"/>
              <a:buNone/>
            </a:pPr>
            <a:r>
              <a:rPr lang="es" sz="2500">
                <a:solidFill>
                  <a:schemeClr val="lt1"/>
                </a:solidFill>
                <a:latin typeface="Source Sans Pro"/>
                <a:ea typeface="Source Sans Pro"/>
                <a:cs typeface="Source Sans Pro"/>
                <a:sym typeface="Source Sans Pro"/>
              </a:rPr>
              <a:t>"</a:t>
            </a:r>
            <a:r>
              <a:rPr lang="es" sz="2500">
                <a:solidFill>
                  <a:schemeClr val="lt1"/>
                </a:solidFill>
                <a:latin typeface="Source Sans Pro"/>
                <a:ea typeface="Source Sans Pro"/>
                <a:cs typeface="Source Sans Pro"/>
                <a:sym typeface="Source Sans Pro"/>
              </a:rPr>
              <a:t>Traeme los usuarios junto con sus publicaciones</a:t>
            </a:r>
            <a:r>
              <a:rPr lang="es" sz="2500">
                <a:solidFill>
                  <a:schemeClr val="lt1"/>
                </a:solidFill>
                <a:latin typeface="Source Sans Pro"/>
                <a:ea typeface="Source Sans Pro"/>
                <a:cs typeface="Source Sans Pro"/>
                <a:sym typeface="Source Sans Pro"/>
              </a:rPr>
              <a:t>."</a:t>
            </a:r>
            <a:endParaRPr sz="3200">
              <a:solidFill>
                <a:schemeClr val="lt1"/>
              </a:solidFill>
              <a:latin typeface="Source Sans Pro"/>
              <a:ea typeface="Source Sans Pro"/>
              <a:cs typeface="Source Sans Pro"/>
              <a:sym typeface="Source Sans Pr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03" name="Shape 603"/>
        <p:cNvGrpSpPr/>
        <p:nvPr/>
      </p:nvGrpSpPr>
      <p:grpSpPr>
        <a:xfrm>
          <a:off x="0" y="0"/>
          <a:ext cx="0" cy="0"/>
          <a:chOff x="0" y="0"/>
          <a:chExt cx="0" cy="0"/>
        </a:xfrm>
      </p:grpSpPr>
      <p:sp>
        <p:nvSpPr>
          <p:cNvPr id="604" name="Google Shape;604;p6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05" name="Google Shape;605;p61"/>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sp>
        <p:nvSpPr>
          <p:cNvPr id="606" name="Google Shape;606;p61"/>
          <p:cNvSpPr txBox="1"/>
          <p:nvPr/>
        </p:nvSpPr>
        <p:spPr>
          <a:xfrm>
            <a:off x="0" y="1227225"/>
            <a:ext cx="9144000" cy="28938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const result = await db</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.select()</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.from(users)</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.leftJoin(posts, eq(users.id, posts.userId));</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b="1"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10" name="Shape 610"/>
        <p:cNvGrpSpPr/>
        <p:nvPr/>
      </p:nvGrpSpPr>
      <p:grpSpPr>
        <a:xfrm>
          <a:off x="0" y="0"/>
          <a:ext cx="0" cy="0"/>
          <a:chOff x="0" y="0"/>
          <a:chExt cx="0" cy="0"/>
        </a:xfrm>
      </p:grpSpPr>
      <p:sp>
        <p:nvSpPr>
          <p:cNvPr id="611" name="Google Shape;611;p62"/>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12" name="Google Shape;612;p62"/>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sp>
        <p:nvSpPr>
          <p:cNvPr id="613" name="Google Shape;613;p62"/>
          <p:cNvSpPr txBox="1"/>
          <p:nvPr/>
        </p:nvSpPr>
        <p:spPr>
          <a:xfrm>
            <a:off x="0" y="1227225"/>
            <a:ext cx="9144000" cy="33708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const result = await db.query.users.findMany({</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with: {</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posts: true</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Clr>
                <a:schemeClr val="dk2"/>
              </a:buClr>
              <a:buSzPts val="1100"/>
              <a:buFont typeface="Arial"/>
              <a:buNone/>
            </a:pPr>
            <a:r>
              <a:rPr lang="es" sz="3100">
                <a:solidFill>
                  <a:schemeClr val="lt1"/>
                </a:solidFill>
                <a:latin typeface="Source Sans Pro"/>
                <a:ea typeface="Source Sans Pro"/>
                <a:cs typeface="Source Sans Pro"/>
                <a:sym typeface="Source Sans Pro"/>
              </a:rPr>
              <a:t>  }</a:t>
            </a:r>
            <a:endParaRPr sz="31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3100">
                <a:solidFill>
                  <a:schemeClr val="lt1"/>
                </a:solidFill>
                <a:latin typeface="Source Sans Pro"/>
                <a:ea typeface="Source Sans Pro"/>
                <a:cs typeface="Source Sans Pro"/>
                <a:sym typeface="Source Sans Pro"/>
              </a:rPr>
              <a:t>});</a:t>
            </a:r>
            <a:endParaRPr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b="1" sz="3100">
              <a:solidFill>
                <a:schemeClr val="lt1"/>
              </a:solidFill>
              <a:latin typeface="Source Sans Pro"/>
              <a:ea typeface="Source Sans Pro"/>
              <a:cs typeface="Source Sans Pro"/>
              <a:sym typeface="Source Sans Pro"/>
            </a:endParaRPr>
          </a:p>
          <a:p>
            <a:pPr indent="0" lvl="0" marL="457200" rtl="0" algn="ctr">
              <a:spcBef>
                <a:spcPts val="0"/>
              </a:spcBef>
              <a:spcAft>
                <a:spcPts val="0"/>
              </a:spcAft>
              <a:buNone/>
            </a:pPr>
            <a:r>
              <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17" name="Shape 617"/>
        <p:cNvGrpSpPr/>
        <p:nvPr/>
      </p:nvGrpSpPr>
      <p:grpSpPr>
        <a:xfrm>
          <a:off x="0" y="0"/>
          <a:ext cx="0" cy="0"/>
          <a:chOff x="0" y="0"/>
          <a:chExt cx="0" cy="0"/>
        </a:xfrm>
      </p:grpSpPr>
      <p:sp>
        <p:nvSpPr>
          <p:cNvPr id="618" name="Google Shape;618;p63"/>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19" name="Google Shape;619;p63"/>
          <p:cNvSpPr/>
          <p:nvPr/>
        </p:nvSpPr>
        <p:spPr>
          <a:xfrm>
            <a:off x="1025700" y="247800"/>
            <a:ext cx="70926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API + SQL PERSONALIZADO</a:t>
            </a:r>
            <a:endParaRPr b="1" sz="3000">
              <a:solidFill>
                <a:schemeClr val="lt1"/>
              </a:solidFill>
              <a:latin typeface="Source Sans Pro"/>
              <a:ea typeface="Source Sans Pro"/>
              <a:cs typeface="Source Sans Pro"/>
              <a:sym typeface="Source Sans Pro"/>
            </a:endParaRPr>
          </a:p>
        </p:txBody>
      </p:sp>
      <p:sp>
        <p:nvSpPr>
          <p:cNvPr id="620" name="Google Shape;620;p63"/>
          <p:cNvSpPr txBox="1"/>
          <p:nvPr/>
        </p:nvSpPr>
        <p:spPr>
          <a:xfrm>
            <a:off x="0" y="1227225"/>
            <a:ext cx="9144000" cy="3632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const result = await db.query.users.findMany({</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columns: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id: true,</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name: true</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with: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posts: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extras: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titleLength:</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sql&lt;number&gt;`length(${posts.title})`.as("title_length")</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  }</a:t>
            </a:r>
            <a:endParaRPr sz="16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rPr lang="es" sz="1600">
                <a:solidFill>
                  <a:schemeClr val="lt1"/>
                </a:solidFill>
                <a:latin typeface="Source Sans Pro"/>
                <a:ea typeface="Source Sans Pro"/>
                <a:cs typeface="Source Sans Pro"/>
                <a:sym typeface="Source Sans Pro"/>
              </a:rPr>
              <a:t>});</a:t>
            </a:r>
            <a:endParaRPr sz="2100">
              <a:solidFill>
                <a:schemeClr val="lt1"/>
              </a:solidFill>
              <a:latin typeface="Source Sans Pro"/>
              <a:ea typeface="Source Sans Pro"/>
              <a:cs typeface="Source Sans Pro"/>
              <a:sym typeface="Source Sans Pr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24" name="Shape 624"/>
        <p:cNvGrpSpPr/>
        <p:nvPr/>
      </p:nvGrpSpPr>
      <p:grpSpPr>
        <a:xfrm>
          <a:off x="0" y="0"/>
          <a:ext cx="0" cy="0"/>
          <a:chOff x="0" y="0"/>
          <a:chExt cx="0" cy="0"/>
        </a:xfrm>
      </p:grpSpPr>
      <p:sp>
        <p:nvSpPr>
          <p:cNvPr id="625" name="Google Shape;625;p64"/>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26" name="Google Shape;626;p64"/>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A78BFA"/>
                </a:solidFill>
                <a:latin typeface="Source Sans Pro"/>
                <a:ea typeface="Source Sans Pro"/>
                <a:cs typeface="Source Sans Pro"/>
                <a:sym typeface="Source Sans Pro"/>
              </a:rPr>
              <a:t>Mercado Laboral</a:t>
            </a:r>
            <a:endParaRPr b="1" sz="6000">
              <a:solidFill>
                <a:srgbClr val="A78BFA"/>
              </a:solidFill>
              <a:latin typeface="Source Sans Pro"/>
              <a:ea typeface="Source Sans Pro"/>
              <a:cs typeface="Source Sans Pro"/>
              <a:sym typeface="Source Sans Pr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30" name="Shape 630"/>
        <p:cNvGrpSpPr/>
        <p:nvPr/>
      </p:nvGrpSpPr>
      <p:grpSpPr>
        <a:xfrm>
          <a:off x="0" y="0"/>
          <a:ext cx="0" cy="0"/>
          <a:chOff x="0" y="0"/>
          <a:chExt cx="0" cy="0"/>
        </a:xfrm>
      </p:grpSpPr>
      <p:sp>
        <p:nvSpPr>
          <p:cNvPr id="631" name="Google Shape;631;p6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32" name="Google Shape;632;p65"/>
          <p:cNvSpPr/>
          <p:nvPr/>
        </p:nvSpPr>
        <p:spPr>
          <a:xfrm>
            <a:off x="3100200" y="247800"/>
            <a:ext cx="29436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PARTE LABORAL</a:t>
            </a:r>
            <a:endParaRPr b="1" sz="3000">
              <a:solidFill>
                <a:schemeClr val="lt1"/>
              </a:solidFill>
              <a:latin typeface="Source Sans Pro"/>
              <a:ea typeface="Source Sans Pro"/>
              <a:cs typeface="Source Sans Pro"/>
              <a:sym typeface="Source Sans Pro"/>
            </a:endParaRPr>
          </a:p>
        </p:txBody>
      </p:sp>
      <p:sp>
        <p:nvSpPr>
          <p:cNvPr id="633" name="Google Shape;633;p65"/>
          <p:cNvSpPr txBox="1"/>
          <p:nvPr/>
        </p:nvSpPr>
        <p:spPr>
          <a:xfrm>
            <a:off x="404550" y="1559323"/>
            <a:ext cx="83349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800">
                <a:solidFill>
                  <a:schemeClr val="lt1"/>
                </a:solidFill>
                <a:latin typeface="Source Sans Pro"/>
                <a:ea typeface="Source Sans Pro"/>
                <a:cs typeface="Source Sans Pro"/>
                <a:sym typeface="Source Sans Pro"/>
              </a:rPr>
              <a:t>Drizzle ORM es una tecnología con una demanda creciente, aunque todavía no alcanza el nivel de adopción de Prisma o TypeORM.</a:t>
            </a:r>
            <a:endParaRPr sz="2800">
              <a:solidFill>
                <a:schemeClr val="lt1"/>
              </a:solidFill>
              <a:latin typeface="Source Sans Pro"/>
              <a:ea typeface="Source Sans Pro"/>
              <a:cs typeface="Source Sans Pro"/>
              <a:sym typeface="Source Sans Pr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37" name="Shape 637"/>
        <p:cNvGrpSpPr/>
        <p:nvPr/>
      </p:nvGrpSpPr>
      <p:grpSpPr>
        <a:xfrm>
          <a:off x="0" y="0"/>
          <a:ext cx="0" cy="0"/>
          <a:chOff x="0" y="0"/>
          <a:chExt cx="0" cy="0"/>
        </a:xfrm>
      </p:grpSpPr>
      <p:sp>
        <p:nvSpPr>
          <p:cNvPr id="638" name="Google Shape;638;p6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39" name="Google Shape;639;p66"/>
          <p:cNvSpPr/>
          <p:nvPr/>
        </p:nvSpPr>
        <p:spPr>
          <a:xfrm>
            <a:off x="3100200" y="247800"/>
            <a:ext cx="29436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PARTE LABORAL</a:t>
            </a:r>
            <a:endParaRPr b="1" sz="3000">
              <a:solidFill>
                <a:schemeClr val="lt1"/>
              </a:solidFill>
              <a:latin typeface="Source Sans Pro"/>
              <a:ea typeface="Source Sans Pro"/>
              <a:cs typeface="Source Sans Pro"/>
              <a:sym typeface="Source Sans Pro"/>
            </a:endParaRPr>
          </a:p>
        </p:txBody>
      </p:sp>
      <p:sp>
        <p:nvSpPr>
          <p:cNvPr id="640" name="Google Shape;640;p66"/>
          <p:cNvSpPr txBox="1"/>
          <p:nvPr/>
        </p:nvSpPr>
        <p:spPr>
          <a:xfrm>
            <a:off x="404550" y="1464850"/>
            <a:ext cx="8334900" cy="326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500">
                <a:solidFill>
                  <a:schemeClr val="lt1"/>
                </a:solidFill>
                <a:latin typeface="Source Sans Pro"/>
                <a:ea typeface="Source Sans Pro"/>
                <a:cs typeface="Source Sans Pro"/>
                <a:sym typeface="Source Sans Pro"/>
              </a:rPr>
              <a:t>Su uso está aumentando en proyectos modernos desarrollados con TypeScript, Next.js, Hono y arquitecturas serverless.</a:t>
            </a:r>
            <a:endParaRPr sz="25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25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2500">
                <a:solidFill>
                  <a:schemeClr val="lt1"/>
                </a:solidFill>
                <a:latin typeface="Source Sans Pro"/>
                <a:ea typeface="Source Sans Pro"/>
                <a:cs typeface="Source Sans Pro"/>
                <a:sym typeface="Source Sans Pro"/>
              </a:rPr>
              <a:t>Se puede encontrar en Startups tecnológicas. Empresas que desarrollan aplicaciones Full Stack con Next.js. Equipos que priorizan el rendimiento y aplicaciones livianas.</a:t>
            </a:r>
            <a:endParaRPr sz="2500">
              <a:solidFill>
                <a:schemeClr val="lt1"/>
              </a:solidFill>
              <a:latin typeface="Source Sans Pro"/>
              <a:ea typeface="Source Sans Pro"/>
              <a:cs typeface="Source Sans Pro"/>
              <a:sym typeface="Source Sans Pro"/>
            </a:endParaRPr>
          </a:p>
          <a:p>
            <a:pPr indent="0" lvl="0" marL="0" rtl="0" algn="ctr">
              <a:spcBef>
                <a:spcPts val="0"/>
              </a:spcBef>
              <a:spcAft>
                <a:spcPts val="0"/>
              </a:spcAft>
              <a:buClr>
                <a:schemeClr val="dk2"/>
              </a:buClr>
              <a:buSzPts val="1100"/>
              <a:buFont typeface="Arial"/>
              <a:buNone/>
            </a:pPr>
            <a:r>
              <a:t/>
            </a:r>
            <a:endParaRPr sz="2500">
              <a:solidFill>
                <a:schemeClr val="lt1"/>
              </a:solidFill>
              <a:latin typeface="Source Sans Pro"/>
              <a:ea typeface="Source Sans Pro"/>
              <a:cs typeface="Source Sans Pro"/>
              <a:sym typeface="Source Sans Pr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44" name="Shape 644"/>
        <p:cNvGrpSpPr/>
        <p:nvPr/>
      </p:nvGrpSpPr>
      <p:grpSpPr>
        <a:xfrm>
          <a:off x="0" y="0"/>
          <a:ext cx="0" cy="0"/>
          <a:chOff x="0" y="0"/>
          <a:chExt cx="0" cy="0"/>
        </a:xfrm>
      </p:grpSpPr>
      <p:sp>
        <p:nvSpPr>
          <p:cNvPr id="645" name="Google Shape;645;p6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46" name="Google Shape;646;p67"/>
          <p:cNvSpPr/>
          <p:nvPr/>
        </p:nvSpPr>
        <p:spPr>
          <a:xfrm>
            <a:off x="3100200" y="247800"/>
            <a:ext cx="29436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PARTE LABORAL</a:t>
            </a:r>
            <a:endParaRPr b="1" sz="3000">
              <a:solidFill>
                <a:schemeClr val="lt1"/>
              </a:solidFill>
              <a:latin typeface="Source Sans Pro"/>
              <a:ea typeface="Source Sans Pro"/>
              <a:cs typeface="Source Sans Pro"/>
              <a:sym typeface="Source Sans Pro"/>
            </a:endParaRPr>
          </a:p>
        </p:txBody>
      </p:sp>
      <p:sp>
        <p:nvSpPr>
          <p:cNvPr id="647" name="Google Shape;647;p67"/>
          <p:cNvSpPr txBox="1"/>
          <p:nvPr/>
        </p:nvSpPr>
        <p:spPr>
          <a:xfrm>
            <a:off x="404550" y="1464850"/>
            <a:ext cx="8334900" cy="218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600">
                <a:solidFill>
                  <a:schemeClr val="lt1"/>
                </a:solidFill>
                <a:latin typeface="Source Sans Pro"/>
                <a:ea typeface="Source Sans Pro"/>
                <a:cs typeface="Source Sans Pro"/>
                <a:sym typeface="Source Sans Pro"/>
              </a:rPr>
              <a:t>Sin embargo, es poco común encontrar búsquedas que pidan "Drizzle ORM" como requisito excluyente. </a:t>
            </a:r>
            <a:endParaRPr sz="26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26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2600">
                <a:solidFill>
                  <a:schemeClr val="lt1"/>
                </a:solidFill>
                <a:latin typeface="Source Sans Pro"/>
                <a:ea typeface="Source Sans Pro"/>
                <a:cs typeface="Source Sans Pro"/>
                <a:sym typeface="Source Sans Pro"/>
              </a:rPr>
              <a:t>Por lo que, conocer Drizzle representa un </a:t>
            </a:r>
            <a:r>
              <a:rPr b="1" lang="es" sz="2600">
                <a:solidFill>
                  <a:schemeClr val="lt1"/>
                </a:solidFill>
                <a:latin typeface="Source Sans Pro"/>
                <a:ea typeface="Source Sans Pro"/>
                <a:cs typeface="Source Sans Pro"/>
                <a:sym typeface="Source Sans Pro"/>
              </a:rPr>
              <a:t>valor agregado</a:t>
            </a:r>
            <a:r>
              <a:rPr lang="es" sz="2600">
                <a:solidFill>
                  <a:schemeClr val="lt1"/>
                </a:solidFill>
                <a:latin typeface="Source Sans Pro"/>
                <a:ea typeface="Source Sans Pro"/>
                <a:cs typeface="Source Sans Pro"/>
                <a:sym typeface="Source Sans Pro"/>
              </a:rPr>
              <a:t>, </a:t>
            </a:r>
            <a:endParaRPr sz="26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lang="es" sz="2600">
                <a:solidFill>
                  <a:schemeClr val="lt1"/>
                </a:solidFill>
                <a:latin typeface="Source Sans Pro"/>
                <a:ea typeface="Source Sans Pro"/>
                <a:cs typeface="Source Sans Pro"/>
                <a:sym typeface="Source Sans Pro"/>
              </a:rPr>
              <a:t>y </a:t>
            </a:r>
            <a:r>
              <a:rPr b="1" lang="es" sz="2600">
                <a:solidFill>
                  <a:schemeClr val="lt1"/>
                </a:solidFill>
                <a:latin typeface="Source Sans Pro"/>
                <a:ea typeface="Source Sans Pro"/>
                <a:cs typeface="Source Sans Pro"/>
                <a:sym typeface="Source Sans Pro"/>
              </a:rPr>
              <a:t>no</a:t>
            </a:r>
            <a:r>
              <a:rPr lang="es" sz="2600">
                <a:solidFill>
                  <a:schemeClr val="lt1"/>
                </a:solidFill>
                <a:latin typeface="Source Sans Pro"/>
                <a:ea typeface="Source Sans Pro"/>
                <a:cs typeface="Source Sans Pro"/>
                <a:sym typeface="Source Sans Pro"/>
              </a:rPr>
              <a:t> un </a:t>
            </a:r>
            <a:r>
              <a:rPr b="1" lang="es" sz="2600">
                <a:solidFill>
                  <a:schemeClr val="lt1"/>
                </a:solidFill>
                <a:latin typeface="Source Sans Pro"/>
                <a:ea typeface="Source Sans Pro"/>
                <a:cs typeface="Source Sans Pro"/>
                <a:sym typeface="Source Sans Pro"/>
              </a:rPr>
              <a:t>requisito excluyente</a:t>
            </a:r>
            <a:r>
              <a:rPr lang="es" sz="2600">
                <a:solidFill>
                  <a:schemeClr val="lt1"/>
                </a:solidFill>
                <a:latin typeface="Source Sans Pro"/>
                <a:ea typeface="Source Sans Pro"/>
                <a:cs typeface="Source Sans Pro"/>
                <a:sym typeface="Source Sans Pro"/>
              </a:rPr>
              <a:t>.</a:t>
            </a:r>
            <a:endParaRPr sz="2900">
              <a:solidFill>
                <a:schemeClr val="lt1"/>
              </a:solidFill>
              <a:latin typeface="Source Sans Pro"/>
              <a:ea typeface="Source Sans Pro"/>
              <a:cs typeface="Source Sans Pro"/>
              <a:sym typeface="Source Sans Pr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51" name="Shape 651"/>
        <p:cNvGrpSpPr/>
        <p:nvPr/>
      </p:nvGrpSpPr>
      <p:grpSpPr>
        <a:xfrm>
          <a:off x="0" y="0"/>
          <a:ext cx="0" cy="0"/>
          <a:chOff x="0" y="0"/>
          <a:chExt cx="0" cy="0"/>
        </a:xfrm>
      </p:grpSpPr>
      <p:sp>
        <p:nvSpPr>
          <p:cNvPr id="652" name="Google Shape;652;p68"/>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53" name="Google Shape;653;p68"/>
          <p:cNvSpPr/>
          <p:nvPr/>
        </p:nvSpPr>
        <p:spPr>
          <a:xfrm>
            <a:off x="1617875" y="215700"/>
            <a:ext cx="66996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A</a:t>
            </a:r>
            <a:r>
              <a:rPr b="1" lang="es" sz="3100">
                <a:solidFill>
                  <a:srgbClr val="6178F2"/>
                </a:solidFill>
                <a:latin typeface="Source Sans Pro"/>
                <a:ea typeface="Source Sans Pro"/>
                <a:cs typeface="Source Sans Pro"/>
                <a:sym typeface="Source Sans Pro"/>
              </a:rPr>
              <a:t>dopción en el ecosistema productivo</a:t>
            </a:r>
            <a:endParaRPr b="1" sz="3100">
              <a:solidFill>
                <a:srgbClr val="6178F2"/>
              </a:solidFill>
              <a:latin typeface="Source Sans Pro"/>
              <a:ea typeface="Source Sans Pro"/>
              <a:cs typeface="Source Sans Pro"/>
              <a:sym typeface="Source Sans Pro"/>
            </a:endParaRPr>
          </a:p>
        </p:txBody>
      </p:sp>
      <p:pic>
        <p:nvPicPr>
          <p:cNvPr id="654" name="Google Shape;654;p68"/>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655" name="Google Shape;655;p68"/>
          <p:cNvGrpSpPr/>
          <p:nvPr/>
        </p:nvGrpSpPr>
        <p:grpSpPr>
          <a:xfrm>
            <a:off x="263450" y="1143018"/>
            <a:ext cx="8597598" cy="3772241"/>
            <a:chOff x="263434" y="1143014"/>
            <a:chExt cx="4761365" cy="3006968"/>
          </a:xfrm>
        </p:grpSpPr>
        <p:sp>
          <p:nvSpPr>
            <p:cNvPr id="656" name="Google Shape;656;p68"/>
            <p:cNvSpPr/>
            <p:nvPr/>
          </p:nvSpPr>
          <p:spPr>
            <a:xfrm>
              <a:off x="263434" y="1146381"/>
              <a:ext cx="2022600" cy="30036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68"/>
            <p:cNvSpPr/>
            <p:nvPr/>
          </p:nvSpPr>
          <p:spPr>
            <a:xfrm>
              <a:off x="2445400" y="1143014"/>
              <a:ext cx="2579400" cy="29049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68"/>
            <p:cNvSpPr txBox="1"/>
            <p:nvPr/>
          </p:nvSpPr>
          <p:spPr>
            <a:xfrm>
              <a:off x="333371" y="1238264"/>
              <a:ext cx="18807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Adopción </a:t>
              </a:r>
              <a:r>
                <a:rPr b="1" lang="es" sz="2000">
                  <a:solidFill>
                    <a:schemeClr val="lt1"/>
                  </a:solidFill>
                  <a:latin typeface="Source Sans Pro"/>
                  <a:ea typeface="Source Sans Pro"/>
                  <a:cs typeface="Source Sans Pro"/>
                  <a:sym typeface="Source Sans Pro"/>
                </a:rPr>
                <a:t> </a:t>
              </a:r>
              <a:endParaRPr b="1" sz="2000">
                <a:solidFill>
                  <a:schemeClr val="lt1"/>
                </a:solidFill>
                <a:latin typeface="Source Sans Pro"/>
                <a:ea typeface="Source Sans Pro"/>
                <a:cs typeface="Source Sans Pro"/>
                <a:sym typeface="Source Sans Pro"/>
              </a:endParaRPr>
            </a:p>
            <a:p>
              <a:pPr indent="-209550" lvl="0" marL="269999"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55.3M </a:t>
              </a:r>
              <a:r>
                <a:rPr lang="es" sz="1800">
                  <a:solidFill>
                    <a:schemeClr val="lt1"/>
                  </a:solidFill>
                  <a:latin typeface="Source Sans Pro"/>
                  <a:ea typeface="Source Sans Pro"/>
                  <a:cs typeface="Source Sans Pro"/>
                  <a:sym typeface="Source Sans Pro"/>
                </a:rPr>
                <a:t>descargas mensuales en npm</a:t>
              </a:r>
              <a:r>
                <a:rPr b="1" lang="es" sz="1800">
                  <a:solidFill>
                    <a:schemeClr val="lt1"/>
                  </a:solidFill>
                  <a:latin typeface="Source Sans Pro"/>
                  <a:ea typeface="Source Sans Pro"/>
                  <a:cs typeface="Source Sans Pro"/>
                  <a:sym typeface="Source Sans Pro"/>
                </a:rPr>
                <a:t> (julio 2026).</a:t>
              </a:r>
              <a:endParaRPr b="1" sz="1800">
                <a:solidFill>
                  <a:schemeClr val="lt1"/>
                </a:solidFill>
                <a:latin typeface="Source Sans Pro"/>
                <a:ea typeface="Source Sans Pro"/>
                <a:cs typeface="Source Sans Pro"/>
                <a:sym typeface="Source Sans Pro"/>
              </a:endParaRPr>
            </a:p>
            <a:p>
              <a:pPr indent="-209550" lvl="0" marL="269999"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Septiembre 2026: </a:t>
              </a:r>
              <a:r>
                <a:rPr lang="es" sz="1800">
                  <a:solidFill>
                    <a:schemeClr val="lt1"/>
                  </a:solidFill>
                  <a:latin typeface="Source Sans Pro"/>
                  <a:ea typeface="Source Sans Pro"/>
                  <a:cs typeface="Source Sans Pro"/>
                  <a:sym typeface="Source Sans Pro"/>
                </a:rPr>
                <a:t>datos de</a:t>
              </a:r>
              <a:r>
                <a:rPr b="1" lang="es" sz="1800">
                  <a:solidFill>
                    <a:schemeClr val="lt1"/>
                  </a:solidFill>
                  <a:latin typeface="Source Sans Pro"/>
                  <a:ea typeface="Source Sans Pro"/>
                  <a:cs typeface="Source Sans Pro"/>
                  <a:sym typeface="Source Sans Pro"/>
                </a:rPr>
                <a:t> </a:t>
              </a:r>
              <a:r>
                <a:rPr b="1" i="1" lang="es" sz="1800">
                  <a:solidFill>
                    <a:schemeClr val="lt1"/>
                  </a:solidFill>
                  <a:latin typeface="Source Sans Pro"/>
                  <a:ea typeface="Source Sans Pro"/>
                  <a:cs typeface="Source Sans Pro"/>
                  <a:sym typeface="Source Sans Pro"/>
                </a:rPr>
                <a:t>npmtrends </a:t>
              </a:r>
              <a:r>
                <a:rPr lang="es" sz="1800">
                  <a:solidFill>
                    <a:schemeClr val="lt1"/>
                  </a:solidFill>
                  <a:latin typeface="Source Sans Pro"/>
                  <a:ea typeface="Source Sans Pro"/>
                  <a:cs typeface="Source Sans Pro"/>
                  <a:sym typeface="Source Sans Pro"/>
                </a:rPr>
                <a:t>muestran a Drizzle superando a Prisma en descargas semanales </a:t>
              </a:r>
              <a:r>
                <a:rPr b="1" lang="es" sz="1800">
                  <a:solidFill>
                    <a:schemeClr val="lt1"/>
                  </a:solidFill>
                  <a:latin typeface="Source Sans Pro"/>
                  <a:ea typeface="Source Sans Pro"/>
                  <a:cs typeface="Source Sans Pro"/>
                  <a:sym typeface="Source Sans Pro"/>
                </a:rPr>
                <a:t>.</a:t>
              </a:r>
              <a:endParaRPr b="1" sz="1800">
                <a:solidFill>
                  <a:schemeClr val="lt1"/>
                </a:solidFill>
                <a:latin typeface="Source Sans Pro"/>
                <a:ea typeface="Source Sans Pro"/>
                <a:cs typeface="Source Sans Pro"/>
                <a:sym typeface="Source Sans Pro"/>
              </a:endParaRPr>
            </a:p>
          </p:txBody>
        </p:sp>
        <p:sp>
          <p:nvSpPr>
            <p:cNvPr id="659" name="Google Shape;659;p68"/>
            <p:cNvSpPr txBox="1"/>
            <p:nvPr/>
          </p:nvSpPr>
          <p:spPr>
            <a:xfrm>
              <a:off x="2498357" y="1241642"/>
              <a:ext cx="2479500" cy="24246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Oferta Laboral</a:t>
              </a:r>
              <a:endParaRPr b="1" sz="2000">
                <a:solidFill>
                  <a:srgbClr val="6178F2"/>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rPr b="1" lang="es" sz="1800">
                  <a:solidFill>
                    <a:schemeClr val="lt1"/>
                  </a:solidFill>
                  <a:latin typeface="Source Sans Pro"/>
                  <a:ea typeface="Source Sans Pro"/>
                  <a:cs typeface="Source Sans Pro"/>
                  <a:sym typeface="Source Sans Pro"/>
                </a:rPr>
                <a:t>2025 </a:t>
              </a:r>
              <a:r>
                <a:rPr b="1" lang="es" sz="1800">
                  <a:solidFill>
                    <a:srgbClr val="596DEC"/>
                  </a:solidFill>
                  <a:latin typeface="Source Sans Pro"/>
                  <a:ea typeface="Source Sans Pro"/>
                  <a:cs typeface="Source Sans Pro"/>
                  <a:sym typeface="Source Sans Pro"/>
                </a:rPr>
                <a:t>→</a:t>
              </a:r>
              <a:r>
                <a:rPr b="1" lang="es" sz="1800">
                  <a:solidFill>
                    <a:schemeClr val="lt1"/>
                  </a:solidFill>
                  <a:latin typeface="Source Sans Pro"/>
                  <a:ea typeface="Source Sans Pro"/>
                  <a:cs typeface="Source Sans Pro"/>
                  <a:sym typeface="Source Sans Pro"/>
                </a:rPr>
                <a:t> 2026: </a:t>
              </a:r>
              <a:r>
                <a:rPr lang="es" sz="1800">
                  <a:solidFill>
                    <a:schemeClr val="lt1"/>
                  </a:solidFill>
                  <a:latin typeface="Source Sans Pro"/>
                  <a:ea typeface="Source Sans Pro"/>
                  <a:cs typeface="Source Sans Pro"/>
                  <a:sym typeface="Source Sans Pro"/>
                </a:rPr>
                <a:t>las publicaciones laborales que exigían Prisma bajaron de</a:t>
              </a:r>
              <a:r>
                <a:rPr b="1" lang="es" sz="1800">
                  <a:solidFill>
                    <a:schemeClr val="lt1"/>
                  </a:solidFill>
                  <a:latin typeface="Source Sans Pro"/>
                  <a:ea typeface="Source Sans Pro"/>
                  <a:cs typeface="Source Sans Pro"/>
                  <a:sym typeface="Source Sans Pro"/>
                </a:rPr>
                <a:t> ~80% a ~55%. </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rPr b="1" lang="es" sz="1800">
                  <a:solidFill>
                    <a:schemeClr val="lt1"/>
                  </a:solidFill>
                  <a:latin typeface="Source Sans Pro"/>
                  <a:ea typeface="Source Sans Pro"/>
                  <a:cs typeface="Source Sans Pro"/>
                  <a:sym typeface="Source Sans Pro"/>
                </a:rPr>
                <a:t>Drizzle </a:t>
              </a:r>
              <a:r>
                <a:rPr lang="es" sz="1800">
                  <a:solidFill>
                    <a:schemeClr val="lt1"/>
                  </a:solidFill>
                  <a:latin typeface="Source Sans Pro"/>
                  <a:ea typeface="Source Sans Pro"/>
                  <a:cs typeface="Source Sans Pro"/>
                  <a:sym typeface="Source Sans Pro"/>
                </a:rPr>
                <a:t>pasó de casi no ser mencionado a aparecer en</a:t>
              </a:r>
              <a:r>
                <a:rPr b="1" lang="es" sz="1800">
                  <a:solidFill>
                    <a:schemeClr val="lt1"/>
                  </a:solidFill>
                  <a:latin typeface="Source Sans Pro"/>
                  <a:ea typeface="Source Sans Pro"/>
                  <a:cs typeface="Source Sans Pro"/>
                  <a:sym typeface="Source Sans Pro"/>
                </a:rPr>
                <a:t> ~30% </a:t>
              </a:r>
              <a:r>
                <a:rPr lang="es" sz="1800">
                  <a:solidFill>
                    <a:schemeClr val="lt1"/>
                  </a:solidFill>
                  <a:latin typeface="Source Sans Pro"/>
                  <a:ea typeface="Source Sans Pro"/>
                  <a:cs typeface="Source Sans Pro"/>
                  <a:sym typeface="Source Sans Pro"/>
                </a:rPr>
                <a:t>de esas mismas publicaciones en </a:t>
              </a:r>
              <a:r>
                <a:rPr b="1" lang="es" sz="1800">
                  <a:solidFill>
                    <a:schemeClr val="lt1"/>
                  </a:solidFill>
                  <a:latin typeface="Source Sans Pro"/>
                  <a:ea typeface="Source Sans Pro"/>
                  <a:cs typeface="Source Sans Pro"/>
                  <a:sym typeface="Source Sans Pro"/>
                </a:rPr>
                <a:t>poco</a:t>
              </a:r>
              <a:r>
                <a:rPr lang="es" sz="1800">
                  <a:solidFill>
                    <a:schemeClr val="lt1"/>
                  </a:solidFill>
                  <a:latin typeface="Source Sans Pro"/>
                  <a:ea typeface="Source Sans Pro"/>
                  <a:cs typeface="Source Sans Pro"/>
                  <a:sym typeface="Source Sans Pro"/>
                </a:rPr>
                <a:t> </a:t>
              </a:r>
              <a:r>
                <a:rPr b="1" lang="es" sz="1800">
                  <a:solidFill>
                    <a:schemeClr val="lt1"/>
                  </a:solidFill>
                  <a:latin typeface="Source Sans Pro"/>
                  <a:ea typeface="Source Sans Pro"/>
                  <a:cs typeface="Source Sans Pro"/>
                  <a:sym typeface="Source Sans Pro"/>
                </a:rPr>
                <a:t>más de un año. </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Clr>
                  <a:schemeClr val="dk2"/>
                </a:buClr>
                <a:buSzPts val="1100"/>
                <a:buFont typeface="Arial"/>
                <a:buNone/>
              </a:pPr>
              <a:r>
                <a:rPr b="1" lang="es" sz="1500">
                  <a:solidFill>
                    <a:srgbClr val="6178F2"/>
                  </a:solidFill>
                  <a:latin typeface="Source Sans Pro"/>
                  <a:ea typeface="Source Sans Pro"/>
                  <a:cs typeface="Source Sans Pro"/>
                  <a:sym typeface="Source Sans Pro"/>
                </a:rPr>
                <a:t>fuente</a:t>
              </a:r>
              <a:r>
                <a:rPr b="1" lang="es" sz="1500">
                  <a:solidFill>
                    <a:schemeClr val="lt1"/>
                  </a:solidFill>
                  <a:latin typeface="Source Sans Pro"/>
                  <a:ea typeface="Source Sans Pro"/>
                  <a:cs typeface="Source Sans Pro"/>
                  <a:sym typeface="Source Sans Pro"/>
                </a:rPr>
                <a:t>: </a:t>
              </a:r>
              <a:r>
                <a:rPr lang="es" sz="1500">
                  <a:solidFill>
                    <a:schemeClr val="lt1"/>
                  </a:solidFill>
                  <a:latin typeface="Source Sans Pro"/>
                  <a:ea typeface="Source Sans Pro"/>
                  <a:cs typeface="Source Sans Pro"/>
                  <a:sym typeface="Source Sans Pro"/>
                </a:rPr>
                <a:t>tracking de</a:t>
              </a:r>
              <a:r>
                <a:rPr b="1" lang="es" sz="1500">
                  <a:solidFill>
                    <a:schemeClr val="lt1"/>
                  </a:solidFill>
                  <a:latin typeface="Source Sans Pro"/>
                  <a:ea typeface="Source Sans Pro"/>
                  <a:cs typeface="Source Sans Pro"/>
                  <a:sym typeface="Source Sans Pro"/>
                </a:rPr>
                <a:t> </a:t>
              </a:r>
              <a:r>
                <a:rPr b="1" i="1" lang="es" sz="1500">
                  <a:solidFill>
                    <a:schemeClr val="lt1"/>
                  </a:solidFill>
                  <a:latin typeface="Source Sans Pro"/>
                  <a:ea typeface="Source Sans Pro"/>
                  <a:cs typeface="Source Sans Pro"/>
                  <a:sym typeface="Source Sans Pro"/>
                </a:rPr>
                <a:t>jsgurujobs.com</a:t>
              </a:r>
              <a:r>
                <a:rPr b="1" lang="es" sz="1500">
                  <a:solidFill>
                    <a:schemeClr val="lt1"/>
                  </a:solidFill>
                  <a:latin typeface="Source Sans Pro"/>
                  <a:ea typeface="Source Sans Pro"/>
                  <a:cs typeface="Source Sans Pro"/>
                  <a:sym typeface="Source Sans Pro"/>
                </a:rPr>
                <a:t>.</a:t>
              </a:r>
              <a:endParaRPr b="1" sz="15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t/>
              </a:r>
              <a:endParaRPr b="1" sz="18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450"/>
                </a:spcAft>
                <a:buNone/>
              </a:pPr>
              <a:r>
                <a:t/>
              </a:r>
              <a:endParaRPr b="1" sz="1800">
                <a:solidFill>
                  <a:schemeClr val="lt1"/>
                </a:solidFill>
                <a:latin typeface="Source Sans Pro"/>
                <a:ea typeface="Source Sans Pro"/>
                <a:cs typeface="Source Sans Pro"/>
                <a:sym typeface="Source Sans Pro"/>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63" name="Shape 663"/>
        <p:cNvGrpSpPr/>
        <p:nvPr/>
      </p:nvGrpSpPr>
      <p:grpSpPr>
        <a:xfrm>
          <a:off x="0" y="0"/>
          <a:ext cx="0" cy="0"/>
          <a:chOff x="0" y="0"/>
          <a:chExt cx="0" cy="0"/>
        </a:xfrm>
      </p:grpSpPr>
      <p:sp>
        <p:nvSpPr>
          <p:cNvPr id="664" name="Google Shape;664;p69"/>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65" name="Google Shape;665;p69"/>
          <p:cNvSpPr/>
          <p:nvPr/>
        </p:nvSpPr>
        <p:spPr>
          <a:xfrm>
            <a:off x="1617875" y="215700"/>
            <a:ext cx="66996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Startups </a:t>
            </a:r>
            <a:r>
              <a:rPr b="1" lang="es" sz="3100" strike="sngStrike">
                <a:solidFill>
                  <a:srgbClr val="6178F2"/>
                </a:solidFill>
                <a:latin typeface="Source Sans Pro"/>
                <a:ea typeface="Source Sans Pro"/>
                <a:cs typeface="Source Sans Pro"/>
                <a:sym typeface="Source Sans Pro"/>
              </a:rPr>
              <a:t>vs.</a:t>
            </a:r>
            <a:r>
              <a:rPr b="1" lang="es" sz="3100">
                <a:solidFill>
                  <a:srgbClr val="6178F2"/>
                </a:solidFill>
                <a:latin typeface="Source Sans Pro"/>
                <a:ea typeface="Source Sans Pro"/>
                <a:cs typeface="Source Sans Pro"/>
                <a:sym typeface="Source Sans Pro"/>
              </a:rPr>
              <a:t> &amp; Enterprise </a:t>
            </a:r>
            <a:endParaRPr b="1" sz="3100">
              <a:solidFill>
                <a:srgbClr val="6178F2"/>
              </a:solidFill>
              <a:latin typeface="Source Sans Pro"/>
              <a:ea typeface="Source Sans Pro"/>
              <a:cs typeface="Source Sans Pro"/>
              <a:sym typeface="Source Sans Pro"/>
            </a:endParaRPr>
          </a:p>
        </p:txBody>
      </p:sp>
      <p:pic>
        <p:nvPicPr>
          <p:cNvPr id="666" name="Google Shape;666;p69"/>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667" name="Google Shape;667;p69"/>
          <p:cNvGrpSpPr/>
          <p:nvPr/>
        </p:nvGrpSpPr>
        <p:grpSpPr>
          <a:xfrm>
            <a:off x="263450" y="1143050"/>
            <a:ext cx="8597553" cy="3678892"/>
            <a:chOff x="263434" y="1143014"/>
            <a:chExt cx="4761341" cy="3003668"/>
          </a:xfrm>
        </p:grpSpPr>
        <p:sp>
          <p:nvSpPr>
            <p:cNvPr id="668" name="Google Shape;668;p69"/>
            <p:cNvSpPr/>
            <p:nvPr/>
          </p:nvSpPr>
          <p:spPr>
            <a:xfrm>
              <a:off x="263434" y="1146381"/>
              <a:ext cx="23268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69"/>
            <p:cNvSpPr/>
            <p:nvPr/>
          </p:nvSpPr>
          <p:spPr>
            <a:xfrm>
              <a:off x="2697975" y="1143014"/>
              <a:ext cx="23268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69"/>
            <p:cNvSpPr txBox="1"/>
            <p:nvPr/>
          </p:nvSpPr>
          <p:spPr>
            <a:xfrm>
              <a:off x="333365" y="1238254"/>
              <a:ext cx="2155800" cy="28098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Startups</a:t>
              </a:r>
              <a:endParaRPr b="1" sz="2000">
                <a:solidFill>
                  <a:schemeClr val="lt1"/>
                </a:solidFill>
                <a:latin typeface="Source Sans Pro"/>
                <a:ea typeface="Source Sans Pro"/>
                <a:cs typeface="Source Sans Pro"/>
                <a:sym typeface="Source Sans Pro"/>
              </a:endParaRPr>
            </a:p>
            <a:p>
              <a:pPr indent="-209550" lvl="0" marL="269999"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Muy usado </a:t>
              </a:r>
              <a:r>
                <a:rPr lang="es" sz="1800">
                  <a:solidFill>
                    <a:schemeClr val="lt1"/>
                  </a:solidFill>
                  <a:latin typeface="Source Sans Pro"/>
                  <a:ea typeface="Source Sans Pro"/>
                  <a:cs typeface="Source Sans Pro"/>
                  <a:sym typeface="Source Sans Pro"/>
                </a:rPr>
                <a:t>por su experiencia de desarrollo.</a:t>
              </a:r>
              <a:endParaRPr sz="1800">
                <a:solidFill>
                  <a:schemeClr val="lt1"/>
                </a:solidFill>
                <a:latin typeface="Source Sans Pro"/>
                <a:ea typeface="Source Sans Pro"/>
                <a:cs typeface="Source Sans Pro"/>
                <a:sym typeface="Source Sans Pro"/>
              </a:endParaRPr>
            </a:p>
            <a:p>
              <a:pPr indent="-209550" lvl="0" marL="269999"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Rápida </a:t>
              </a:r>
              <a:r>
                <a:rPr b="1" lang="es" sz="1800">
                  <a:solidFill>
                    <a:schemeClr val="lt1"/>
                  </a:solidFill>
                  <a:latin typeface="Source Sans Pro"/>
                  <a:ea typeface="Source Sans Pro"/>
                  <a:cs typeface="Source Sans Pro"/>
                  <a:sym typeface="Source Sans Pro"/>
                </a:rPr>
                <a:t>iteración</a:t>
              </a:r>
              <a:r>
                <a:rPr b="1" lang="es" sz="1800">
                  <a:solidFill>
                    <a:schemeClr val="lt1"/>
                  </a:solidFill>
                  <a:latin typeface="Source Sans Pro"/>
                  <a:ea typeface="Source Sans Pro"/>
                  <a:cs typeface="Source Sans Pro"/>
                  <a:sym typeface="Source Sans Pro"/>
                </a:rPr>
                <a:t> </a:t>
              </a:r>
              <a:r>
                <a:rPr lang="es" sz="1800">
                  <a:solidFill>
                    <a:schemeClr val="lt1"/>
                  </a:solidFill>
                  <a:latin typeface="Source Sans Pro"/>
                  <a:ea typeface="Source Sans Pro"/>
                  <a:cs typeface="Source Sans Pro"/>
                  <a:sym typeface="Source Sans Pro"/>
                </a:rPr>
                <a:t>con equipos chicos.</a:t>
              </a:r>
              <a:endParaRPr sz="1800">
                <a:solidFill>
                  <a:schemeClr val="lt1"/>
                </a:solidFill>
                <a:latin typeface="Source Sans Pro"/>
                <a:ea typeface="Source Sans Pro"/>
                <a:cs typeface="Source Sans Pro"/>
                <a:sym typeface="Source Sans Pro"/>
              </a:endParaRPr>
            </a:p>
          </p:txBody>
        </p:sp>
        <p:sp>
          <p:nvSpPr>
            <p:cNvPr id="671" name="Google Shape;671;p69"/>
            <p:cNvSpPr txBox="1"/>
            <p:nvPr/>
          </p:nvSpPr>
          <p:spPr>
            <a:xfrm>
              <a:off x="2756456" y="1247182"/>
              <a:ext cx="2221800" cy="2697900"/>
            </a:xfrm>
            <a:prstGeom prst="rect">
              <a:avLst/>
            </a:prstGeom>
            <a:solidFill>
              <a:srgbClr val="14191F"/>
            </a:solid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s" sz="2000">
                  <a:solidFill>
                    <a:srgbClr val="6178F2"/>
                  </a:solidFill>
                  <a:latin typeface="Source Sans Pro"/>
                  <a:ea typeface="Source Sans Pro"/>
                  <a:cs typeface="Source Sans Pro"/>
                  <a:sym typeface="Source Sans Pro"/>
                </a:rPr>
                <a:t>Enterprise</a:t>
              </a:r>
              <a:endParaRPr b="1" sz="1800">
                <a:solidFill>
                  <a:schemeClr val="lt1"/>
                </a:solidFill>
                <a:latin typeface="Source Sans Pro"/>
                <a:ea typeface="Source Sans Pro"/>
                <a:cs typeface="Source Sans Pro"/>
                <a:sym typeface="Source Sans Pro"/>
              </a:endParaRPr>
            </a:p>
            <a:p>
              <a:pPr indent="-209550" lvl="0" marL="269999" rtl="0" algn="l">
                <a:lnSpc>
                  <a:spcPct val="150000"/>
                </a:lnSpc>
                <a:spcBef>
                  <a:spcPts val="45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O</a:t>
              </a:r>
              <a:r>
                <a:rPr b="1" lang="es" sz="1800">
                  <a:solidFill>
                    <a:schemeClr val="lt1"/>
                  </a:solidFill>
                  <a:latin typeface="Source Sans Pro"/>
                  <a:ea typeface="Source Sans Pro"/>
                  <a:cs typeface="Source Sans Pro"/>
                  <a:sym typeface="Source Sans Pro"/>
                </a:rPr>
                <a:t>frece un plan Enterprise </a:t>
              </a:r>
              <a:r>
                <a:rPr lang="es" sz="1800">
                  <a:solidFill>
                    <a:schemeClr val="lt1"/>
                  </a:solidFill>
                  <a:latin typeface="Source Sans Pro"/>
                  <a:ea typeface="Source Sans Pro"/>
                  <a:cs typeface="Source Sans Pro"/>
                  <a:sym typeface="Source Sans Pro"/>
                </a:rPr>
                <a:t>con soporte, SLAs </a:t>
              </a:r>
              <a:r>
                <a:rPr lang="es" sz="1800">
                  <a:solidFill>
                    <a:schemeClr val="lt1"/>
                  </a:solidFill>
                  <a:latin typeface="Source Sans Pro"/>
                  <a:ea typeface="Source Sans Pro"/>
                  <a:cs typeface="Source Sans Pro"/>
                  <a:sym typeface="Source Sans Pro"/>
                </a:rPr>
                <a:t>(Service Level Agreement)</a:t>
              </a:r>
              <a:r>
                <a:rPr lang="es" sz="1800">
                  <a:solidFill>
                    <a:schemeClr val="lt1"/>
                  </a:solidFill>
                  <a:latin typeface="Source Sans Pro"/>
                  <a:ea typeface="Source Sans Pro"/>
                  <a:cs typeface="Source Sans Pro"/>
                  <a:sym typeface="Source Sans Pro"/>
                </a:rPr>
                <a:t> y acompañamiento en seguridad y cumplimiento.</a:t>
              </a:r>
              <a:endParaRPr sz="1800">
                <a:solidFill>
                  <a:schemeClr val="lt1"/>
                </a:solidFill>
                <a:latin typeface="Source Sans Pro"/>
                <a:ea typeface="Source Sans Pro"/>
                <a:cs typeface="Source Sans Pro"/>
                <a:sym typeface="Source Sans Pro"/>
              </a:endParaRPr>
            </a:p>
            <a:p>
              <a:pPr indent="-209550" lvl="0" marL="269999" rtl="0" algn="l">
                <a:lnSpc>
                  <a:spcPct val="150000"/>
                </a:lnSpc>
                <a:spcBef>
                  <a:spcPts val="0"/>
                </a:spcBef>
                <a:spcAft>
                  <a:spcPts val="0"/>
                </a:spcAft>
                <a:buClr>
                  <a:schemeClr val="lt1"/>
                </a:buClr>
                <a:buSzPts val="1800"/>
                <a:buFont typeface="Source Sans Pro"/>
                <a:buChar char="●"/>
              </a:pPr>
              <a:r>
                <a:rPr b="1" lang="es" sz="1800">
                  <a:solidFill>
                    <a:schemeClr val="lt1"/>
                  </a:solidFill>
                  <a:latin typeface="Source Sans Pro"/>
                  <a:ea typeface="Source Sans Pro"/>
                  <a:cs typeface="Source Sans Pro"/>
                  <a:sym typeface="Source Sans Pro"/>
                </a:rPr>
                <a:t>Herramientas como Prisma Accelerate </a:t>
              </a:r>
              <a:r>
                <a:rPr lang="es" sz="1800">
                  <a:solidFill>
                    <a:schemeClr val="lt1"/>
                  </a:solidFill>
                  <a:latin typeface="Source Sans Pro"/>
                  <a:ea typeface="Source Sans Pro"/>
                  <a:cs typeface="Source Sans Pro"/>
                  <a:sym typeface="Source Sans Pro"/>
                </a:rPr>
                <a:t>permiten manejar altas demandas en entornos serverless.</a:t>
              </a:r>
              <a:endParaRPr sz="18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0"/>
                </a:spcAft>
                <a:buNone/>
              </a:pPr>
              <a:r>
                <a:t/>
              </a:r>
              <a:endParaRPr sz="1600">
                <a:solidFill>
                  <a:schemeClr val="lt1"/>
                </a:solidFill>
                <a:latin typeface="Source Sans Pro"/>
                <a:ea typeface="Source Sans Pro"/>
                <a:cs typeface="Source Sans Pro"/>
                <a:sym typeface="Source Sans Pro"/>
              </a:endParaRPr>
            </a:p>
            <a:p>
              <a:pPr indent="0" lvl="0" marL="0" rtl="0" algn="l">
                <a:lnSpc>
                  <a:spcPct val="150000"/>
                </a:lnSpc>
                <a:spcBef>
                  <a:spcPts val="450"/>
                </a:spcBef>
                <a:spcAft>
                  <a:spcPts val="450"/>
                </a:spcAft>
                <a:buNone/>
              </a:pPr>
              <a:r>
                <a:t/>
              </a:r>
              <a:endParaRPr b="1" sz="1800">
                <a:solidFill>
                  <a:schemeClr val="lt1"/>
                </a:solidFill>
                <a:latin typeface="Source Sans Pro"/>
                <a:ea typeface="Source Sans Pro"/>
                <a:cs typeface="Source Sans Pro"/>
                <a:sym typeface="Source Sans Pro"/>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75" name="Shape 675"/>
        <p:cNvGrpSpPr/>
        <p:nvPr/>
      </p:nvGrpSpPr>
      <p:grpSpPr>
        <a:xfrm>
          <a:off x="0" y="0"/>
          <a:ext cx="0" cy="0"/>
          <a:chOff x="0" y="0"/>
          <a:chExt cx="0" cy="0"/>
        </a:xfrm>
      </p:grpSpPr>
      <p:sp>
        <p:nvSpPr>
          <p:cNvPr id="676" name="Google Shape;676;p70"/>
          <p:cNvSpPr/>
          <p:nvPr/>
        </p:nvSpPr>
        <p:spPr>
          <a:xfrm>
            <a:off x="0" y="0"/>
            <a:ext cx="9144000" cy="1006800"/>
          </a:xfrm>
          <a:prstGeom prst="rect">
            <a:avLst/>
          </a:prstGeom>
          <a:solidFill>
            <a:srgbClr val="1419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77" name="Google Shape;677;p70"/>
          <p:cNvSpPr/>
          <p:nvPr/>
        </p:nvSpPr>
        <p:spPr>
          <a:xfrm>
            <a:off x="1617875" y="215700"/>
            <a:ext cx="6699600" cy="575400"/>
          </a:xfrm>
          <a:prstGeom prst="roundRect">
            <a:avLst>
              <a:gd fmla="val 12000" name="adj"/>
            </a:avLst>
          </a:prstGeom>
          <a:solidFill>
            <a:srgbClr val="0F172A"/>
          </a:solidFill>
          <a:ln cap="flat" cmpd="sng" w="38100">
            <a:solidFill>
              <a:srgbClr val="6178F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rtl="0" algn="ctr">
              <a:spcBef>
                <a:spcPts val="0"/>
              </a:spcBef>
              <a:spcAft>
                <a:spcPts val="0"/>
              </a:spcAft>
              <a:buClr>
                <a:schemeClr val="dk2"/>
              </a:buClr>
              <a:buSzPts val="1100"/>
              <a:buFont typeface="Arial"/>
              <a:buNone/>
            </a:pPr>
            <a:r>
              <a:rPr b="1" lang="es" sz="3100">
                <a:solidFill>
                  <a:srgbClr val="6178F2"/>
                </a:solidFill>
                <a:latin typeface="Source Sans Pro"/>
                <a:ea typeface="Source Sans Pro"/>
                <a:cs typeface="Source Sans Pro"/>
                <a:sym typeface="Source Sans Pro"/>
              </a:rPr>
              <a:t>Rol como estándar</a:t>
            </a:r>
            <a:endParaRPr b="1" sz="3100">
              <a:solidFill>
                <a:srgbClr val="6178F2"/>
              </a:solidFill>
              <a:latin typeface="Source Sans Pro"/>
              <a:ea typeface="Source Sans Pro"/>
              <a:cs typeface="Source Sans Pro"/>
              <a:sym typeface="Source Sans Pro"/>
            </a:endParaRPr>
          </a:p>
        </p:txBody>
      </p:sp>
      <p:pic>
        <p:nvPicPr>
          <p:cNvPr id="678" name="Google Shape;678;p70"/>
          <p:cNvPicPr preferRelativeResize="0"/>
          <p:nvPr/>
        </p:nvPicPr>
        <p:blipFill rotWithShape="1">
          <a:blip r:embed="rId3">
            <a:alphaModFix/>
          </a:blip>
          <a:srcRect b="18954" l="32877" r="35088" t="18961"/>
          <a:stretch/>
        </p:blipFill>
        <p:spPr>
          <a:xfrm>
            <a:off x="0" y="0"/>
            <a:ext cx="1239801" cy="1006800"/>
          </a:xfrm>
          <a:prstGeom prst="rect">
            <a:avLst/>
          </a:prstGeom>
          <a:solidFill>
            <a:srgbClr val="171717"/>
          </a:solidFill>
          <a:ln>
            <a:noFill/>
          </a:ln>
        </p:spPr>
      </p:pic>
      <p:grpSp>
        <p:nvGrpSpPr>
          <p:cNvPr id="679" name="Google Shape;679;p70"/>
          <p:cNvGrpSpPr/>
          <p:nvPr/>
        </p:nvGrpSpPr>
        <p:grpSpPr>
          <a:xfrm>
            <a:off x="263459" y="1147172"/>
            <a:ext cx="8520509" cy="3674767"/>
            <a:chOff x="263434" y="1146381"/>
            <a:chExt cx="2326800" cy="3000300"/>
          </a:xfrm>
        </p:grpSpPr>
        <p:sp>
          <p:nvSpPr>
            <p:cNvPr id="680" name="Google Shape;680;p70"/>
            <p:cNvSpPr/>
            <p:nvPr/>
          </p:nvSpPr>
          <p:spPr>
            <a:xfrm>
              <a:off x="263434" y="1146381"/>
              <a:ext cx="2326800" cy="3000300"/>
            </a:xfrm>
            <a:prstGeom prst="roundRect">
              <a:avLst>
                <a:gd fmla="val 2758" name="adj"/>
              </a:avLst>
            </a:prstGeom>
            <a:solidFill>
              <a:srgbClr val="14191F"/>
            </a:solidFill>
            <a:ln cap="flat" cmpd="sng" w="9525">
              <a:solidFill>
                <a:srgbClr val="44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1" name="Google Shape;681;p70"/>
            <p:cNvSpPr txBox="1"/>
            <p:nvPr/>
          </p:nvSpPr>
          <p:spPr>
            <a:xfrm>
              <a:off x="333365" y="1238254"/>
              <a:ext cx="2155800" cy="2809800"/>
            </a:xfrm>
            <a:prstGeom prst="rect">
              <a:avLst/>
            </a:prstGeom>
            <a:solidFill>
              <a:srgbClr val="14191F"/>
            </a:solidFill>
            <a:ln>
              <a:noFill/>
            </a:ln>
          </p:spPr>
          <p:txBody>
            <a:bodyPr anchorCtr="0" anchor="t" bIns="0" lIns="0" spcFirstLastPara="1" rIns="0" wrap="square" tIns="0">
              <a:noAutofit/>
            </a:bodyPr>
            <a:lstStyle/>
            <a:p>
              <a:pPr indent="-215900" lvl="0" marL="269999" rtl="0" algn="l">
                <a:lnSpc>
                  <a:spcPct val="150000"/>
                </a:lnSpc>
                <a:spcBef>
                  <a:spcPts val="0"/>
                </a:spcBef>
                <a:spcAft>
                  <a:spcPts val="0"/>
                </a:spcAft>
                <a:buClr>
                  <a:schemeClr val="lt1"/>
                </a:buClr>
                <a:buSzPts val="1900"/>
                <a:buFont typeface="Source Sans Pro"/>
                <a:buChar char="●"/>
              </a:pPr>
              <a:r>
                <a:rPr b="1" lang="es" sz="1900">
                  <a:solidFill>
                    <a:schemeClr val="lt1"/>
                  </a:solidFill>
                  <a:latin typeface="Source Sans Pro"/>
                  <a:ea typeface="Source Sans Pro"/>
                  <a:cs typeface="Source Sans Pro"/>
                  <a:sym typeface="Source Sans Pro"/>
                </a:rPr>
                <a:t>Es una opción ampliamente integrada con guías oficiales para</a:t>
              </a:r>
              <a:r>
                <a:rPr b="1" lang="es" sz="1900">
                  <a:solidFill>
                    <a:srgbClr val="6178F2"/>
                  </a:solidFill>
                  <a:latin typeface="Source Sans Pro"/>
                  <a:ea typeface="Source Sans Pro"/>
                  <a:cs typeface="Source Sans Pro"/>
                  <a:sym typeface="Source Sans Pro"/>
                </a:rPr>
                <a:t> Next.js</a:t>
              </a:r>
              <a:r>
                <a:rPr b="1" lang="es" sz="1900">
                  <a:solidFill>
                    <a:schemeClr val="lt1"/>
                  </a:solidFill>
                  <a:latin typeface="Source Sans Pro"/>
                  <a:ea typeface="Source Sans Pro"/>
                  <a:cs typeface="Source Sans Pro"/>
                  <a:sym typeface="Source Sans Pro"/>
                </a:rPr>
                <a:t>, </a:t>
              </a:r>
              <a:r>
                <a:rPr b="1" lang="es" sz="1900">
                  <a:solidFill>
                    <a:srgbClr val="6178F2"/>
                  </a:solidFill>
                  <a:latin typeface="Source Sans Pro"/>
                  <a:ea typeface="Source Sans Pro"/>
                  <a:cs typeface="Source Sans Pro"/>
                  <a:sym typeface="Source Sans Pro"/>
                </a:rPr>
                <a:t>NestJS</a:t>
              </a:r>
              <a:r>
                <a:rPr b="1" lang="es" sz="1900">
                  <a:solidFill>
                    <a:schemeClr val="lt1"/>
                  </a:solidFill>
                  <a:latin typeface="Source Sans Pro"/>
                  <a:ea typeface="Source Sans Pro"/>
                  <a:cs typeface="Source Sans Pro"/>
                  <a:sym typeface="Source Sans Pro"/>
                </a:rPr>
                <a:t>, </a:t>
              </a:r>
              <a:r>
                <a:rPr b="1" lang="es" sz="1900">
                  <a:solidFill>
                    <a:srgbClr val="6178F2"/>
                  </a:solidFill>
                  <a:latin typeface="Source Sans Pro"/>
                  <a:ea typeface="Source Sans Pro"/>
                  <a:cs typeface="Source Sans Pro"/>
                  <a:sym typeface="Source Sans Pro"/>
                </a:rPr>
                <a:t>Astro</a:t>
              </a:r>
              <a:r>
                <a:rPr b="1" lang="es" sz="1900">
                  <a:solidFill>
                    <a:schemeClr val="lt1"/>
                  </a:solidFill>
                  <a:latin typeface="Source Sans Pro"/>
                  <a:ea typeface="Source Sans Pro"/>
                  <a:cs typeface="Source Sans Pro"/>
                  <a:sym typeface="Source Sans Pro"/>
                </a:rPr>
                <a:t>, Nuxt, SvelteKit, TanStack Start, Hono y Elysia. </a:t>
              </a:r>
              <a:endParaRPr b="1" sz="1900">
                <a:solidFill>
                  <a:schemeClr val="lt1"/>
                </a:solidFill>
                <a:latin typeface="Source Sans Pro"/>
                <a:ea typeface="Source Sans Pro"/>
                <a:cs typeface="Source Sans Pro"/>
                <a:sym typeface="Source Sans Pro"/>
              </a:endParaRPr>
            </a:p>
            <a:p>
              <a:pPr indent="-215900" lvl="0" marL="269999" rtl="0" algn="l">
                <a:lnSpc>
                  <a:spcPct val="150000"/>
                </a:lnSpc>
                <a:spcBef>
                  <a:spcPts val="0"/>
                </a:spcBef>
                <a:spcAft>
                  <a:spcPts val="0"/>
                </a:spcAft>
                <a:buClr>
                  <a:schemeClr val="lt1"/>
                </a:buClr>
                <a:buSzPts val="1900"/>
                <a:buFont typeface="Source Sans Pro"/>
                <a:buChar char="●"/>
              </a:pPr>
              <a:r>
                <a:rPr b="1" lang="es" sz="1900">
                  <a:solidFill>
                    <a:schemeClr val="lt1"/>
                  </a:solidFill>
                  <a:latin typeface="Source Sans Pro"/>
                  <a:ea typeface="Source Sans Pro"/>
                  <a:cs typeface="Source Sans Pro"/>
                  <a:sym typeface="Source Sans Pro"/>
                </a:rPr>
                <a:t>La integración con NestJS está bien documentada, pero no es automática. Existe una librería de la comunidad (nestjs-prisma) que automatiza ese armado, pero no es oficial.</a:t>
              </a:r>
              <a:endParaRPr b="1" sz="1900">
                <a:solidFill>
                  <a:schemeClr val="lt1"/>
                </a:solidFill>
                <a:latin typeface="Source Sans Pro"/>
                <a:ea typeface="Source Sans Pro"/>
                <a:cs typeface="Source Sans Pro"/>
                <a:sym typeface="Source Sans Pro"/>
              </a:endParaRPr>
            </a:p>
            <a:p>
              <a:pPr indent="-215900" lvl="0" marL="269999" rtl="0" algn="l">
                <a:lnSpc>
                  <a:spcPct val="150000"/>
                </a:lnSpc>
                <a:spcBef>
                  <a:spcPts val="0"/>
                </a:spcBef>
                <a:spcAft>
                  <a:spcPts val="0"/>
                </a:spcAft>
                <a:buClr>
                  <a:schemeClr val="lt1"/>
                </a:buClr>
                <a:buSzPts val="1900"/>
                <a:buFont typeface="Source Sans Pro"/>
                <a:buChar char="●"/>
              </a:pPr>
              <a:r>
                <a:rPr b="1" lang="es" sz="1900">
                  <a:solidFill>
                    <a:schemeClr val="lt1"/>
                  </a:solidFill>
                  <a:latin typeface="Source Sans Pro"/>
                  <a:ea typeface="Source Sans Pro"/>
                  <a:cs typeface="Source Sans Pro"/>
                  <a:sym typeface="Source Sans Pro"/>
                </a:rPr>
                <a:t>Para </a:t>
              </a:r>
              <a:r>
                <a:rPr b="1" lang="es" sz="1900" u="sng">
                  <a:solidFill>
                    <a:schemeClr val="hlink"/>
                  </a:solidFill>
                  <a:latin typeface="Source Sans Pro"/>
                  <a:ea typeface="Source Sans Pro"/>
                  <a:cs typeface="Source Sans Pro"/>
                  <a:sym typeface="Source Sans Pro"/>
                  <a:hlinkClick r:id="rId4"/>
                </a:rPr>
                <a:t>Next.js</a:t>
              </a:r>
              <a:r>
                <a:rPr b="1" lang="es" sz="1900">
                  <a:solidFill>
                    <a:schemeClr val="lt1"/>
                  </a:solidFill>
                  <a:latin typeface="Source Sans Pro"/>
                  <a:ea typeface="Source Sans Pro"/>
                  <a:cs typeface="Source Sans Pro"/>
                  <a:sym typeface="Source Sans Pro"/>
                </a:rPr>
                <a:t> cuenta con starters, plantillas </a:t>
              </a:r>
              <a:r>
                <a:rPr b="1" lang="es" sz="1900">
                  <a:solidFill>
                    <a:schemeClr val="lt1"/>
                  </a:solidFill>
                  <a:latin typeface="Source Sans Pro"/>
                  <a:ea typeface="Source Sans Pro"/>
                  <a:cs typeface="Source Sans Pro"/>
                  <a:sym typeface="Source Sans Pro"/>
                </a:rPr>
                <a:t>pre armadas</a:t>
              </a:r>
              <a:r>
                <a:rPr b="1" lang="es" sz="1900">
                  <a:solidFill>
                    <a:schemeClr val="lt1"/>
                  </a:solidFill>
                  <a:latin typeface="Source Sans Pro"/>
                  <a:ea typeface="Source Sans Pro"/>
                  <a:cs typeface="Source Sans Pro"/>
                  <a:sym typeface="Source Sans Pro"/>
                </a:rPr>
                <a:t> que se pueden descargar y utilizar.</a:t>
              </a:r>
              <a:endParaRPr b="1" sz="1900">
                <a:solidFill>
                  <a:schemeClr val="lt1"/>
                </a:solidFill>
                <a:latin typeface="Source Sans Pro"/>
                <a:ea typeface="Source Sans Pro"/>
                <a:cs typeface="Source Sans Pro"/>
                <a:sym typeface="Source Sans Pro"/>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85" name="Shape 685"/>
        <p:cNvGrpSpPr/>
        <p:nvPr/>
      </p:nvGrpSpPr>
      <p:grpSpPr>
        <a:xfrm>
          <a:off x="0" y="0"/>
          <a:ext cx="0" cy="0"/>
          <a:chOff x="0" y="0"/>
          <a:chExt cx="0" cy="0"/>
        </a:xfrm>
      </p:grpSpPr>
      <p:sp>
        <p:nvSpPr>
          <p:cNvPr id="686" name="Google Shape;686;p71"/>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87" name="Google Shape;687;p71"/>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F472B6"/>
                </a:solidFill>
                <a:latin typeface="Source Sans Pro"/>
                <a:ea typeface="Source Sans Pro"/>
                <a:cs typeface="Source Sans Pro"/>
                <a:sym typeface="Source Sans Pro"/>
              </a:rPr>
              <a:t>Implementación y demostración práctica (PoC)</a:t>
            </a:r>
            <a:endParaRPr b="1" sz="6000">
              <a:solidFill>
                <a:srgbClr val="F472B6"/>
              </a:solidFill>
              <a:latin typeface="Source Sans Pro"/>
              <a:ea typeface="Source Sans Pro"/>
              <a:cs typeface="Source Sans Pro"/>
              <a:sym typeface="Source Sans Pr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91" name="Shape 691"/>
        <p:cNvGrpSpPr/>
        <p:nvPr/>
      </p:nvGrpSpPr>
      <p:grpSpPr>
        <a:xfrm>
          <a:off x="0" y="0"/>
          <a:ext cx="0" cy="0"/>
          <a:chOff x="0" y="0"/>
          <a:chExt cx="0" cy="0"/>
        </a:xfrm>
      </p:grpSpPr>
      <p:sp>
        <p:nvSpPr>
          <p:cNvPr id="692" name="Google Shape;692;p72"/>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693" name="Google Shape;693;p72"/>
          <p:cNvSpPr/>
          <p:nvPr/>
        </p:nvSpPr>
        <p:spPr>
          <a:xfrm>
            <a:off x="3349188" y="197400"/>
            <a:ext cx="2445600" cy="612000"/>
          </a:xfrm>
          <a:prstGeom prst="rect">
            <a:avLst/>
          </a:prstGeom>
          <a:noFill/>
          <a:ln cap="flat" cmpd="sng" w="38100">
            <a:solidFill>
              <a:srgbClr val="E2E8F0"/>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600">
                <a:solidFill>
                  <a:schemeClr val="lt1"/>
                </a:solidFill>
                <a:latin typeface="Raleway"/>
                <a:ea typeface="Raleway"/>
                <a:cs typeface="Raleway"/>
                <a:sym typeface="Raleway"/>
              </a:rPr>
              <a:t>DOMINIO</a:t>
            </a:r>
            <a:endParaRPr sz="3600">
              <a:solidFill>
                <a:schemeClr val="lt1"/>
              </a:solidFill>
              <a:latin typeface="Source Sans Pro"/>
              <a:ea typeface="Source Sans Pro"/>
              <a:cs typeface="Source Sans Pro"/>
              <a:sym typeface="Source Sans Pro"/>
            </a:endParaRPr>
          </a:p>
        </p:txBody>
      </p:sp>
      <p:sp>
        <p:nvSpPr>
          <p:cNvPr id="694" name="Google Shape;694;p72"/>
          <p:cNvSpPr/>
          <p:nvPr/>
        </p:nvSpPr>
        <p:spPr>
          <a:xfrm>
            <a:off x="382637" y="1250150"/>
            <a:ext cx="8378718" cy="3389414"/>
          </a:xfrm>
          <a:prstGeom prst="roundRect">
            <a:avLst>
              <a:gd fmla="val 4800" name="adj"/>
            </a:avLst>
          </a:prstGeom>
          <a:solidFill>
            <a:schemeClr val="lt2"/>
          </a:solidFill>
          <a:ln cap="flat" cmpd="sng" w="70150">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classDiagram&#10;    direction LR&#10;&#10;    class Usuario {&#10;        id&#10;        nombre&#10;        email&#10;        edad&#10;        fechaCreacion&#10;    }&#10;&#10;    class Publicacion {&#10;        id&#10;        titulo&#10;        contenido&#10;        publicado&#10;        fechaCreacion&#10;    }&#10;&#10;    class Etiqueta {&#10;        id&#10;        nombre&#10;    }&#10;&#10;    Usuario &quot;1&quot; -- &quot;0..*&quot; Publicacion : escribe&#10;    Publicacion &quot;0..*&quot; -- &quot;0..*&quot; Etiqueta : posee" id="695" name="Google Shape;695;p72" title="mermaid-graph/default"/>
          <p:cNvPicPr preferRelativeResize="0"/>
          <p:nvPr/>
        </p:nvPicPr>
        <p:blipFill>
          <a:blip r:embed="rId3">
            <a:alphaModFix/>
          </a:blip>
          <a:stretch>
            <a:fillRect/>
          </a:stretch>
        </p:blipFill>
        <p:spPr>
          <a:xfrm>
            <a:off x="489213" y="1471763"/>
            <a:ext cx="8165901" cy="294620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699" name="Shape 699"/>
        <p:cNvGrpSpPr/>
        <p:nvPr/>
      </p:nvGrpSpPr>
      <p:grpSpPr>
        <a:xfrm>
          <a:off x="0" y="0"/>
          <a:ext cx="0" cy="0"/>
          <a:chOff x="0" y="0"/>
          <a:chExt cx="0" cy="0"/>
        </a:xfrm>
      </p:grpSpPr>
      <p:sp>
        <p:nvSpPr>
          <p:cNvPr id="700" name="Google Shape;700;p73"/>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73"/>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73"/>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grpSp>
        <p:nvGrpSpPr>
          <p:cNvPr id="703" name="Google Shape;703;p73"/>
          <p:cNvGrpSpPr/>
          <p:nvPr/>
        </p:nvGrpSpPr>
        <p:grpSpPr>
          <a:xfrm>
            <a:off x="512275" y="1365700"/>
            <a:ext cx="2275428" cy="2747817"/>
            <a:chOff x="381000" y="2686200"/>
            <a:chExt cx="2381400" cy="1885812"/>
          </a:xfrm>
        </p:grpSpPr>
        <p:sp>
          <p:nvSpPr>
            <p:cNvPr id="704" name="Google Shape;704;p73"/>
            <p:cNvSpPr/>
            <p:nvPr/>
          </p:nvSpPr>
          <p:spPr>
            <a:xfrm>
              <a:off x="381000" y="2686200"/>
              <a:ext cx="2381400" cy="1885800"/>
            </a:xfrm>
            <a:prstGeom prst="roundRect">
              <a:avLst>
                <a:gd fmla="val 4800" name="adj"/>
              </a:avLst>
            </a:prstGeom>
            <a:solidFill>
              <a:srgbClr val="444444"/>
            </a:solidFill>
            <a:ln cap="flat" cmpd="sng" w="19050">
              <a:solidFill>
                <a:srgbClr val="DDDDD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73"/>
            <p:cNvSpPr txBox="1"/>
            <p:nvPr/>
          </p:nvSpPr>
          <p:spPr>
            <a:xfrm>
              <a:off x="381000" y="2686212"/>
              <a:ext cx="2381400" cy="18858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1800">
                  <a:solidFill>
                    <a:srgbClr val="F59E0B"/>
                  </a:solidFill>
                  <a:latin typeface="Source Sans Pro"/>
                  <a:ea typeface="Source Sans Pro"/>
                  <a:cs typeface="Source Sans Pro"/>
                  <a:sym typeface="Source Sans Pro"/>
                </a:rPr>
                <a:t>01</a:t>
              </a:r>
              <a:endParaRPr b="1" sz="1800">
                <a:solidFill>
                  <a:srgbClr val="F59E0B"/>
                </a:solidFill>
                <a:latin typeface="Source Sans Pro"/>
                <a:ea typeface="Source Sans Pro"/>
                <a:cs typeface="Source Sans Pro"/>
                <a:sym typeface="Source Sans Pro"/>
              </a:endParaRPr>
            </a:p>
            <a:p>
              <a:pPr indent="0" lvl="0" marL="0" rtl="0" algn="ctr">
                <a:spcBef>
                  <a:spcPts val="600"/>
                </a:spcBef>
                <a:spcAft>
                  <a:spcPts val="0"/>
                </a:spcAft>
                <a:buNone/>
              </a:pPr>
              <a:r>
                <a:rPr b="1" lang="es" sz="2000">
                  <a:solidFill>
                    <a:schemeClr val="lt1"/>
                  </a:solidFill>
                  <a:latin typeface="Source Sans Pro"/>
                  <a:ea typeface="Source Sans Pro"/>
                  <a:cs typeface="Source Sans Pro"/>
                  <a:sym typeface="Source Sans Pro"/>
                </a:rPr>
                <a:t>Modelado</a:t>
              </a:r>
              <a:endParaRPr b="1" sz="20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2500">
                  <a:solidFill>
                    <a:schemeClr val="lt1"/>
                  </a:solidFill>
                  <a:latin typeface="Source Sans Pro"/>
                  <a:ea typeface="Source Sans Pro"/>
                  <a:cs typeface="Source Sans Pro"/>
                  <a:sym typeface="Source Sans Pro"/>
                </a:rPr>
                <a:t>Definición de Esquema</a:t>
              </a:r>
              <a:endParaRPr b="1">
                <a:solidFill>
                  <a:srgbClr val="CBD5E1"/>
                </a:solidFill>
                <a:latin typeface="Source Sans Pro"/>
                <a:ea typeface="Source Sans Pro"/>
                <a:cs typeface="Source Sans Pro"/>
                <a:sym typeface="Source Sans Pro"/>
              </a:endParaRPr>
            </a:p>
            <a:p>
              <a:pPr indent="0" lvl="0" marL="0" rtl="0" algn="ctr">
                <a:spcBef>
                  <a:spcPts val="1500"/>
                </a:spcBef>
                <a:spcAft>
                  <a:spcPts val="900"/>
                </a:spcAft>
                <a:buNone/>
              </a:pPr>
              <a:r>
                <a:t/>
              </a:r>
              <a:endParaRPr b="1" sz="2400">
                <a:solidFill>
                  <a:srgbClr val="60A5FA"/>
                </a:solidFill>
                <a:latin typeface="Source Sans Pro"/>
                <a:ea typeface="Source Sans Pro"/>
                <a:cs typeface="Source Sans Pro"/>
                <a:sym typeface="Source Sans Pro"/>
              </a:endParaRPr>
            </a:p>
          </p:txBody>
        </p:sp>
      </p:grpSp>
      <p:grpSp>
        <p:nvGrpSpPr>
          <p:cNvPr id="706" name="Google Shape;706;p73"/>
          <p:cNvGrpSpPr/>
          <p:nvPr/>
        </p:nvGrpSpPr>
        <p:grpSpPr>
          <a:xfrm>
            <a:off x="3434300" y="1365664"/>
            <a:ext cx="2275428" cy="2747817"/>
            <a:chOff x="381000" y="2686200"/>
            <a:chExt cx="2381400" cy="1885812"/>
          </a:xfrm>
        </p:grpSpPr>
        <p:sp>
          <p:nvSpPr>
            <p:cNvPr id="707" name="Google Shape;707;p73"/>
            <p:cNvSpPr/>
            <p:nvPr/>
          </p:nvSpPr>
          <p:spPr>
            <a:xfrm>
              <a:off x="381000" y="2686200"/>
              <a:ext cx="2381400" cy="1885800"/>
            </a:xfrm>
            <a:prstGeom prst="roundRect">
              <a:avLst>
                <a:gd fmla="val 4800" name="adj"/>
              </a:avLst>
            </a:prstGeom>
            <a:solidFill>
              <a:srgbClr val="444444"/>
            </a:solidFill>
            <a:ln cap="flat" cmpd="sng" w="19050">
              <a:solidFill>
                <a:srgbClr val="DDDDD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73"/>
            <p:cNvSpPr txBox="1"/>
            <p:nvPr/>
          </p:nvSpPr>
          <p:spPr>
            <a:xfrm>
              <a:off x="381000" y="2686212"/>
              <a:ext cx="2381400" cy="18858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2000">
                  <a:solidFill>
                    <a:srgbClr val="F59E0B"/>
                  </a:solidFill>
                  <a:latin typeface="Source Sans Pro"/>
                  <a:ea typeface="Source Sans Pro"/>
                  <a:cs typeface="Source Sans Pro"/>
                  <a:sym typeface="Source Sans Pro"/>
                </a:rPr>
                <a:t>02</a:t>
              </a:r>
              <a:endParaRPr b="1" sz="2000">
                <a:solidFill>
                  <a:srgbClr val="F59E0B"/>
                </a:solidFill>
                <a:latin typeface="Source Sans Pro"/>
                <a:ea typeface="Source Sans Pro"/>
                <a:cs typeface="Source Sans Pro"/>
                <a:sym typeface="Source Sans Pro"/>
              </a:endParaRPr>
            </a:p>
            <a:p>
              <a:pPr indent="0" lvl="0" marL="0" rtl="0" algn="ctr">
                <a:spcBef>
                  <a:spcPts val="600"/>
                </a:spcBef>
                <a:spcAft>
                  <a:spcPts val="0"/>
                </a:spcAft>
                <a:buNone/>
              </a:pPr>
              <a:r>
                <a:rPr b="1" lang="es" sz="2000">
                  <a:solidFill>
                    <a:schemeClr val="lt1"/>
                  </a:solidFill>
                  <a:latin typeface="Source Sans Pro"/>
                  <a:ea typeface="Source Sans Pro"/>
                  <a:cs typeface="Source Sans Pro"/>
                  <a:sym typeface="Source Sans Pro"/>
                </a:rPr>
                <a:t>Escritura</a:t>
              </a:r>
              <a:endParaRPr b="1" sz="20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2500">
                  <a:solidFill>
                    <a:schemeClr val="lt1"/>
                  </a:solidFill>
                  <a:latin typeface="Source Sans Pro"/>
                  <a:ea typeface="Source Sans Pro"/>
                  <a:cs typeface="Source Sans Pro"/>
                  <a:sym typeface="Source Sans Pro"/>
                </a:rPr>
                <a:t> Registro de Datos</a:t>
              </a:r>
              <a:endParaRPr b="1" sz="25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1500">
                  <a:solidFill>
                    <a:schemeClr val="lt1"/>
                  </a:solidFill>
                  <a:latin typeface="Source Sans Pro"/>
                  <a:ea typeface="Source Sans Pro"/>
                  <a:cs typeface="Source Sans Pro"/>
                  <a:sym typeface="Source Sans Pro"/>
                </a:rPr>
                <a:t>(Registrar Usuario)</a:t>
              </a:r>
              <a:endParaRPr b="1" sz="1500">
                <a:solidFill>
                  <a:schemeClr val="lt1"/>
                </a:solidFill>
                <a:latin typeface="Source Sans Pro"/>
                <a:ea typeface="Source Sans Pro"/>
                <a:cs typeface="Source Sans Pro"/>
                <a:sym typeface="Source Sans Pro"/>
              </a:endParaRPr>
            </a:p>
            <a:p>
              <a:pPr indent="0" lvl="0" marL="0" rtl="0" algn="ctr">
                <a:spcBef>
                  <a:spcPts val="1500"/>
                </a:spcBef>
                <a:spcAft>
                  <a:spcPts val="900"/>
                </a:spcAft>
                <a:buNone/>
              </a:pPr>
              <a:r>
                <a:t/>
              </a:r>
              <a:endParaRPr b="1" sz="2400">
                <a:solidFill>
                  <a:srgbClr val="60A5FA"/>
                </a:solidFill>
                <a:latin typeface="Source Sans Pro"/>
                <a:ea typeface="Source Sans Pro"/>
                <a:cs typeface="Source Sans Pro"/>
                <a:sym typeface="Source Sans Pro"/>
              </a:endParaRPr>
            </a:p>
          </p:txBody>
        </p:sp>
      </p:grpSp>
      <p:grpSp>
        <p:nvGrpSpPr>
          <p:cNvPr id="709" name="Google Shape;709;p73"/>
          <p:cNvGrpSpPr/>
          <p:nvPr/>
        </p:nvGrpSpPr>
        <p:grpSpPr>
          <a:xfrm>
            <a:off x="6286500" y="1365735"/>
            <a:ext cx="2275428" cy="2747817"/>
            <a:chOff x="381000" y="2686200"/>
            <a:chExt cx="2381400" cy="1885812"/>
          </a:xfrm>
        </p:grpSpPr>
        <p:sp>
          <p:nvSpPr>
            <p:cNvPr id="710" name="Google Shape;710;p73"/>
            <p:cNvSpPr/>
            <p:nvPr/>
          </p:nvSpPr>
          <p:spPr>
            <a:xfrm>
              <a:off x="381000" y="2686200"/>
              <a:ext cx="2381400" cy="1885800"/>
            </a:xfrm>
            <a:prstGeom prst="roundRect">
              <a:avLst>
                <a:gd fmla="val 4800" name="adj"/>
              </a:avLst>
            </a:prstGeom>
            <a:solidFill>
              <a:srgbClr val="444444"/>
            </a:solidFill>
            <a:ln cap="flat" cmpd="sng" w="19050">
              <a:solidFill>
                <a:srgbClr val="DDDDD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73"/>
            <p:cNvSpPr txBox="1"/>
            <p:nvPr/>
          </p:nvSpPr>
          <p:spPr>
            <a:xfrm>
              <a:off x="381000" y="2686212"/>
              <a:ext cx="2381400" cy="1885800"/>
            </a:xfrm>
            <a:prstGeom prst="rect">
              <a:avLst/>
            </a:prstGeom>
            <a:noFill/>
            <a:ln>
              <a:noFill/>
            </a:ln>
          </p:spPr>
          <p:txBody>
            <a:bodyPr anchorCtr="0" anchor="t" bIns="228600" lIns="228600" spcFirstLastPara="1" rIns="228600" wrap="square" tIns="228600">
              <a:noAutofit/>
            </a:bodyPr>
            <a:lstStyle/>
            <a:p>
              <a:pPr indent="0" lvl="0" marL="0" rtl="0" algn="ctr">
                <a:spcBef>
                  <a:spcPts val="0"/>
                </a:spcBef>
                <a:spcAft>
                  <a:spcPts val="0"/>
                </a:spcAft>
                <a:buNone/>
              </a:pPr>
              <a:r>
                <a:rPr b="1" lang="es" sz="2000">
                  <a:solidFill>
                    <a:srgbClr val="F59E0B"/>
                  </a:solidFill>
                  <a:latin typeface="Source Sans Pro"/>
                  <a:ea typeface="Source Sans Pro"/>
                  <a:cs typeface="Source Sans Pro"/>
                  <a:sym typeface="Source Sans Pro"/>
                </a:rPr>
                <a:t>03</a:t>
              </a:r>
              <a:endParaRPr b="1" sz="2000">
                <a:solidFill>
                  <a:srgbClr val="F59E0B"/>
                </a:solidFill>
                <a:latin typeface="Source Sans Pro"/>
                <a:ea typeface="Source Sans Pro"/>
                <a:cs typeface="Source Sans Pro"/>
                <a:sym typeface="Source Sans Pro"/>
              </a:endParaRPr>
            </a:p>
            <a:p>
              <a:pPr indent="0" lvl="0" marL="0" rtl="0" algn="ctr">
                <a:spcBef>
                  <a:spcPts val="600"/>
                </a:spcBef>
                <a:spcAft>
                  <a:spcPts val="0"/>
                </a:spcAft>
                <a:buNone/>
              </a:pPr>
              <a:r>
                <a:rPr b="1" lang="es" sz="2000">
                  <a:solidFill>
                    <a:schemeClr val="lt1"/>
                  </a:solidFill>
                  <a:latin typeface="Source Sans Pro"/>
                  <a:ea typeface="Source Sans Pro"/>
                  <a:cs typeface="Source Sans Pro"/>
                  <a:sym typeface="Source Sans Pro"/>
                </a:rPr>
                <a:t>Lectura</a:t>
              </a:r>
              <a:endParaRPr b="1" sz="20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2500">
                  <a:solidFill>
                    <a:schemeClr val="lt1"/>
                  </a:solidFill>
                  <a:latin typeface="Source Sans Pro"/>
                  <a:ea typeface="Source Sans Pro"/>
                  <a:cs typeface="Source Sans Pro"/>
                  <a:sym typeface="Source Sans Pro"/>
                </a:rPr>
                <a:t>Consulta con filtros</a:t>
              </a:r>
              <a:endParaRPr b="1" sz="2500">
                <a:solidFill>
                  <a:schemeClr val="lt1"/>
                </a:solidFill>
                <a:latin typeface="Source Sans Pro"/>
                <a:ea typeface="Source Sans Pro"/>
                <a:cs typeface="Source Sans Pro"/>
                <a:sym typeface="Source Sans Pro"/>
              </a:endParaRPr>
            </a:p>
            <a:p>
              <a:pPr indent="0" lvl="0" marL="0" rtl="0" algn="ctr">
                <a:spcBef>
                  <a:spcPts val="900"/>
                </a:spcBef>
                <a:spcAft>
                  <a:spcPts val="900"/>
                </a:spcAft>
                <a:buNone/>
              </a:pPr>
              <a:r>
                <a:rPr b="1" lang="es" sz="1200">
                  <a:solidFill>
                    <a:schemeClr val="lt1"/>
                  </a:solidFill>
                  <a:latin typeface="Source Sans Pro"/>
                  <a:ea typeface="Source Sans Pro"/>
                  <a:cs typeface="Source Sans Pro"/>
                  <a:sym typeface="Source Sans Pro"/>
                </a:rPr>
                <a:t>(Buscar publicaciones con etiqueta “meme” y autor mayor a 18 años)</a:t>
              </a:r>
              <a:endParaRPr b="1" sz="2400">
                <a:solidFill>
                  <a:srgbClr val="60A5FA"/>
                </a:solidFill>
                <a:latin typeface="Source Sans Pro"/>
                <a:ea typeface="Source Sans Pro"/>
                <a:cs typeface="Source Sans Pro"/>
                <a:sym typeface="Source Sans Pro"/>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715" name="Shape 715"/>
        <p:cNvGrpSpPr/>
        <p:nvPr/>
      </p:nvGrpSpPr>
      <p:grpSpPr>
        <a:xfrm>
          <a:off x="0" y="0"/>
          <a:ext cx="0" cy="0"/>
          <a:chOff x="0" y="0"/>
          <a:chExt cx="0" cy="0"/>
        </a:xfrm>
      </p:grpSpPr>
      <p:sp>
        <p:nvSpPr>
          <p:cNvPr id="716" name="Google Shape;716;p74"/>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74"/>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74"/>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sp>
        <p:nvSpPr>
          <p:cNvPr id="719" name="Google Shape;719;p74"/>
          <p:cNvSpPr txBox="1"/>
          <p:nvPr/>
        </p:nvSpPr>
        <p:spPr>
          <a:xfrm>
            <a:off x="1821150" y="1801600"/>
            <a:ext cx="5501700" cy="1208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2"/>
              </a:buClr>
              <a:buSzPts val="1100"/>
              <a:buFont typeface="Arial"/>
              <a:buNone/>
            </a:pPr>
            <a:r>
              <a:rPr b="1" lang="es" sz="3400">
                <a:solidFill>
                  <a:schemeClr val="lt1"/>
                </a:solidFill>
                <a:latin typeface="Source Sans Pro"/>
                <a:ea typeface="Source Sans Pro"/>
                <a:cs typeface="Source Sans Pro"/>
                <a:sym typeface="Source Sans Pro"/>
              </a:rPr>
              <a:t>Configuración inicial</a:t>
            </a:r>
            <a:endParaRPr sz="39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sz="2500">
              <a:solidFill>
                <a:schemeClr val="lt1"/>
              </a:solidFill>
              <a:latin typeface="Source Sans Pro"/>
              <a:ea typeface="Source Sans Pro"/>
              <a:cs typeface="Source Sans Pro"/>
              <a:sym typeface="Source Sans Pr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23" name="Shape 723"/>
        <p:cNvGrpSpPr/>
        <p:nvPr/>
      </p:nvGrpSpPr>
      <p:grpSpPr>
        <a:xfrm>
          <a:off x="0" y="0"/>
          <a:ext cx="0" cy="0"/>
          <a:chOff x="0" y="0"/>
          <a:chExt cx="0" cy="0"/>
        </a:xfrm>
      </p:grpSpPr>
      <p:sp>
        <p:nvSpPr>
          <p:cNvPr id="724" name="Google Shape;724;p7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25" name="Google Shape;725;p75"/>
          <p:cNvSpPr/>
          <p:nvPr/>
        </p:nvSpPr>
        <p:spPr>
          <a:xfrm>
            <a:off x="3598050"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pic>
        <p:nvPicPr>
          <p:cNvPr id="726" name="Google Shape;726;p75"/>
          <p:cNvPicPr preferRelativeResize="0"/>
          <p:nvPr/>
        </p:nvPicPr>
        <p:blipFill>
          <a:blip r:embed="rId3">
            <a:alphaModFix/>
          </a:blip>
          <a:stretch>
            <a:fillRect/>
          </a:stretch>
        </p:blipFill>
        <p:spPr>
          <a:xfrm>
            <a:off x="436525" y="1935525"/>
            <a:ext cx="8270925" cy="1272450"/>
          </a:xfrm>
          <a:prstGeom prst="rect">
            <a:avLst/>
          </a:prstGeom>
          <a:noFill/>
          <a:ln>
            <a:noFill/>
          </a:ln>
        </p:spPr>
      </p:pic>
      <p:pic>
        <p:nvPicPr>
          <p:cNvPr id="727" name="Google Shape;727;p75"/>
          <p:cNvPicPr preferRelativeResize="0"/>
          <p:nvPr/>
        </p:nvPicPr>
        <p:blipFill>
          <a:blip r:embed="rId4">
            <a:alphaModFix/>
          </a:blip>
          <a:stretch>
            <a:fillRect/>
          </a:stretch>
        </p:blipFill>
        <p:spPr>
          <a:xfrm>
            <a:off x="208713" y="3550350"/>
            <a:ext cx="8726575" cy="7177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31" name="Shape 731"/>
        <p:cNvGrpSpPr/>
        <p:nvPr/>
      </p:nvGrpSpPr>
      <p:grpSpPr>
        <a:xfrm>
          <a:off x="0" y="0"/>
          <a:ext cx="0" cy="0"/>
          <a:chOff x="0" y="0"/>
          <a:chExt cx="0" cy="0"/>
        </a:xfrm>
      </p:grpSpPr>
      <p:sp>
        <p:nvSpPr>
          <p:cNvPr id="732" name="Google Shape;732;p7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33" name="Google Shape;733;p76"/>
          <p:cNvSpPr/>
          <p:nvPr/>
        </p:nvSpPr>
        <p:spPr>
          <a:xfrm>
            <a:off x="3598050"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pic>
        <p:nvPicPr>
          <p:cNvPr id="734" name="Google Shape;734;p76"/>
          <p:cNvPicPr preferRelativeResize="0"/>
          <p:nvPr/>
        </p:nvPicPr>
        <p:blipFill>
          <a:blip r:embed="rId3">
            <a:alphaModFix/>
          </a:blip>
          <a:stretch>
            <a:fillRect/>
          </a:stretch>
        </p:blipFill>
        <p:spPr>
          <a:xfrm>
            <a:off x="549150" y="1333950"/>
            <a:ext cx="8045700" cy="24756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38" name="Shape 738"/>
        <p:cNvGrpSpPr/>
        <p:nvPr/>
      </p:nvGrpSpPr>
      <p:grpSpPr>
        <a:xfrm>
          <a:off x="0" y="0"/>
          <a:ext cx="0" cy="0"/>
          <a:chOff x="0" y="0"/>
          <a:chExt cx="0" cy="0"/>
        </a:xfrm>
      </p:grpSpPr>
      <p:sp>
        <p:nvSpPr>
          <p:cNvPr id="739" name="Google Shape;739;p7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40" name="Google Shape;740;p77"/>
          <p:cNvSpPr/>
          <p:nvPr/>
        </p:nvSpPr>
        <p:spPr>
          <a:xfrm>
            <a:off x="3598050"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pic>
        <p:nvPicPr>
          <p:cNvPr id="741" name="Google Shape;741;p77"/>
          <p:cNvPicPr preferRelativeResize="0"/>
          <p:nvPr/>
        </p:nvPicPr>
        <p:blipFill>
          <a:blip r:embed="rId3">
            <a:alphaModFix/>
          </a:blip>
          <a:stretch>
            <a:fillRect/>
          </a:stretch>
        </p:blipFill>
        <p:spPr>
          <a:xfrm>
            <a:off x="305063" y="1564475"/>
            <a:ext cx="8533875" cy="23869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45" name="Shape 745"/>
        <p:cNvGrpSpPr/>
        <p:nvPr/>
      </p:nvGrpSpPr>
      <p:grpSpPr>
        <a:xfrm>
          <a:off x="0" y="0"/>
          <a:ext cx="0" cy="0"/>
          <a:chOff x="0" y="0"/>
          <a:chExt cx="0" cy="0"/>
        </a:xfrm>
      </p:grpSpPr>
      <p:sp>
        <p:nvSpPr>
          <p:cNvPr id="746" name="Google Shape;746;p7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47" name="Google Shape;747;p78"/>
          <p:cNvSpPr/>
          <p:nvPr/>
        </p:nvSpPr>
        <p:spPr>
          <a:xfrm>
            <a:off x="3598050"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pic>
        <p:nvPicPr>
          <p:cNvPr id="748" name="Google Shape;748;p78"/>
          <p:cNvPicPr preferRelativeResize="0"/>
          <p:nvPr/>
        </p:nvPicPr>
        <p:blipFill>
          <a:blip r:embed="rId3">
            <a:alphaModFix/>
          </a:blip>
          <a:stretch>
            <a:fillRect/>
          </a:stretch>
        </p:blipFill>
        <p:spPr>
          <a:xfrm>
            <a:off x="924738" y="1418900"/>
            <a:ext cx="7294525" cy="28998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52" name="Shape 752"/>
        <p:cNvGrpSpPr/>
        <p:nvPr/>
      </p:nvGrpSpPr>
      <p:grpSpPr>
        <a:xfrm>
          <a:off x="0" y="0"/>
          <a:ext cx="0" cy="0"/>
          <a:chOff x="0" y="0"/>
          <a:chExt cx="0" cy="0"/>
        </a:xfrm>
      </p:grpSpPr>
      <p:sp>
        <p:nvSpPr>
          <p:cNvPr id="753" name="Google Shape;753;p7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54" name="Google Shape;754;p79"/>
          <p:cNvSpPr/>
          <p:nvPr/>
        </p:nvSpPr>
        <p:spPr>
          <a:xfrm>
            <a:off x="3040250" y="247800"/>
            <a:ext cx="29007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Base del Script</a:t>
            </a:r>
            <a:endParaRPr b="1" sz="3000">
              <a:solidFill>
                <a:schemeClr val="lt1"/>
              </a:solidFill>
              <a:latin typeface="Source Sans Pro"/>
              <a:ea typeface="Source Sans Pro"/>
              <a:cs typeface="Source Sans Pro"/>
              <a:sym typeface="Source Sans Pro"/>
            </a:endParaRPr>
          </a:p>
        </p:txBody>
      </p:sp>
      <p:pic>
        <p:nvPicPr>
          <p:cNvPr id="755" name="Google Shape;755;p79"/>
          <p:cNvPicPr preferRelativeResize="0"/>
          <p:nvPr/>
        </p:nvPicPr>
        <p:blipFill>
          <a:blip r:embed="rId3">
            <a:alphaModFix/>
          </a:blip>
          <a:stretch>
            <a:fillRect/>
          </a:stretch>
        </p:blipFill>
        <p:spPr>
          <a:xfrm>
            <a:off x="700275" y="1083400"/>
            <a:ext cx="7743425" cy="38093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59" name="Shape 759"/>
        <p:cNvGrpSpPr/>
        <p:nvPr/>
      </p:nvGrpSpPr>
      <p:grpSpPr>
        <a:xfrm>
          <a:off x="0" y="0"/>
          <a:ext cx="0" cy="0"/>
          <a:chOff x="0" y="0"/>
          <a:chExt cx="0" cy="0"/>
        </a:xfrm>
      </p:grpSpPr>
      <p:sp>
        <p:nvSpPr>
          <p:cNvPr id="760" name="Google Shape;760;p8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61" name="Google Shape;761;p80"/>
          <p:cNvSpPr/>
          <p:nvPr/>
        </p:nvSpPr>
        <p:spPr>
          <a:xfrm>
            <a:off x="2174275" y="247800"/>
            <a:ext cx="44046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Base del schema.prisma</a:t>
            </a:r>
            <a:endParaRPr b="1" sz="3000">
              <a:solidFill>
                <a:schemeClr val="lt1"/>
              </a:solidFill>
              <a:latin typeface="Source Sans Pro"/>
              <a:ea typeface="Source Sans Pro"/>
              <a:cs typeface="Source Sans Pro"/>
              <a:sym typeface="Source Sans Pro"/>
            </a:endParaRPr>
          </a:p>
        </p:txBody>
      </p:sp>
      <p:pic>
        <p:nvPicPr>
          <p:cNvPr id="762" name="Google Shape;762;p80"/>
          <p:cNvPicPr preferRelativeResize="0"/>
          <p:nvPr/>
        </p:nvPicPr>
        <p:blipFill>
          <a:blip r:embed="rId3">
            <a:alphaModFix/>
          </a:blip>
          <a:stretch>
            <a:fillRect/>
          </a:stretch>
        </p:blipFill>
        <p:spPr>
          <a:xfrm>
            <a:off x="1329413" y="1288000"/>
            <a:ext cx="6485182" cy="34788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66" name="Shape 766"/>
        <p:cNvGrpSpPr/>
        <p:nvPr/>
      </p:nvGrpSpPr>
      <p:grpSpPr>
        <a:xfrm>
          <a:off x="0" y="0"/>
          <a:ext cx="0" cy="0"/>
          <a:chOff x="0" y="0"/>
          <a:chExt cx="0" cy="0"/>
        </a:xfrm>
      </p:grpSpPr>
      <p:sp>
        <p:nvSpPr>
          <p:cNvPr id="767" name="Google Shape;767;p8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68" name="Google Shape;768;p81"/>
          <p:cNvSpPr/>
          <p:nvPr/>
        </p:nvSpPr>
        <p:spPr>
          <a:xfrm>
            <a:off x="2174275" y="247800"/>
            <a:ext cx="46638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schema.prisma completo</a:t>
            </a:r>
            <a:endParaRPr b="1" sz="3000">
              <a:solidFill>
                <a:schemeClr val="lt1"/>
              </a:solidFill>
              <a:latin typeface="Source Sans Pro"/>
              <a:ea typeface="Source Sans Pro"/>
              <a:cs typeface="Source Sans Pro"/>
              <a:sym typeface="Source Sans Pro"/>
            </a:endParaRPr>
          </a:p>
        </p:txBody>
      </p:sp>
      <p:pic>
        <p:nvPicPr>
          <p:cNvPr id="769" name="Google Shape;769;p81"/>
          <p:cNvPicPr preferRelativeResize="0"/>
          <p:nvPr/>
        </p:nvPicPr>
        <p:blipFill>
          <a:blip r:embed="rId3">
            <a:alphaModFix/>
          </a:blip>
          <a:stretch>
            <a:fillRect/>
          </a:stretch>
        </p:blipFill>
        <p:spPr>
          <a:xfrm>
            <a:off x="1947850" y="1006800"/>
            <a:ext cx="5394529" cy="41367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773" name="Shape 773"/>
        <p:cNvGrpSpPr/>
        <p:nvPr/>
      </p:nvGrpSpPr>
      <p:grpSpPr>
        <a:xfrm>
          <a:off x="0" y="0"/>
          <a:ext cx="0" cy="0"/>
          <a:chOff x="0" y="0"/>
          <a:chExt cx="0" cy="0"/>
        </a:xfrm>
      </p:grpSpPr>
      <p:sp>
        <p:nvSpPr>
          <p:cNvPr id="774" name="Google Shape;774;p82"/>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5" name="Google Shape;775;p82"/>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82"/>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sp>
        <p:nvSpPr>
          <p:cNvPr id="777" name="Google Shape;777;p82"/>
          <p:cNvSpPr txBox="1"/>
          <p:nvPr/>
        </p:nvSpPr>
        <p:spPr>
          <a:xfrm>
            <a:off x="1821150" y="1801600"/>
            <a:ext cx="5501700" cy="16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2"/>
              </a:buClr>
              <a:buSzPts val="1100"/>
              <a:buFont typeface="Arial"/>
              <a:buNone/>
            </a:pPr>
            <a:r>
              <a:rPr b="1" lang="es" sz="6200">
                <a:solidFill>
                  <a:schemeClr val="lt1"/>
                </a:solidFill>
                <a:latin typeface="Source Sans Pro"/>
                <a:ea typeface="Source Sans Pro"/>
                <a:cs typeface="Source Sans Pro"/>
                <a:sym typeface="Source Sans Pro"/>
              </a:rPr>
              <a:t>Modelado</a:t>
            </a:r>
            <a:endParaRPr sz="81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sz="2500">
              <a:solidFill>
                <a:schemeClr val="lt1"/>
              </a:solidFill>
              <a:latin typeface="Source Sans Pro"/>
              <a:ea typeface="Source Sans Pro"/>
              <a:cs typeface="Source Sans Pro"/>
              <a:sym typeface="Source Sans Pr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81" name="Shape 781"/>
        <p:cNvGrpSpPr/>
        <p:nvPr/>
      </p:nvGrpSpPr>
      <p:grpSpPr>
        <a:xfrm>
          <a:off x="0" y="0"/>
          <a:ext cx="0" cy="0"/>
          <a:chOff x="0" y="0"/>
          <a:chExt cx="0" cy="0"/>
        </a:xfrm>
      </p:grpSpPr>
      <p:sp>
        <p:nvSpPr>
          <p:cNvPr id="782" name="Google Shape;782;p83"/>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83" name="Google Shape;783;p83"/>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784" name="Google Shape;784;p83"/>
          <p:cNvPicPr preferRelativeResize="0"/>
          <p:nvPr/>
        </p:nvPicPr>
        <p:blipFill rotWithShape="1">
          <a:blip r:embed="rId3">
            <a:alphaModFix/>
          </a:blip>
          <a:srcRect b="63044" l="0" r="0" t="0"/>
          <a:stretch/>
        </p:blipFill>
        <p:spPr>
          <a:xfrm>
            <a:off x="239475" y="1521738"/>
            <a:ext cx="8665049" cy="21000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88" name="Shape 788"/>
        <p:cNvGrpSpPr/>
        <p:nvPr/>
      </p:nvGrpSpPr>
      <p:grpSpPr>
        <a:xfrm>
          <a:off x="0" y="0"/>
          <a:ext cx="0" cy="0"/>
          <a:chOff x="0" y="0"/>
          <a:chExt cx="0" cy="0"/>
        </a:xfrm>
      </p:grpSpPr>
      <p:sp>
        <p:nvSpPr>
          <p:cNvPr id="789" name="Google Shape;789;p8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90" name="Google Shape;790;p84"/>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791" name="Google Shape;791;p84"/>
          <p:cNvPicPr preferRelativeResize="0"/>
          <p:nvPr/>
        </p:nvPicPr>
        <p:blipFill rotWithShape="1">
          <a:blip r:embed="rId3">
            <a:alphaModFix/>
          </a:blip>
          <a:srcRect b="0" l="0" r="0" t="39269"/>
          <a:stretch/>
        </p:blipFill>
        <p:spPr>
          <a:xfrm>
            <a:off x="183463" y="1177800"/>
            <a:ext cx="8777074" cy="34955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95" name="Shape 795"/>
        <p:cNvGrpSpPr/>
        <p:nvPr/>
      </p:nvGrpSpPr>
      <p:grpSpPr>
        <a:xfrm>
          <a:off x="0" y="0"/>
          <a:ext cx="0" cy="0"/>
          <a:chOff x="0" y="0"/>
          <a:chExt cx="0" cy="0"/>
        </a:xfrm>
      </p:grpSpPr>
      <p:sp>
        <p:nvSpPr>
          <p:cNvPr id="796" name="Google Shape;796;p8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797" name="Google Shape;797;p85"/>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798" name="Google Shape;798;p85"/>
          <p:cNvPicPr preferRelativeResize="0"/>
          <p:nvPr/>
        </p:nvPicPr>
        <p:blipFill rotWithShape="1">
          <a:blip r:embed="rId3">
            <a:alphaModFix/>
          </a:blip>
          <a:srcRect b="80435" l="0" r="0" t="0"/>
          <a:stretch/>
        </p:blipFill>
        <p:spPr>
          <a:xfrm>
            <a:off x="285063" y="1719900"/>
            <a:ext cx="8573875" cy="15856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02" name="Shape 802"/>
        <p:cNvGrpSpPr/>
        <p:nvPr/>
      </p:nvGrpSpPr>
      <p:grpSpPr>
        <a:xfrm>
          <a:off x="0" y="0"/>
          <a:ext cx="0" cy="0"/>
          <a:chOff x="0" y="0"/>
          <a:chExt cx="0" cy="0"/>
        </a:xfrm>
      </p:grpSpPr>
      <p:sp>
        <p:nvSpPr>
          <p:cNvPr id="803" name="Google Shape;803;p8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04" name="Google Shape;804;p86"/>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805" name="Google Shape;805;p86"/>
          <p:cNvPicPr preferRelativeResize="0"/>
          <p:nvPr/>
        </p:nvPicPr>
        <p:blipFill rotWithShape="1">
          <a:blip r:embed="rId3">
            <a:alphaModFix/>
          </a:blip>
          <a:srcRect b="13646" l="0" r="0" t="21215"/>
          <a:stretch/>
        </p:blipFill>
        <p:spPr>
          <a:xfrm>
            <a:off x="1361463" y="1063750"/>
            <a:ext cx="6421075" cy="395352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09" name="Shape 809"/>
        <p:cNvGrpSpPr/>
        <p:nvPr/>
      </p:nvGrpSpPr>
      <p:grpSpPr>
        <a:xfrm>
          <a:off x="0" y="0"/>
          <a:ext cx="0" cy="0"/>
          <a:chOff x="0" y="0"/>
          <a:chExt cx="0" cy="0"/>
        </a:xfrm>
      </p:grpSpPr>
      <p:sp>
        <p:nvSpPr>
          <p:cNvPr id="810" name="Google Shape;810;p8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11" name="Google Shape;811;p87"/>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812" name="Google Shape;812;p87"/>
          <p:cNvPicPr preferRelativeResize="0"/>
          <p:nvPr/>
        </p:nvPicPr>
        <p:blipFill>
          <a:blip r:embed="rId3">
            <a:alphaModFix/>
          </a:blip>
          <a:stretch>
            <a:fillRect/>
          </a:stretch>
        </p:blipFill>
        <p:spPr>
          <a:xfrm>
            <a:off x="270713" y="1720225"/>
            <a:ext cx="8602575" cy="17030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16" name="Shape 816"/>
        <p:cNvGrpSpPr/>
        <p:nvPr/>
      </p:nvGrpSpPr>
      <p:grpSpPr>
        <a:xfrm>
          <a:off x="0" y="0"/>
          <a:ext cx="0" cy="0"/>
          <a:chOff x="0" y="0"/>
          <a:chExt cx="0" cy="0"/>
        </a:xfrm>
      </p:grpSpPr>
      <p:sp>
        <p:nvSpPr>
          <p:cNvPr id="817" name="Google Shape;817;p8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18" name="Google Shape;818;p88"/>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819" name="Google Shape;819;p88"/>
          <p:cNvPicPr preferRelativeResize="0"/>
          <p:nvPr/>
        </p:nvPicPr>
        <p:blipFill>
          <a:blip r:embed="rId3">
            <a:alphaModFix/>
          </a:blip>
          <a:stretch>
            <a:fillRect/>
          </a:stretch>
        </p:blipFill>
        <p:spPr>
          <a:xfrm>
            <a:off x="276450" y="1285850"/>
            <a:ext cx="8591100" cy="29822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23" name="Shape 823"/>
        <p:cNvGrpSpPr/>
        <p:nvPr/>
      </p:nvGrpSpPr>
      <p:grpSpPr>
        <a:xfrm>
          <a:off x="0" y="0"/>
          <a:ext cx="0" cy="0"/>
          <a:chOff x="0" y="0"/>
          <a:chExt cx="0" cy="0"/>
        </a:xfrm>
      </p:grpSpPr>
      <p:sp>
        <p:nvSpPr>
          <p:cNvPr id="824" name="Google Shape;824;p8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25" name="Google Shape;825;p89"/>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826" name="Google Shape;826;p89"/>
          <p:cNvPicPr preferRelativeResize="0"/>
          <p:nvPr/>
        </p:nvPicPr>
        <p:blipFill>
          <a:blip r:embed="rId3">
            <a:alphaModFix/>
          </a:blip>
          <a:stretch>
            <a:fillRect/>
          </a:stretch>
        </p:blipFill>
        <p:spPr>
          <a:xfrm>
            <a:off x="498613" y="1906425"/>
            <a:ext cx="8146775" cy="11331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30" name="Shape 830"/>
        <p:cNvGrpSpPr/>
        <p:nvPr/>
      </p:nvGrpSpPr>
      <p:grpSpPr>
        <a:xfrm>
          <a:off x="0" y="0"/>
          <a:ext cx="0" cy="0"/>
          <a:chOff x="0" y="0"/>
          <a:chExt cx="0" cy="0"/>
        </a:xfrm>
      </p:grpSpPr>
      <p:sp>
        <p:nvSpPr>
          <p:cNvPr id="831" name="Google Shape;831;p9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32" name="Google Shape;832;p90"/>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833" name="Google Shape;833;p90"/>
          <p:cNvPicPr preferRelativeResize="0"/>
          <p:nvPr/>
        </p:nvPicPr>
        <p:blipFill>
          <a:blip r:embed="rId3">
            <a:alphaModFix/>
          </a:blip>
          <a:stretch>
            <a:fillRect/>
          </a:stretch>
        </p:blipFill>
        <p:spPr>
          <a:xfrm>
            <a:off x="354825" y="1159200"/>
            <a:ext cx="8434349" cy="36536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37" name="Shape 837"/>
        <p:cNvGrpSpPr/>
        <p:nvPr/>
      </p:nvGrpSpPr>
      <p:grpSpPr>
        <a:xfrm>
          <a:off x="0" y="0"/>
          <a:ext cx="0" cy="0"/>
          <a:chOff x="0" y="0"/>
          <a:chExt cx="0" cy="0"/>
        </a:xfrm>
      </p:grpSpPr>
      <p:sp>
        <p:nvSpPr>
          <p:cNvPr id="838" name="Google Shape;838;p9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39" name="Google Shape;839;p91"/>
          <p:cNvSpPr/>
          <p:nvPr/>
        </p:nvSpPr>
        <p:spPr>
          <a:xfrm>
            <a:off x="2174275" y="247800"/>
            <a:ext cx="46638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MODELADO</a:t>
            </a:r>
            <a:endParaRPr b="1" sz="3000">
              <a:solidFill>
                <a:schemeClr val="lt1"/>
              </a:solidFill>
              <a:latin typeface="Source Sans Pro"/>
              <a:ea typeface="Source Sans Pro"/>
              <a:cs typeface="Source Sans Pro"/>
              <a:sym typeface="Source Sans Pro"/>
            </a:endParaRPr>
          </a:p>
        </p:txBody>
      </p:sp>
      <p:pic>
        <p:nvPicPr>
          <p:cNvPr id="840" name="Google Shape;840;p91"/>
          <p:cNvPicPr preferRelativeResize="0"/>
          <p:nvPr/>
        </p:nvPicPr>
        <p:blipFill>
          <a:blip r:embed="rId3">
            <a:alphaModFix/>
          </a:blip>
          <a:stretch>
            <a:fillRect/>
          </a:stretch>
        </p:blipFill>
        <p:spPr>
          <a:xfrm>
            <a:off x="301125" y="1518100"/>
            <a:ext cx="8541725" cy="24492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844" name="Shape 844"/>
        <p:cNvGrpSpPr/>
        <p:nvPr/>
      </p:nvGrpSpPr>
      <p:grpSpPr>
        <a:xfrm>
          <a:off x="0" y="0"/>
          <a:ext cx="0" cy="0"/>
          <a:chOff x="0" y="0"/>
          <a:chExt cx="0" cy="0"/>
        </a:xfrm>
      </p:grpSpPr>
      <p:sp>
        <p:nvSpPr>
          <p:cNvPr id="845" name="Google Shape;845;p92"/>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6" name="Google Shape;846;p92"/>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7" name="Google Shape;847;p92"/>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sp>
        <p:nvSpPr>
          <p:cNvPr id="848" name="Google Shape;848;p92"/>
          <p:cNvSpPr txBox="1"/>
          <p:nvPr/>
        </p:nvSpPr>
        <p:spPr>
          <a:xfrm>
            <a:off x="2588700" y="1830400"/>
            <a:ext cx="3966600" cy="227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400">
                <a:solidFill>
                  <a:schemeClr val="lt1"/>
                </a:solidFill>
                <a:latin typeface="Source Sans Pro"/>
                <a:ea typeface="Source Sans Pro"/>
                <a:cs typeface="Source Sans Pro"/>
                <a:sym typeface="Source Sans Pro"/>
              </a:rPr>
              <a:t>Escritura</a:t>
            </a:r>
            <a:endParaRPr b="1" sz="34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b="1" lang="es" sz="3400">
                <a:solidFill>
                  <a:schemeClr val="lt1"/>
                </a:solidFill>
                <a:latin typeface="Source Sans Pro"/>
                <a:ea typeface="Source Sans Pro"/>
                <a:cs typeface="Source Sans Pro"/>
                <a:sym typeface="Source Sans Pro"/>
              </a:rPr>
              <a:t>Registro de Datos</a:t>
            </a:r>
            <a:endParaRPr b="1" sz="34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rPr b="1" lang="es" sz="3400">
                <a:solidFill>
                  <a:schemeClr val="lt1"/>
                </a:solidFill>
                <a:latin typeface="Source Sans Pro"/>
                <a:ea typeface="Source Sans Pro"/>
                <a:cs typeface="Source Sans Pro"/>
                <a:sym typeface="Source Sans Pro"/>
              </a:rPr>
              <a:t>(Registrar Usuario)</a:t>
            </a:r>
            <a:endParaRPr b="1" sz="3400">
              <a:solidFill>
                <a:schemeClr val="lt1"/>
              </a:solidFill>
              <a:latin typeface="Source Sans Pro"/>
              <a:ea typeface="Source Sans Pro"/>
              <a:cs typeface="Source Sans Pro"/>
              <a:sym typeface="Source Sans Pro"/>
            </a:endParaRPr>
          </a:p>
          <a:p>
            <a:pPr indent="0" lvl="0" marL="457200" rtl="0" algn="l">
              <a:spcBef>
                <a:spcPts val="0"/>
              </a:spcBef>
              <a:spcAft>
                <a:spcPts val="0"/>
              </a:spcAft>
              <a:buNone/>
            </a:pPr>
            <a:r>
              <a:t/>
            </a:r>
            <a:endParaRPr b="1" sz="3400">
              <a:solidFill>
                <a:schemeClr val="lt1"/>
              </a:solidFill>
              <a:latin typeface="Source Sans Pro"/>
              <a:ea typeface="Source Sans Pro"/>
              <a:cs typeface="Source Sans Pro"/>
              <a:sym typeface="Source Sans Pr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52" name="Shape 852"/>
        <p:cNvGrpSpPr/>
        <p:nvPr/>
      </p:nvGrpSpPr>
      <p:grpSpPr>
        <a:xfrm>
          <a:off x="0" y="0"/>
          <a:ext cx="0" cy="0"/>
          <a:chOff x="0" y="0"/>
          <a:chExt cx="0" cy="0"/>
        </a:xfrm>
      </p:grpSpPr>
      <p:sp>
        <p:nvSpPr>
          <p:cNvPr id="853" name="Google Shape;853;p93"/>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54" name="Google Shape;854;p93"/>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855" name="Google Shape;855;p93"/>
          <p:cNvPicPr preferRelativeResize="0"/>
          <p:nvPr/>
        </p:nvPicPr>
        <p:blipFill>
          <a:blip r:embed="rId3">
            <a:alphaModFix/>
          </a:blip>
          <a:stretch>
            <a:fillRect/>
          </a:stretch>
        </p:blipFill>
        <p:spPr>
          <a:xfrm>
            <a:off x="1867975" y="1521000"/>
            <a:ext cx="5408050" cy="22147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59" name="Shape 859"/>
        <p:cNvGrpSpPr/>
        <p:nvPr/>
      </p:nvGrpSpPr>
      <p:grpSpPr>
        <a:xfrm>
          <a:off x="0" y="0"/>
          <a:ext cx="0" cy="0"/>
          <a:chOff x="0" y="0"/>
          <a:chExt cx="0" cy="0"/>
        </a:xfrm>
      </p:grpSpPr>
      <p:sp>
        <p:nvSpPr>
          <p:cNvPr id="860" name="Google Shape;860;p9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61" name="Google Shape;861;p94"/>
          <p:cNvSpPr/>
          <p:nvPr/>
        </p:nvSpPr>
        <p:spPr>
          <a:xfrm>
            <a:off x="2174275" y="247800"/>
            <a:ext cx="46638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Carga de Datos de Prueba</a:t>
            </a:r>
            <a:endParaRPr b="1" sz="3000">
              <a:solidFill>
                <a:schemeClr val="lt1"/>
              </a:solidFill>
              <a:latin typeface="Source Sans Pro"/>
              <a:ea typeface="Source Sans Pro"/>
              <a:cs typeface="Source Sans Pro"/>
              <a:sym typeface="Source Sans Pro"/>
            </a:endParaRPr>
          </a:p>
        </p:txBody>
      </p:sp>
      <p:pic>
        <p:nvPicPr>
          <p:cNvPr id="862" name="Google Shape;862;p94"/>
          <p:cNvPicPr preferRelativeResize="0"/>
          <p:nvPr/>
        </p:nvPicPr>
        <p:blipFill>
          <a:blip r:embed="rId3">
            <a:alphaModFix/>
          </a:blip>
          <a:stretch>
            <a:fillRect/>
          </a:stretch>
        </p:blipFill>
        <p:spPr>
          <a:xfrm>
            <a:off x="152400" y="1159200"/>
            <a:ext cx="2674075" cy="3174675"/>
          </a:xfrm>
          <a:prstGeom prst="rect">
            <a:avLst/>
          </a:prstGeom>
          <a:noFill/>
          <a:ln>
            <a:noFill/>
          </a:ln>
        </p:spPr>
      </p:pic>
      <p:pic>
        <p:nvPicPr>
          <p:cNvPr id="863" name="Google Shape;863;p94"/>
          <p:cNvPicPr preferRelativeResize="0"/>
          <p:nvPr/>
        </p:nvPicPr>
        <p:blipFill>
          <a:blip r:embed="rId4">
            <a:alphaModFix/>
          </a:blip>
          <a:stretch>
            <a:fillRect/>
          </a:stretch>
        </p:blipFill>
        <p:spPr>
          <a:xfrm>
            <a:off x="2993250" y="1159200"/>
            <a:ext cx="2768366" cy="3174675"/>
          </a:xfrm>
          <a:prstGeom prst="rect">
            <a:avLst/>
          </a:prstGeom>
          <a:noFill/>
          <a:ln>
            <a:noFill/>
          </a:ln>
        </p:spPr>
      </p:pic>
      <p:pic>
        <p:nvPicPr>
          <p:cNvPr id="864" name="Google Shape;864;p94"/>
          <p:cNvPicPr preferRelativeResize="0"/>
          <p:nvPr/>
        </p:nvPicPr>
        <p:blipFill>
          <a:blip r:embed="rId5">
            <a:alphaModFix/>
          </a:blip>
          <a:stretch>
            <a:fillRect/>
          </a:stretch>
        </p:blipFill>
        <p:spPr>
          <a:xfrm>
            <a:off x="5928400" y="1159200"/>
            <a:ext cx="2839408" cy="31746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68" name="Shape 868"/>
        <p:cNvGrpSpPr/>
        <p:nvPr/>
      </p:nvGrpSpPr>
      <p:grpSpPr>
        <a:xfrm>
          <a:off x="0" y="0"/>
          <a:ext cx="0" cy="0"/>
          <a:chOff x="0" y="0"/>
          <a:chExt cx="0" cy="0"/>
        </a:xfrm>
      </p:grpSpPr>
      <p:sp>
        <p:nvSpPr>
          <p:cNvPr id="869" name="Google Shape;869;p9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70" name="Google Shape;870;p95"/>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Demostración de Validación</a:t>
            </a:r>
            <a:endParaRPr b="1" sz="3000">
              <a:solidFill>
                <a:schemeClr val="lt1"/>
              </a:solidFill>
              <a:latin typeface="Source Sans Pro"/>
              <a:ea typeface="Source Sans Pro"/>
              <a:cs typeface="Source Sans Pro"/>
              <a:sym typeface="Source Sans Pro"/>
            </a:endParaRPr>
          </a:p>
        </p:txBody>
      </p:sp>
      <p:pic>
        <p:nvPicPr>
          <p:cNvPr id="871" name="Google Shape;871;p95"/>
          <p:cNvPicPr preferRelativeResize="0"/>
          <p:nvPr/>
        </p:nvPicPr>
        <p:blipFill>
          <a:blip r:embed="rId3">
            <a:alphaModFix/>
          </a:blip>
          <a:stretch>
            <a:fillRect/>
          </a:stretch>
        </p:blipFill>
        <p:spPr>
          <a:xfrm>
            <a:off x="161175" y="1604425"/>
            <a:ext cx="8669101" cy="22507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875" name="Shape 875"/>
        <p:cNvGrpSpPr/>
        <p:nvPr/>
      </p:nvGrpSpPr>
      <p:grpSpPr>
        <a:xfrm>
          <a:off x="0" y="0"/>
          <a:ext cx="0" cy="0"/>
          <a:chOff x="0" y="0"/>
          <a:chExt cx="0" cy="0"/>
        </a:xfrm>
      </p:grpSpPr>
      <p:sp>
        <p:nvSpPr>
          <p:cNvPr id="876" name="Google Shape;876;p96"/>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7" name="Google Shape;877;p96"/>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8" name="Google Shape;878;p96"/>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sp>
        <p:nvSpPr>
          <p:cNvPr id="879" name="Google Shape;879;p96"/>
          <p:cNvSpPr txBox="1"/>
          <p:nvPr/>
        </p:nvSpPr>
        <p:spPr>
          <a:xfrm>
            <a:off x="1821150" y="1550675"/>
            <a:ext cx="5501700" cy="291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2"/>
              </a:buClr>
              <a:buSzPts val="1100"/>
              <a:buFont typeface="Arial"/>
              <a:buNone/>
            </a:pPr>
            <a:r>
              <a:rPr b="1" lang="es" sz="3300">
                <a:solidFill>
                  <a:schemeClr val="lt1"/>
                </a:solidFill>
                <a:latin typeface="Source Sans Pro"/>
                <a:ea typeface="Source Sans Pro"/>
                <a:cs typeface="Source Sans Pro"/>
                <a:sym typeface="Source Sans Pro"/>
              </a:rPr>
              <a:t>Lectura</a:t>
            </a:r>
            <a:endParaRPr b="1" sz="3300">
              <a:solidFill>
                <a:schemeClr val="lt1"/>
              </a:solidFill>
              <a:latin typeface="Source Sans Pro"/>
              <a:ea typeface="Source Sans Pro"/>
              <a:cs typeface="Source Sans Pro"/>
              <a:sym typeface="Source Sans Pro"/>
            </a:endParaRPr>
          </a:p>
          <a:p>
            <a:pPr indent="0" lvl="0" marL="0" rtl="0" algn="ctr">
              <a:spcBef>
                <a:spcPts val="900"/>
              </a:spcBef>
              <a:spcAft>
                <a:spcPts val="0"/>
              </a:spcAft>
              <a:buClr>
                <a:schemeClr val="dk2"/>
              </a:buClr>
              <a:buSzPts val="1100"/>
              <a:buFont typeface="Arial"/>
              <a:buNone/>
            </a:pPr>
            <a:r>
              <a:rPr b="1" lang="es" sz="3800">
                <a:solidFill>
                  <a:schemeClr val="lt1"/>
                </a:solidFill>
                <a:latin typeface="Source Sans Pro"/>
                <a:ea typeface="Source Sans Pro"/>
                <a:cs typeface="Source Sans Pro"/>
                <a:sym typeface="Source Sans Pro"/>
              </a:rPr>
              <a:t> Búsqueda por Criterio</a:t>
            </a:r>
            <a:endParaRPr b="1" sz="3800">
              <a:solidFill>
                <a:schemeClr val="lt1"/>
              </a:solidFill>
              <a:latin typeface="Source Sans Pro"/>
              <a:ea typeface="Source Sans Pro"/>
              <a:cs typeface="Source Sans Pro"/>
              <a:sym typeface="Source Sans Pro"/>
            </a:endParaRPr>
          </a:p>
          <a:p>
            <a:pPr indent="0" lvl="0" marL="0" rtl="0" algn="ctr">
              <a:spcBef>
                <a:spcPts val="900"/>
              </a:spcBef>
              <a:spcAft>
                <a:spcPts val="0"/>
              </a:spcAft>
              <a:buClr>
                <a:schemeClr val="dk2"/>
              </a:buClr>
              <a:buSzPts val="1100"/>
              <a:buFont typeface="Arial"/>
              <a:buNone/>
            </a:pPr>
            <a:r>
              <a:rPr b="1" lang="es" sz="2500">
                <a:solidFill>
                  <a:schemeClr val="lt1"/>
                </a:solidFill>
                <a:latin typeface="Source Sans Pro"/>
                <a:ea typeface="Source Sans Pro"/>
                <a:cs typeface="Source Sans Pro"/>
                <a:sym typeface="Source Sans Pro"/>
              </a:rPr>
              <a:t>(Buscar publicaciones con etiqueta “meme” y autor mayor a 18 años)</a:t>
            </a:r>
            <a:endParaRPr b="1" sz="47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b="1" sz="3400">
              <a:solidFill>
                <a:schemeClr val="lt1"/>
              </a:solidFill>
              <a:latin typeface="Source Sans Pro"/>
              <a:ea typeface="Source Sans Pro"/>
              <a:cs typeface="Source Sans Pro"/>
              <a:sym typeface="Source Sans Pr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83" name="Shape 883"/>
        <p:cNvGrpSpPr/>
        <p:nvPr/>
      </p:nvGrpSpPr>
      <p:grpSpPr>
        <a:xfrm>
          <a:off x="0" y="0"/>
          <a:ext cx="0" cy="0"/>
          <a:chOff x="0" y="0"/>
          <a:chExt cx="0" cy="0"/>
        </a:xfrm>
      </p:grpSpPr>
      <p:sp>
        <p:nvSpPr>
          <p:cNvPr id="884" name="Google Shape;884;p9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85" name="Google Shape;885;p97"/>
          <p:cNvSpPr/>
          <p:nvPr/>
        </p:nvSpPr>
        <p:spPr>
          <a:xfrm>
            <a:off x="3598050" y="247800"/>
            <a:ext cx="19479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a:t>
            </a:r>
            <a:endParaRPr b="1" sz="3000">
              <a:solidFill>
                <a:schemeClr val="lt1"/>
              </a:solidFill>
              <a:latin typeface="Source Sans Pro"/>
              <a:ea typeface="Source Sans Pro"/>
              <a:cs typeface="Source Sans Pro"/>
              <a:sym typeface="Source Sans Pro"/>
            </a:endParaRPr>
          </a:p>
        </p:txBody>
      </p:sp>
      <p:sp>
        <p:nvSpPr>
          <p:cNvPr id="886" name="Google Shape;886;p97"/>
          <p:cNvSpPr txBox="1"/>
          <p:nvPr/>
        </p:nvSpPr>
        <p:spPr>
          <a:xfrm>
            <a:off x="1821150" y="1559175"/>
            <a:ext cx="5501700" cy="234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300">
                <a:solidFill>
                  <a:schemeClr val="lt1"/>
                </a:solidFill>
                <a:latin typeface="Source Sans Pro"/>
                <a:ea typeface="Source Sans Pro"/>
                <a:cs typeface="Source Sans Pro"/>
                <a:sym typeface="Source Sans Pro"/>
              </a:rPr>
              <a:t>Primero hacemos una carga de datos para poder hacer la consulta</a:t>
            </a:r>
            <a:endParaRPr b="1" sz="47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b="1" sz="3400">
              <a:solidFill>
                <a:schemeClr val="lt1"/>
              </a:solidFill>
              <a:latin typeface="Source Sans Pro"/>
              <a:ea typeface="Source Sans Pro"/>
              <a:cs typeface="Source Sans Pro"/>
              <a:sym typeface="Source Sans Pro"/>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90" name="Shape 890"/>
        <p:cNvGrpSpPr/>
        <p:nvPr/>
      </p:nvGrpSpPr>
      <p:grpSpPr>
        <a:xfrm>
          <a:off x="0" y="0"/>
          <a:ext cx="0" cy="0"/>
          <a:chOff x="0" y="0"/>
          <a:chExt cx="0" cy="0"/>
        </a:xfrm>
      </p:grpSpPr>
      <p:sp>
        <p:nvSpPr>
          <p:cNvPr id="891" name="Google Shape;891;p9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92" name="Google Shape;892;p98"/>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893" name="Google Shape;893;p98"/>
          <p:cNvPicPr preferRelativeResize="0"/>
          <p:nvPr/>
        </p:nvPicPr>
        <p:blipFill>
          <a:blip r:embed="rId3">
            <a:alphaModFix/>
          </a:blip>
          <a:stretch>
            <a:fillRect/>
          </a:stretch>
        </p:blipFill>
        <p:spPr>
          <a:xfrm>
            <a:off x="2273063" y="1135600"/>
            <a:ext cx="4597875" cy="38096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97" name="Shape 897"/>
        <p:cNvGrpSpPr/>
        <p:nvPr/>
      </p:nvGrpSpPr>
      <p:grpSpPr>
        <a:xfrm>
          <a:off x="0" y="0"/>
          <a:ext cx="0" cy="0"/>
          <a:chOff x="0" y="0"/>
          <a:chExt cx="0" cy="0"/>
        </a:xfrm>
      </p:grpSpPr>
      <p:sp>
        <p:nvSpPr>
          <p:cNvPr id="898" name="Google Shape;898;p9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899" name="Google Shape;899;p99"/>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00" name="Google Shape;900;p99"/>
          <p:cNvPicPr preferRelativeResize="0"/>
          <p:nvPr/>
        </p:nvPicPr>
        <p:blipFill rotWithShape="1">
          <a:blip r:embed="rId3">
            <a:alphaModFix/>
          </a:blip>
          <a:srcRect b="65643" l="0" r="0" t="0"/>
          <a:stretch/>
        </p:blipFill>
        <p:spPr>
          <a:xfrm>
            <a:off x="590400" y="1241725"/>
            <a:ext cx="7963200" cy="30516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04" name="Shape 904"/>
        <p:cNvGrpSpPr/>
        <p:nvPr/>
      </p:nvGrpSpPr>
      <p:grpSpPr>
        <a:xfrm>
          <a:off x="0" y="0"/>
          <a:ext cx="0" cy="0"/>
          <a:chOff x="0" y="0"/>
          <a:chExt cx="0" cy="0"/>
        </a:xfrm>
      </p:grpSpPr>
      <p:sp>
        <p:nvSpPr>
          <p:cNvPr id="905" name="Google Shape;905;p10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06" name="Google Shape;906;p100"/>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07" name="Google Shape;907;p100"/>
          <p:cNvPicPr preferRelativeResize="0"/>
          <p:nvPr/>
        </p:nvPicPr>
        <p:blipFill rotWithShape="1">
          <a:blip r:embed="rId3">
            <a:alphaModFix/>
          </a:blip>
          <a:srcRect b="36888" l="0" r="0" t="42291"/>
          <a:stretch/>
        </p:blipFill>
        <p:spPr>
          <a:xfrm>
            <a:off x="373025" y="1773075"/>
            <a:ext cx="8397950" cy="19503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11" name="Shape 911"/>
        <p:cNvGrpSpPr/>
        <p:nvPr/>
      </p:nvGrpSpPr>
      <p:grpSpPr>
        <a:xfrm>
          <a:off x="0" y="0"/>
          <a:ext cx="0" cy="0"/>
          <a:chOff x="0" y="0"/>
          <a:chExt cx="0" cy="0"/>
        </a:xfrm>
      </p:grpSpPr>
      <p:sp>
        <p:nvSpPr>
          <p:cNvPr id="912" name="Google Shape;912;p10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13" name="Google Shape;913;p101"/>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14" name="Google Shape;914;p101"/>
          <p:cNvPicPr preferRelativeResize="0"/>
          <p:nvPr/>
        </p:nvPicPr>
        <p:blipFill rotWithShape="1">
          <a:blip r:embed="rId3">
            <a:alphaModFix/>
          </a:blip>
          <a:srcRect b="9786" l="0" r="0" t="68731"/>
          <a:stretch/>
        </p:blipFill>
        <p:spPr>
          <a:xfrm>
            <a:off x="555025" y="1849006"/>
            <a:ext cx="8033950" cy="192511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18" name="Shape 918"/>
        <p:cNvGrpSpPr/>
        <p:nvPr/>
      </p:nvGrpSpPr>
      <p:grpSpPr>
        <a:xfrm>
          <a:off x="0" y="0"/>
          <a:ext cx="0" cy="0"/>
          <a:chOff x="0" y="0"/>
          <a:chExt cx="0" cy="0"/>
        </a:xfrm>
      </p:grpSpPr>
      <p:sp>
        <p:nvSpPr>
          <p:cNvPr id="919" name="Google Shape;919;p102"/>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20" name="Google Shape;920;p102"/>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21" name="Google Shape;921;p102"/>
          <p:cNvPicPr preferRelativeResize="0"/>
          <p:nvPr/>
        </p:nvPicPr>
        <p:blipFill>
          <a:blip r:embed="rId3">
            <a:alphaModFix/>
          </a:blip>
          <a:stretch>
            <a:fillRect/>
          </a:stretch>
        </p:blipFill>
        <p:spPr>
          <a:xfrm>
            <a:off x="1761863" y="1159200"/>
            <a:ext cx="5620275" cy="35607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25" name="Shape 925"/>
        <p:cNvGrpSpPr/>
        <p:nvPr/>
      </p:nvGrpSpPr>
      <p:grpSpPr>
        <a:xfrm>
          <a:off x="0" y="0"/>
          <a:ext cx="0" cy="0"/>
          <a:chOff x="0" y="0"/>
          <a:chExt cx="0" cy="0"/>
        </a:xfrm>
      </p:grpSpPr>
      <p:sp>
        <p:nvSpPr>
          <p:cNvPr id="926" name="Google Shape;926;p103"/>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27" name="Google Shape;927;p103"/>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28" name="Google Shape;928;p103"/>
          <p:cNvPicPr preferRelativeResize="0"/>
          <p:nvPr/>
        </p:nvPicPr>
        <p:blipFill>
          <a:blip r:embed="rId3">
            <a:alphaModFix/>
          </a:blip>
          <a:stretch>
            <a:fillRect/>
          </a:stretch>
        </p:blipFill>
        <p:spPr>
          <a:xfrm>
            <a:off x="1270325" y="1080550"/>
            <a:ext cx="6603350" cy="38755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2" name="Shape 932"/>
        <p:cNvGrpSpPr/>
        <p:nvPr/>
      </p:nvGrpSpPr>
      <p:grpSpPr>
        <a:xfrm>
          <a:off x="0" y="0"/>
          <a:ext cx="0" cy="0"/>
          <a:chOff x="0" y="0"/>
          <a:chExt cx="0" cy="0"/>
        </a:xfrm>
      </p:grpSpPr>
      <p:sp>
        <p:nvSpPr>
          <p:cNvPr id="933" name="Google Shape;933;p10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34" name="Google Shape;934;p104"/>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935" name="Google Shape;935;p104"/>
          <p:cNvPicPr preferRelativeResize="0"/>
          <p:nvPr/>
        </p:nvPicPr>
        <p:blipFill rotWithShape="1">
          <a:blip r:embed="rId3">
            <a:alphaModFix/>
          </a:blip>
          <a:srcRect b="77380" l="0" r="0" t="0"/>
          <a:stretch/>
        </p:blipFill>
        <p:spPr>
          <a:xfrm>
            <a:off x="577725" y="1767500"/>
            <a:ext cx="7988550" cy="1993949"/>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9" name="Shape 939"/>
        <p:cNvGrpSpPr/>
        <p:nvPr/>
      </p:nvGrpSpPr>
      <p:grpSpPr>
        <a:xfrm>
          <a:off x="0" y="0"/>
          <a:ext cx="0" cy="0"/>
          <a:chOff x="0" y="0"/>
          <a:chExt cx="0" cy="0"/>
        </a:xfrm>
      </p:grpSpPr>
      <p:sp>
        <p:nvSpPr>
          <p:cNvPr id="940" name="Google Shape;940;p10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41" name="Google Shape;941;p105"/>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942" name="Google Shape;942;p105"/>
          <p:cNvPicPr preferRelativeResize="0"/>
          <p:nvPr/>
        </p:nvPicPr>
        <p:blipFill rotWithShape="1">
          <a:blip r:embed="rId3">
            <a:alphaModFix/>
          </a:blip>
          <a:srcRect b="0" l="0" r="24006" t="38484"/>
          <a:stretch/>
        </p:blipFill>
        <p:spPr>
          <a:xfrm>
            <a:off x="2406010" y="1084075"/>
            <a:ext cx="4331975" cy="386942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46" name="Shape 946"/>
        <p:cNvGrpSpPr/>
        <p:nvPr/>
      </p:nvGrpSpPr>
      <p:grpSpPr>
        <a:xfrm>
          <a:off x="0" y="0"/>
          <a:ext cx="0" cy="0"/>
          <a:chOff x="0" y="0"/>
          <a:chExt cx="0" cy="0"/>
        </a:xfrm>
      </p:grpSpPr>
      <p:sp>
        <p:nvSpPr>
          <p:cNvPr id="947" name="Google Shape;947;p10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48" name="Google Shape;948;p106"/>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Lectura</a:t>
            </a:r>
            <a:endParaRPr b="1" sz="3000">
              <a:solidFill>
                <a:schemeClr val="lt1"/>
              </a:solidFill>
              <a:latin typeface="Source Sans Pro"/>
              <a:ea typeface="Source Sans Pro"/>
              <a:cs typeface="Source Sans Pro"/>
              <a:sym typeface="Source Sans Pro"/>
            </a:endParaRPr>
          </a:p>
        </p:txBody>
      </p:sp>
      <p:pic>
        <p:nvPicPr>
          <p:cNvPr id="949" name="Google Shape;949;p106"/>
          <p:cNvPicPr preferRelativeResize="0"/>
          <p:nvPr/>
        </p:nvPicPr>
        <p:blipFill rotWithShape="1">
          <a:blip r:embed="rId3">
            <a:alphaModFix/>
          </a:blip>
          <a:srcRect b="20211" l="0" r="0" t="0"/>
          <a:stretch/>
        </p:blipFill>
        <p:spPr>
          <a:xfrm>
            <a:off x="1037050" y="1078025"/>
            <a:ext cx="6981750" cy="38926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53" name="Shape 953"/>
        <p:cNvGrpSpPr/>
        <p:nvPr/>
      </p:nvGrpSpPr>
      <p:grpSpPr>
        <a:xfrm>
          <a:off x="0" y="0"/>
          <a:ext cx="0" cy="0"/>
          <a:chOff x="0" y="0"/>
          <a:chExt cx="0" cy="0"/>
        </a:xfrm>
      </p:grpSpPr>
      <p:sp>
        <p:nvSpPr>
          <p:cNvPr id="954" name="Google Shape;954;p10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55" name="Google Shape;955;p107"/>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Lectura</a:t>
            </a:r>
            <a:endParaRPr b="1" sz="3000">
              <a:solidFill>
                <a:schemeClr val="lt1"/>
              </a:solidFill>
              <a:latin typeface="Source Sans Pro"/>
              <a:ea typeface="Source Sans Pro"/>
              <a:cs typeface="Source Sans Pro"/>
              <a:sym typeface="Source Sans Pro"/>
            </a:endParaRPr>
          </a:p>
        </p:txBody>
      </p:sp>
      <p:pic>
        <p:nvPicPr>
          <p:cNvPr id="956" name="Google Shape;956;p107"/>
          <p:cNvPicPr preferRelativeResize="0"/>
          <p:nvPr/>
        </p:nvPicPr>
        <p:blipFill>
          <a:blip r:embed="rId3">
            <a:alphaModFix/>
          </a:blip>
          <a:stretch>
            <a:fillRect/>
          </a:stretch>
        </p:blipFill>
        <p:spPr>
          <a:xfrm>
            <a:off x="271613" y="2074300"/>
            <a:ext cx="8600775" cy="18210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960" name="Shape 960"/>
        <p:cNvGrpSpPr/>
        <p:nvPr/>
      </p:nvGrpSpPr>
      <p:grpSpPr>
        <a:xfrm>
          <a:off x="0" y="0"/>
          <a:ext cx="0" cy="0"/>
          <a:chOff x="0" y="0"/>
          <a:chExt cx="0" cy="0"/>
        </a:xfrm>
      </p:grpSpPr>
      <p:sp>
        <p:nvSpPr>
          <p:cNvPr id="961" name="Google Shape;961;p108"/>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2" name="Google Shape;962;p108"/>
          <p:cNvSpPr/>
          <p:nvPr/>
        </p:nvSpPr>
        <p:spPr>
          <a:xfrm>
            <a:off x="2857500" y="142875"/>
            <a:ext cx="3429000" cy="571500"/>
          </a:xfrm>
          <a:prstGeom prst="rect">
            <a:avLst/>
          </a:prstGeom>
          <a:solidFill>
            <a:srgbClr val="000000">
              <a:alpha val="0"/>
            </a:srgbClr>
          </a:solidFill>
          <a:ln cap="flat" cmpd="sng" w="381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3" name="Google Shape;963;p108"/>
          <p:cNvSpPr txBox="1"/>
          <p:nvPr/>
        </p:nvSpPr>
        <p:spPr>
          <a:xfrm>
            <a:off x="2857500" y="142875"/>
            <a:ext cx="3429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OPERACIONES</a:t>
            </a:r>
            <a:endParaRPr b="1" sz="3200">
              <a:solidFill>
                <a:srgbClr val="FFFFFF"/>
              </a:solidFill>
              <a:latin typeface="Raleway"/>
              <a:ea typeface="Raleway"/>
              <a:cs typeface="Raleway"/>
              <a:sym typeface="Raleway"/>
            </a:endParaRPr>
          </a:p>
        </p:txBody>
      </p:sp>
      <p:sp>
        <p:nvSpPr>
          <p:cNvPr id="964" name="Google Shape;964;p108"/>
          <p:cNvSpPr txBox="1"/>
          <p:nvPr/>
        </p:nvSpPr>
        <p:spPr>
          <a:xfrm>
            <a:off x="1804175" y="1168744"/>
            <a:ext cx="5501700" cy="354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300">
                <a:solidFill>
                  <a:schemeClr val="lt1"/>
                </a:solidFill>
                <a:latin typeface="Source Sans Pro"/>
                <a:ea typeface="Source Sans Pro"/>
                <a:cs typeface="Source Sans Pro"/>
                <a:sym typeface="Source Sans Pro"/>
              </a:rPr>
              <a:t>Salidas del ejercicio:</a:t>
            </a:r>
            <a:endParaRPr b="1" sz="33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3300">
                <a:solidFill>
                  <a:schemeClr val="lt1"/>
                </a:solidFill>
                <a:latin typeface="Source Sans Pro"/>
                <a:ea typeface="Source Sans Pro"/>
                <a:cs typeface="Source Sans Pro"/>
                <a:sym typeface="Source Sans Pro"/>
              </a:rPr>
              <a:t>Lectura</a:t>
            </a:r>
            <a:endParaRPr b="1" sz="33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3800">
                <a:solidFill>
                  <a:schemeClr val="lt1"/>
                </a:solidFill>
                <a:latin typeface="Source Sans Pro"/>
                <a:ea typeface="Source Sans Pro"/>
                <a:cs typeface="Source Sans Pro"/>
                <a:sym typeface="Source Sans Pro"/>
              </a:rPr>
              <a:t> Búsqueda por Criterio</a:t>
            </a:r>
            <a:endParaRPr b="1" sz="38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2500">
                <a:solidFill>
                  <a:schemeClr val="lt1"/>
                </a:solidFill>
                <a:latin typeface="Source Sans Pro"/>
                <a:ea typeface="Source Sans Pro"/>
                <a:cs typeface="Source Sans Pro"/>
                <a:sym typeface="Source Sans Pro"/>
              </a:rPr>
              <a:t>(Buscar publicaciones con etiqueta “meme” y autor mayor a 18 años)</a:t>
            </a:r>
            <a:endParaRPr b="1" sz="47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b="1" sz="3400">
              <a:solidFill>
                <a:schemeClr val="lt1"/>
              </a:solidFill>
              <a:latin typeface="Source Sans Pro"/>
              <a:ea typeface="Source Sans Pro"/>
              <a:cs typeface="Source Sans Pro"/>
              <a:sym typeface="Source Sans Pro"/>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68" name="Shape 968"/>
        <p:cNvGrpSpPr/>
        <p:nvPr/>
      </p:nvGrpSpPr>
      <p:grpSpPr>
        <a:xfrm>
          <a:off x="0" y="0"/>
          <a:ext cx="0" cy="0"/>
          <a:chOff x="0" y="0"/>
          <a:chExt cx="0" cy="0"/>
        </a:xfrm>
      </p:grpSpPr>
      <p:sp>
        <p:nvSpPr>
          <p:cNvPr id="969" name="Google Shape;969;p10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70" name="Google Shape;970;p109"/>
          <p:cNvSpPr/>
          <p:nvPr/>
        </p:nvSpPr>
        <p:spPr>
          <a:xfrm>
            <a:off x="3337350" y="247800"/>
            <a:ext cx="2469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SQL-LIKE API</a:t>
            </a:r>
            <a:endParaRPr b="1" sz="3000">
              <a:solidFill>
                <a:schemeClr val="lt1"/>
              </a:solidFill>
              <a:latin typeface="Source Sans Pro"/>
              <a:ea typeface="Source Sans Pro"/>
              <a:cs typeface="Source Sans Pro"/>
              <a:sym typeface="Source Sans Pro"/>
            </a:endParaRPr>
          </a:p>
        </p:txBody>
      </p:sp>
      <p:pic>
        <p:nvPicPr>
          <p:cNvPr id="971" name="Google Shape;971;p109"/>
          <p:cNvPicPr preferRelativeResize="0"/>
          <p:nvPr/>
        </p:nvPicPr>
        <p:blipFill>
          <a:blip r:embed="rId3">
            <a:alphaModFix/>
          </a:blip>
          <a:stretch>
            <a:fillRect/>
          </a:stretch>
        </p:blipFill>
        <p:spPr>
          <a:xfrm>
            <a:off x="1616363" y="1127750"/>
            <a:ext cx="5911275" cy="36855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75" name="Shape 975"/>
        <p:cNvGrpSpPr/>
        <p:nvPr/>
      </p:nvGrpSpPr>
      <p:grpSpPr>
        <a:xfrm>
          <a:off x="0" y="0"/>
          <a:ext cx="0" cy="0"/>
          <a:chOff x="0" y="0"/>
          <a:chExt cx="0" cy="0"/>
        </a:xfrm>
      </p:grpSpPr>
      <p:sp>
        <p:nvSpPr>
          <p:cNvPr id="976" name="Google Shape;976;p11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77" name="Google Shape;977;p110"/>
          <p:cNvSpPr/>
          <p:nvPr/>
        </p:nvSpPr>
        <p:spPr>
          <a:xfrm>
            <a:off x="2489850" y="247800"/>
            <a:ext cx="4164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RELATIONAL QUERY API</a:t>
            </a:r>
            <a:endParaRPr b="1" sz="3000">
              <a:solidFill>
                <a:schemeClr val="lt1"/>
              </a:solidFill>
              <a:latin typeface="Source Sans Pro"/>
              <a:ea typeface="Source Sans Pro"/>
              <a:cs typeface="Source Sans Pro"/>
              <a:sym typeface="Source Sans Pro"/>
            </a:endParaRPr>
          </a:p>
        </p:txBody>
      </p:sp>
      <p:pic>
        <p:nvPicPr>
          <p:cNvPr id="978" name="Google Shape;978;p110"/>
          <p:cNvPicPr preferRelativeResize="0"/>
          <p:nvPr/>
        </p:nvPicPr>
        <p:blipFill>
          <a:blip r:embed="rId3">
            <a:alphaModFix/>
          </a:blip>
          <a:stretch>
            <a:fillRect/>
          </a:stretch>
        </p:blipFill>
        <p:spPr>
          <a:xfrm>
            <a:off x="1463000" y="1119875"/>
            <a:ext cx="6218000" cy="36332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82" name="Shape 982"/>
        <p:cNvGrpSpPr/>
        <p:nvPr/>
      </p:nvGrpSpPr>
      <p:grpSpPr>
        <a:xfrm>
          <a:off x="0" y="0"/>
          <a:ext cx="0" cy="0"/>
          <a:chOff x="0" y="0"/>
          <a:chExt cx="0" cy="0"/>
        </a:xfrm>
      </p:grpSpPr>
      <p:sp>
        <p:nvSpPr>
          <p:cNvPr id="983" name="Google Shape;983;p11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84" name="Google Shape;984;p111"/>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Salida</a:t>
            </a:r>
            <a:endParaRPr b="1" sz="3000">
              <a:solidFill>
                <a:schemeClr val="lt1"/>
              </a:solidFill>
              <a:latin typeface="Source Sans Pro"/>
              <a:ea typeface="Source Sans Pro"/>
              <a:cs typeface="Source Sans Pro"/>
              <a:sym typeface="Source Sans Pro"/>
            </a:endParaRPr>
          </a:p>
        </p:txBody>
      </p:sp>
      <p:pic>
        <p:nvPicPr>
          <p:cNvPr id="985" name="Google Shape;985;p111"/>
          <p:cNvPicPr preferRelativeResize="0"/>
          <p:nvPr/>
        </p:nvPicPr>
        <p:blipFill>
          <a:blip r:embed="rId3">
            <a:alphaModFix/>
          </a:blip>
          <a:stretch>
            <a:fillRect/>
          </a:stretch>
        </p:blipFill>
        <p:spPr>
          <a:xfrm>
            <a:off x="1177375" y="1083000"/>
            <a:ext cx="6636693" cy="38319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89" name="Shape 989"/>
        <p:cNvGrpSpPr/>
        <p:nvPr/>
      </p:nvGrpSpPr>
      <p:grpSpPr>
        <a:xfrm>
          <a:off x="0" y="0"/>
          <a:ext cx="0" cy="0"/>
          <a:chOff x="0" y="0"/>
          <a:chExt cx="0" cy="0"/>
        </a:xfrm>
      </p:grpSpPr>
      <p:sp>
        <p:nvSpPr>
          <p:cNvPr id="990" name="Google Shape;990;p112"/>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991" name="Google Shape;991;p112"/>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Salida</a:t>
            </a:r>
            <a:endParaRPr b="1" sz="3000">
              <a:solidFill>
                <a:schemeClr val="lt1"/>
              </a:solidFill>
              <a:latin typeface="Source Sans Pro"/>
              <a:ea typeface="Source Sans Pro"/>
              <a:cs typeface="Source Sans Pro"/>
              <a:sym typeface="Source Sans Pro"/>
            </a:endParaRPr>
          </a:p>
        </p:txBody>
      </p:sp>
      <p:pic>
        <p:nvPicPr>
          <p:cNvPr id="992" name="Google Shape;992;p112"/>
          <p:cNvPicPr preferRelativeResize="0"/>
          <p:nvPr/>
        </p:nvPicPr>
        <p:blipFill>
          <a:blip r:embed="rId3">
            <a:alphaModFix/>
          </a:blip>
          <a:stretch>
            <a:fillRect/>
          </a:stretch>
        </p:blipFill>
        <p:spPr>
          <a:xfrm>
            <a:off x="152400" y="1159200"/>
            <a:ext cx="8839200" cy="2596572"/>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996" name="Shape 996"/>
        <p:cNvGrpSpPr/>
        <p:nvPr/>
      </p:nvGrpSpPr>
      <p:grpSpPr>
        <a:xfrm>
          <a:off x="0" y="0"/>
          <a:ext cx="0" cy="0"/>
          <a:chOff x="0" y="0"/>
          <a:chExt cx="0" cy="0"/>
        </a:xfrm>
      </p:grpSpPr>
      <p:sp>
        <p:nvSpPr>
          <p:cNvPr id="997" name="Google Shape;997;p113"/>
          <p:cNvSpPr/>
          <p:nvPr/>
        </p:nvSpPr>
        <p:spPr>
          <a:xfrm>
            <a:off x="0" y="0"/>
            <a:ext cx="9144000" cy="857400"/>
          </a:xfrm>
          <a:prstGeom prst="rect">
            <a:avLst/>
          </a:prstGeom>
          <a:solidFill>
            <a:srgbClr val="1717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8" name="Google Shape;998;p113"/>
          <p:cNvSpPr txBox="1"/>
          <p:nvPr/>
        </p:nvSpPr>
        <p:spPr>
          <a:xfrm>
            <a:off x="2214150" y="142950"/>
            <a:ext cx="4715700" cy="571500"/>
          </a:xfrm>
          <a:prstGeom prst="rect">
            <a:avLst/>
          </a:prstGeom>
          <a:noFill/>
          <a:ln cap="flat" cmpd="sng" w="38100">
            <a:solidFill>
              <a:srgbClr val="DDDDDD"/>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s" sz="3200">
                <a:solidFill>
                  <a:srgbClr val="FFFFFF"/>
                </a:solidFill>
                <a:latin typeface="Raleway"/>
                <a:ea typeface="Raleway"/>
                <a:cs typeface="Raleway"/>
                <a:sym typeface="Raleway"/>
              </a:rPr>
              <a:t>INTERFACES GRÁFICAS</a:t>
            </a:r>
            <a:endParaRPr b="1" sz="3200">
              <a:solidFill>
                <a:srgbClr val="FFFFFF"/>
              </a:solidFill>
              <a:latin typeface="Raleway"/>
              <a:ea typeface="Raleway"/>
              <a:cs typeface="Raleway"/>
              <a:sym typeface="Raleway"/>
            </a:endParaRPr>
          </a:p>
        </p:txBody>
      </p:sp>
      <p:sp>
        <p:nvSpPr>
          <p:cNvPr id="999" name="Google Shape;999;p113"/>
          <p:cNvSpPr txBox="1"/>
          <p:nvPr/>
        </p:nvSpPr>
        <p:spPr>
          <a:xfrm>
            <a:off x="1804175" y="1168744"/>
            <a:ext cx="5501700" cy="246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300">
                <a:solidFill>
                  <a:schemeClr val="lt1"/>
                </a:solidFill>
                <a:latin typeface="Source Sans Pro"/>
                <a:ea typeface="Source Sans Pro"/>
                <a:cs typeface="Source Sans Pro"/>
                <a:sym typeface="Source Sans Pro"/>
              </a:rPr>
              <a:t>Vemos las tablas</a:t>
            </a:r>
            <a:endParaRPr b="1" sz="3300">
              <a:solidFill>
                <a:schemeClr val="lt1"/>
              </a:solidFill>
              <a:latin typeface="Source Sans Pro"/>
              <a:ea typeface="Source Sans Pro"/>
              <a:cs typeface="Source Sans Pro"/>
              <a:sym typeface="Source Sans Pro"/>
            </a:endParaRPr>
          </a:p>
          <a:p>
            <a:pPr indent="0" lvl="0" marL="0" rtl="0" algn="ctr">
              <a:spcBef>
                <a:spcPts val="900"/>
              </a:spcBef>
              <a:spcAft>
                <a:spcPts val="0"/>
              </a:spcAft>
              <a:buNone/>
            </a:pPr>
            <a:r>
              <a:rPr b="1" lang="es" sz="3300">
                <a:solidFill>
                  <a:schemeClr val="lt1"/>
                </a:solidFill>
                <a:latin typeface="Source Sans Pro"/>
                <a:ea typeface="Source Sans Pro"/>
                <a:cs typeface="Source Sans Pro"/>
                <a:sym typeface="Source Sans Pro"/>
              </a:rPr>
              <a:t>desde las interfaces gráficas de cada OrM</a:t>
            </a:r>
            <a:endParaRPr b="1" sz="3300">
              <a:solidFill>
                <a:schemeClr val="lt1"/>
              </a:solidFill>
              <a:latin typeface="Source Sans Pro"/>
              <a:ea typeface="Source Sans Pro"/>
              <a:cs typeface="Source Sans Pro"/>
              <a:sym typeface="Source Sans Pro"/>
            </a:endParaRPr>
          </a:p>
          <a:p>
            <a:pPr indent="0" lvl="0" marL="457200" rtl="0" algn="l">
              <a:spcBef>
                <a:spcPts val="900"/>
              </a:spcBef>
              <a:spcAft>
                <a:spcPts val="0"/>
              </a:spcAft>
              <a:buNone/>
            </a:pPr>
            <a:r>
              <a:t/>
            </a:r>
            <a:endParaRPr b="1" sz="3400">
              <a:solidFill>
                <a:schemeClr val="lt1"/>
              </a:solidFill>
              <a:latin typeface="Source Sans Pro"/>
              <a:ea typeface="Source Sans Pro"/>
              <a:cs typeface="Source Sans Pro"/>
              <a:sym typeface="Source Sans Pro"/>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03" name="Shape 1003"/>
        <p:cNvGrpSpPr/>
        <p:nvPr/>
      </p:nvGrpSpPr>
      <p:grpSpPr>
        <a:xfrm>
          <a:off x="0" y="0"/>
          <a:ext cx="0" cy="0"/>
          <a:chOff x="0" y="0"/>
          <a:chExt cx="0" cy="0"/>
        </a:xfrm>
      </p:grpSpPr>
      <p:sp>
        <p:nvSpPr>
          <p:cNvPr id="1004" name="Google Shape;1004;p114"/>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05" name="Google Shape;1005;p114"/>
          <p:cNvSpPr/>
          <p:nvPr/>
        </p:nvSpPr>
        <p:spPr>
          <a:xfrm>
            <a:off x="2150400" y="247800"/>
            <a:ext cx="48432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 STUDIO: USUARIO</a:t>
            </a:r>
            <a:endParaRPr b="1" sz="3000">
              <a:solidFill>
                <a:schemeClr val="lt1"/>
              </a:solidFill>
              <a:latin typeface="Source Sans Pro"/>
              <a:ea typeface="Source Sans Pro"/>
              <a:cs typeface="Source Sans Pro"/>
              <a:sym typeface="Source Sans Pro"/>
            </a:endParaRPr>
          </a:p>
        </p:txBody>
      </p:sp>
      <p:pic>
        <p:nvPicPr>
          <p:cNvPr id="1006" name="Google Shape;1006;p114"/>
          <p:cNvPicPr preferRelativeResize="0"/>
          <p:nvPr/>
        </p:nvPicPr>
        <p:blipFill>
          <a:blip r:embed="rId3">
            <a:alphaModFix/>
          </a:blip>
          <a:stretch>
            <a:fillRect/>
          </a:stretch>
        </p:blipFill>
        <p:spPr>
          <a:xfrm>
            <a:off x="152400" y="2169288"/>
            <a:ext cx="8839199" cy="80493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10" name="Shape 1010"/>
        <p:cNvGrpSpPr/>
        <p:nvPr/>
      </p:nvGrpSpPr>
      <p:grpSpPr>
        <a:xfrm>
          <a:off x="0" y="0"/>
          <a:ext cx="0" cy="0"/>
          <a:chOff x="0" y="0"/>
          <a:chExt cx="0" cy="0"/>
        </a:xfrm>
      </p:grpSpPr>
      <p:sp>
        <p:nvSpPr>
          <p:cNvPr id="1011" name="Google Shape;1011;p115"/>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12" name="Google Shape;1012;p115"/>
          <p:cNvSpPr/>
          <p:nvPr/>
        </p:nvSpPr>
        <p:spPr>
          <a:xfrm>
            <a:off x="2140350" y="247800"/>
            <a:ext cx="4863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 STUDIO: ETIQUETA</a:t>
            </a:r>
            <a:endParaRPr b="1" sz="3000">
              <a:solidFill>
                <a:schemeClr val="lt1"/>
              </a:solidFill>
              <a:latin typeface="Source Sans Pro"/>
              <a:ea typeface="Source Sans Pro"/>
              <a:cs typeface="Source Sans Pro"/>
              <a:sym typeface="Source Sans Pro"/>
            </a:endParaRPr>
          </a:p>
        </p:txBody>
      </p:sp>
      <p:pic>
        <p:nvPicPr>
          <p:cNvPr id="1013" name="Google Shape;1013;p115"/>
          <p:cNvPicPr preferRelativeResize="0"/>
          <p:nvPr/>
        </p:nvPicPr>
        <p:blipFill>
          <a:blip r:embed="rId3">
            <a:alphaModFix/>
          </a:blip>
          <a:stretch>
            <a:fillRect/>
          </a:stretch>
        </p:blipFill>
        <p:spPr>
          <a:xfrm>
            <a:off x="559138" y="1897538"/>
            <a:ext cx="8025725" cy="134842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17" name="Shape 1017"/>
        <p:cNvGrpSpPr/>
        <p:nvPr/>
      </p:nvGrpSpPr>
      <p:grpSpPr>
        <a:xfrm>
          <a:off x="0" y="0"/>
          <a:ext cx="0" cy="0"/>
          <a:chOff x="0" y="0"/>
          <a:chExt cx="0" cy="0"/>
        </a:xfrm>
      </p:grpSpPr>
      <p:sp>
        <p:nvSpPr>
          <p:cNvPr id="1018" name="Google Shape;1018;p116"/>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19" name="Google Shape;1019;p116"/>
          <p:cNvSpPr/>
          <p:nvPr/>
        </p:nvSpPr>
        <p:spPr>
          <a:xfrm>
            <a:off x="1684350" y="247800"/>
            <a:ext cx="57753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 STUDIO: </a:t>
            </a:r>
            <a:r>
              <a:rPr b="1" lang="es" sz="3000">
                <a:solidFill>
                  <a:schemeClr val="lt1"/>
                </a:solidFill>
                <a:latin typeface="Source Sans Pro"/>
                <a:ea typeface="Source Sans Pro"/>
                <a:cs typeface="Source Sans Pro"/>
                <a:sym typeface="Source Sans Pro"/>
              </a:rPr>
              <a:t>PUBLICACIÓN</a:t>
            </a:r>
            <a:endParaRPr b="1" sz="3000">
              <a:solidFill>
                <a:schemeClr val="lt1"/>
              </a:solidFill>
              <a:latin typeface="Source Sans Pro"/>
              <a:ea typeface="Source Sans Pro"/>
              <a:cs typeface="Source Sans Pro"/>
              <a:sym typeface="Source Sans Pro"/>
            </a:endParaRPr>
          </a:p>
        </p:txBody>
      </p:sp>
      <p:pic>
        <p:nvPicPr>
          <p:cNvPr id="1020" name="Google Shape;1020;p116"/>
          <p:cNvPicPr preferRelativeResize="0"/>
          <p:nvPr/>
        </p:nvPicPr>
        <p:blipFill>
          <a:blip r:embed="rId3">
            <a:alphaModFix/>
          </a:blip>
          <a:stretch>
            <a:fillRect/>
          </a:stretch>
        </p:blipFill>
        <p:spPr>
          <a:xfrm>
            <a:off x="152400" y="2166550"/>
            <a:ext cx="8839200" cy="81040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24" name="Shape 1024"/>
        <p:cNvGrpSpPr/>
        <p:nvPr/>
      </p:nvGrpSpPr>
      <p:grpSpPr>
        <a:xfrm>
          <a:off x="0" y="0"/>
          <a:ext cx="0" cy="0"/>
          <a:chOff x="0" y="0"/>
          <a:chExt cx="0" cy="0"/>
        </a:xfrm>
      </p:grpSpPr>
      <p:sp>
        <p:nvSpPr>
          <p:cNvPr id="1025" name="Google Shape;1025;p117"/>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26" name="Google Shape;1026;p117"/>
          <p:cNvSpPr/>
          <p:nvPr/>
        </p:nvSpPr>
        <p:spPr>
          <a:xfrm>
            <a:off x="899250" y="247800"/>
            <a:ext cx="7345500" cy="511200"/>
          </a:xfrm>
          <a:prstGeom prst="rect">
            <a:avLst/>
          </a:prstGeom>
          <a:noFill/>
          <a:ln cap="flat" cmpd="sng" w="38100">
            <a:solidFill>
              <a:srgbClr val="C5F74F"/>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DRIZZLE STUDIO: PUBLICACION_ETIQUETA</a:t>
            </a:r>
            <a:endParaRPr b="1" sz="3000">
              <a:solidFill>
                <a:schemeClr val="lt1"/>
              </a:solidFill>
              <a:latin typeface="Source Sans Pro"/>
              <a:ea typeface="Source Sans Pro"/>
              <a:cs typeface="Source Sans Pro"/>
              <a:sym typeface="Source Sans Pro"/>
            </a:endParaRPr>
          </a:p>
        </p:txBody>
      </p:sp>
      <p:pic>
        <p:nvPicPr>
          <p:cNvPr id="1027" name="Google Shape;1027;p117"/>
          <p:cNvPicPr preferRelativeResize="0"/>
          <p:nvPr/>
        </p:nvPicPr>
        <p:blipFill>
          <a:blip r:embed="rId3">
            <a:alphaModFix/>
          </a:blip>
          <a:stretch>
            <a:fillRect/>
          </a:stretch>
        </p:blipFill>
        <p:spPr>
          <a:xfrm>
            <a:off x="276863" y="1893750"/>
            <a:ext cx="8590274" cy="172837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31" name="Shape 1031"/>
        <p:cNvGrpSpPr/>
        <p:nvPr/>
      </p:nvGrpSpPr>
      <p:grpSpPr>
        <a:xfrm>
          <a:off x="0" y="0"/>
          <a:ext cx="0" cy="0"/>
          <a:chOff x="0" y="0"/>
          <a:chExt cx="0" cy="0"/>
        </a:xfrm>
      </p:grpSpPr>
      <p:sp>
        <p:nvSpPr>
          <p:cNvPr id="1032" name="Google Shape;1032;p118"/>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33" name="Google Shape;1033;p118"/>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Prisma Studio</a:t>
            </a:r>
            <a:endParaRPr b="1" sz="3000">
              <a:solidFill>
                <a:schemeClr val="lt1"/>
              </a:solidFill>
              <a:latin typeface="Source Sans Pro"/>
              <a:ea typeface="Source Sans Pro"/>
              <a:cs typeface="Source Sans Pro"/>
              <a:sym typeface="Source Sans Pro"/>
            </a:endParaRPr>
          </a:p>
        </p:txBody>
      </p:sp>
      <p:pic>
        <p:nvPicPr>
          <p:cNvPr id="1034" name="Google Shape;1034;p118"/>
          <p:cNvPicPr preferRelativeResize="0"/>
          <p:nvPr/>
        </p:nvPicPr>
        <p:blipFill>
          <a:blip r:embed="rId3">
            <a:alphaModFix/>
          </a:blip>
          <a:stretch>
            <a:fillRect/>
          </a:stretch>
        </p:blipFill>
        <p:spPr>
          <a:xfrm>
            <a:off x="152400" y="1302075"/>
            <a:ext cx="8839200" cy="1639118"/>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38" name="Shape 1038"/>
        <p:cNvGrpSpPr/>
        <p:nvPr/>
      </p:nvGrpSpPr>
      <p:grpSpPr>
        <a:xfrm>
          <a:off x="0" y="0"/>
          <a:ext cx="0" cy="0"/>
          <a:chOff x="0" y="0"/>
          <a:chExt cx="0" cy="0"/>
        </a:xfrm>
      </p:grpSpPr>
      <p:sp>
        <p:nvSpPr>
          <p:cNvPr id="1039" name="Google Shape;1039;p119"/>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40" name="Google Shape;1040;p119"/>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Prisma Studio</a:t>
            </a:r>
            <a:endParaRPr b="1" sz="3000">
              <a:solidFill>
                <a:schemeClr val="lt1"/>
              </a:solidFill>
              <a:latin typeface="Source Sans Pro"/>
              <a:ea typeface="Source Sans Pro"/>
              <a:cs typeface="Source Sans Pro"/>
              <a:sym typeface="Source Sans Pro"/>
            </a:endParaRPr>
          </a:p>
        </p:txBody>
      </p:sp>
      <p:pic>
        <p:nvPicPr>
          <p:cNvPr id="1041" name="Google Shape;1041;p119"/>
          <p:cNvPicPr preferRelativeResize="0"/>
          <p:nvPr/>
        </p:nvPicPr>
        <p:blipFill>
          <a:blip r:embed="rId3">
            <a:alphaModFix/>
          </a:blip>
          <a:stretch>
            <a:fillRect/>
          </a:stretch>
        </p:blipFill>
        <p:spPr>
          <a:xfrm>
            <a:off x="2008538" y="1197300"/>
            <a:ext cx="4974373" cy="383189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45" name="Shape 1045"/>
        <p:cNvGrpSpPr/>
        <p:nvPr/>
      </p:nvGrpSpPr>
      <p:grpSpPr>
        <a:xfrm>
          <a:off x="0" y="0"/>
          <a:ext cx="0" cy="0"/>
          <a:chOff x="0" y="0"/>
          <a:chExt cx="0" cy="0"/>
        </a:xfrm>
      </p:grpSpPr>
      <p:sp>
        <p:nvSpPr>
          <p:cNvPr id="1046" name="Google Shape;1046;p120"/>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47" name="Google Shape;1047;p120"/>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Prisma Studio</a:t>
            </a:r>
            <a:endParaRPr b="1" sz="3000">
              <a:solidFill>
                <a:schemeClr val="lt1"/>
              </a:solidFill>
              <a:latin typeface="Source Sans Pro"/>
              <a:ea typeface="Source Sans Pro"/>
              <a:cs typeface="Source Sans Pro"/>
              <a:sym typeface="Source Sans Pro"/>
            </a:endParaRPr>
          </a:p>
        </p:txBody>
      </p:sp>
      <p:pic>
        <p:nvPicPr>
          <p:cNvPr id="1048" name="Google Shape;1048;p120"/>
          <p:cNvPicPr preferRelativeResize="0"/>
          <p:nvPr/>
        </p:nvPicPr>
        <p:blipFill>
          <a:blip r:embed="rId3">
            <a:alphaModFix/>
          </a:blip>
          <a:stretch>
            <a:fillRect/>
          </a:stretch>
        </p:blipFill>
        <p:spPr>
          <a:xfrm>
            <a:off x="152400" y="1159200"/>
            <a:ext cx="8839203" cy="2312119"/>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52" name="Shape 1052"/>
        <p:cNvGrpSpPr/>
        <p:nvPr/>
      </p:nvGrpSpPr>
      <p:grpSpPr>
        <a:xfrm>
          <a:off x="0" y="0"/>
          <a:ext cx="0" cy="0"/>
          <a:chOff x="0" y="0"/>
          <a:chExt cx="0" cy="0"/>
        </a:xfrm>
      </p:grpSpPr>
      <p:sp>
        <p:nvSpPr>
          <p:cNvPr id="1053" name="Google Shape;1053;p121"/>
          <p:cNvSpPr/>
          <p:nvPr/>
        </p:nvSpPr>
        <p:spPr>
          <a:xfrm>
            <a:off x="0" y="0"/>
            <a:ext cx="9144000" cy="10068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54" name="Google Shape;1054;p121"/>
          <p:cNvSpPr/>
          <p:nvPr/>
        </p:nvSpPr>
        <p:spPr>
          <a:xfrm>
            <a:off x="1971675" y="247800"/>
            <a:ext cx="5048100" cy="511200"/>
          </a:xfrm>
          <a:prstGeom prst="rect">
            <a:avLst/>
          </a:prstGeom>
          <a:noFill/>
          <a:ln cap="flat" cmpd="sng" w="38100">
            <a:solidFill>
              <a:srgbClr val="6178F2"/>
            </a:solidFill>
            <a:prstDash val="solid"/>
            <a:round/>
            <a:headEnd len="sm" w="sm" type="none"/>
            <a:tailEnd len="sm" w="sm" type="none"/>
          </a:ln>
        </p:spPr>
        <p:txBody>
          <a:bodyPr anchorCtr="0" anchor="ctr"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Source Sans Pro"/>
                <a:ea typeface="Source Sans Pro"/>
                <a:cs typeface="Source Sans Pro"/>
                <a:sym typeface="Source Sans Pro"/>
              </a:rPr>
              <a:t>Prisma Studio</a:t>
            </a:r>
            <a:endParaRPr b="1" sz="3000">
              <a:solidFill>
                <a:schemeClr val="lt1"/>
              </a:solidFill>
              <a:latin typeface="Source Sans Pro"/>
              <a:ea typeface="Source Sans Pro"/>
              <a:cs typeface="Source Sans Pro"/>
              <a:sym typeface="Source Sans Pro"/>
            </a:endParaRPr>
          </a:p>
        </p:txBody>
      </p:sp>
      <p:pic>
        <p:nvPicPr>
          <p:cNvPr id="1055" name="Google Shape;1055;p121"/>
          <p:cNvPicPr preferRelativeResize="0"/>
          <p:nvPr/>
        </p:nvPicPr>
        <p:blipFill>
          <a:blip r:embed="rId3">
            <a:alphaModFix/>
          </a:blip>
          <a:stretch>
            <a:fillRect/>
          </a:stretch>
        </p:blipFill>
        <p:spPr>
          <a:xfrm>
            <a:off x="152400" y="1159200"/>
            <a:ext cx="8124825" cy="25908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59" name="Shape 1059"/>
        <p:cNvGrpSpPr/>
        <p:nvPr/>
      </p:nvGrpSpPr>
      <p:grpSpPr>
        <a:xfrm>
          <a:off x="0" y="0"/>
          <a:ext cx="0" cy="0"/>
          <a:chOff x="0" y="0"/>
          <a:chExt cx="0" cy="0"/>
        </a:xfrm>
      </p:grpSpPr>
      <p:sp>
        <p:nvSpPr>
          <p:cNvPr id="1060" name="Google Shape;1060;p122"/>
          <p:cNvSpPr/>
          <p:nvPr/>
        </p:nvSpPr>
        <p:spPr>
          <a:xfrm>
            <a:off x="0" y="0"/>
            <a:ext cx="6552300" cy="51435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061" name="Google Shape;1061;p122"/>
          <p:cNvSpPr txBox="1"/>
          <p:nvPr/>
        </p:nvSpPr>
        <p:spPr>
          <a:xfrm>
            <a:off x="0" y="0"/>
            <a:ext cx="6552300" cy="514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6000">
                <a:solidFill>
                  <a:srgbClr val="C5F74F"/>
                </a:solidFill>
                <a:latin typeface="Source Sans Pro"/>
                <a:ea typeface="Source Sans Pro"/>
                <a:cs typeface="Source Sans Pro"/>
                <a:sym typeface="Source Sans Pro"/>
              </a:rPr>
              <a:t>Conclusiones</a:t>
            </a:r>
            <a:endParaRPr b="1" sz="6000">
              <a:solidFill>
                <a:srgbClr val="C5F74F"/>
              </a:solidFill>
              <a:latin typeface="Source Sans Pro"/>
              <a:ea typeface="Source Sans Pro"/>
              <a:cs typeface="Source Sans Pro"/>
              <a:sym typeface="Source Sans Pro"/>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5" name="Shape 1065"/>
        <p:cNvGrpSpPr/>
        <p:nvPr/>
      </p:nvGrpSpPr>
      <p:grpSpPr>
        <a:xfrm>
          <a:off x="0" y="0"/>
          <a:ext cx="0" cy="0"/>
          <a:chOff x="0" y="0"/>
          <a:chExt cx="0" cy="0"/>
        </a:xfrm>
      </p:grpSpPr>
      <p:sp>
        <p:nvSpPr>
          <p:cNvPr id="1066" name="Google Shape;1066;p123"/>
          <p:cNvSpPr/>
          <p:nvPr/>
        </p:nvSpPr>
        <p:spPr>
          <a:xfrm>
            <a:off x="0" y="0"/>
            <a:ext cx="9144000" cy="857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7" name="Google Shape;1067;p123"/>
          <p:cNvSpPr/>
          <p:nvPr/>
        </p:nvSpPr>
        <p:spPr>
          <a:xfrm>
            <a:off x="2400300" y="171450"/>
            <a:ext cx="4343400" cy="5145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i="0" lang="es" sz="2600" u="none" strike="noStrike">
                <a:solidFill>
                  <a:srgbClr val="FFFFFF"/>
                </a:solidFill>
                <a:latin typeface="Source Sans Pro"/>
                <a:ea typeface="Source Sans Pro"/>
                <a:cs typeface="Source Sans Pro"/>
                <a:sym typeface="Source Sans Pro"/>
              </a:rPr>
              <a:t>Conclusiones</a:t>
            </a:r>
            <a:endParaRPr b="1" i="0" sz="2600" u="none" strike="noStrike">
              <a:solidFill>
                <a:srgbClr val="FFFFFF"/>
              </a:solidFill>
              <a:latin typeface="Source Sans Pro"/>
              <a:ea typeface="Source Sans Pro"/>
              <a:cs typeface="Source Sans Pro"/>
              <a:sym typeface="Source Sans Pro"/>
            </a:endParaRPr>
          </a:p>
        </p:txBody>
      </p:sp>
      <p:grpSp>
        <p:nvGrpSpPr>
          <p:cNvPr id="1068" name="Google Shape;1068;p123"/>
          <p:cNvGrpSpPr/>
          <p:nvPr/>
        </p:nvGrpSpPr>
        <p:grpSpPr>
          <a:xfrm>
            <a:off x="571500" y="1143000"/>
            <a:ext cx="3810000" cy="1571700"/>
            <a:chOff x="0" y="0"/>
            <a:chExt cx="3810000" cy="1571700"/>
          </a:xfrm>
        </p:grpSpPr>
        <p:sp>
          <p:nvSpPr>
            <p:cNvPr id="1069" name="Google Shape;1069;p123"/>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0" name="Google Shape;1070;p123"/>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123"/>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trending_up</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Tendencia de Mercado</a:t>
              </a:r>
              <a:endParaRPr b="0" i="0" sz="1800" u="none" strike="noStrike">
                <a:solidFill>
                  <a:srgbClr val="FFFFFF"/>
                </a:solidFill>
                <a:latin typeface="Material Icons"/>
                <a:ea typeface="Material Icons"/>
                <a:cs typeface="Material Icons"/>
                <a:sym typeface="Material Icons"/>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5" name="Shape 1075"/>
        <p:cNvGrpSpPr/>
        <p:nvPr/>
      </p:nvGrpSpPr>
      <p:grpSpPr>
        <a:xfrm>
          <a:off x="0" y="0"/>
          <a:ext cx="0" cy="0"/>
          <a:chOff x="0" y="0"/>
          <a:chExt cx="0" cy="0"/>
        </a:xfrm>
      </p:grpSpPr>
      <p:sp>
        <p:nvSpPr>
          <p:cNvPr id="1076" name="Google Shape;1076;p124"/>
          <p:cNvSpPr/>
          <p:nvPr/>
        </p:nvSpPr>
        <p:spPr>
          <a:xfrm>
            <a:off x="0" y="0"/>
            <a:ext cx="9144000" cy="857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7" name="Google Shape;1077;p124"/>
          <p:cNvSpPr/>
          <p:nvPr/>
        </p:nvSpPr>
        <p:spPr>
          <a:xfrm>
            <a:off x="2400300" y="171450"/>
            <a:ext cx="4343400" cy="5145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i="0" lang="es" sz="2600" u="none" strike="noStrike">
                <a:solidFill>
                  <a:srgbClr val="FFFFFF"/>
                </a:solidFill>
                <a:latin typeface="Source Sans Pro"/>
                <a:ea typeface="Source Sans Pro"/>
                <a:cs typeface="Source Sans Pro"/>
                <a:sym typeface="Source Sans Pro"/>
              </a:rPr>
              <a:t>Conclusiones</a:t>
            </a:r>
            <a:endParaRPr b="1" i="0" sz="2600" u="none" strike="noStrike">
              <a:solidFill>
                <a:srgbClr val="FFFFFF"/>
              </a:solidFill>
              <a:latin typeface="Source Sans Pro"/>
              <a:ea typeface="Source Sans Pro"/>
              <a:cs typeface="Source Sans Pro"/>
              <a:sym typeface="Source Sans Pro"/>
            </a:endParaRPr>
          </a:p>
        </p:txBody>
      </p:sp>
      <p:grpSp>
        <p:nvGrpSpPr>
          <p:cNvPr id="1078" name="Google Shape;1078;p124"/>
          <p:cNvGrpSpPr/>
          <p:nvPr/>
        </p:nvGrpSpPr>
        <p:grpSpPr>
          <a:xfrm>
            <a:off x="571500" y="1143000"/>
            <a:ext cx="3810000" cy="1571700"/>
            <a:chOff x="0" y="0"/>
            <a:chExt cx="3810000" cy="1571700"/>
          </a:xfrm>
        </p:grpSpPr>
        <p:sp>
          <p:nvSpPr>
            <p:cNvPr id="1079" name="Google Shape;1079;p124"/>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0" name="Google Shape;1080;p124"/>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1" name="Google Shape;1081;p124"/>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trending_up</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Tendencia de Mercado</a:t>
              </a:r>
              <a:endParaRPr b="0" i="0" sz="1800" u="none" strike="noStrike">
                <a:solidFill>
                  <a:srgbClr val="FFFFFF"/>
                </a:solidFill>
                <a:latin typeface="Material Icons"/>
                <a:ea typeface="Material Icons"/>
                <a:cs typeface="Material Icons"/>
                <a:sym typeface="Material Icons"/>
              </a:endParaRPr>
            </a:p>
          </p:txBody>
        </p:sp>
      </p:grpSp>
      <p:grpSp>
        <p:nvGrpSpPr>
          <p:cNvPr id="1082" name="Google Shape;1082;p124"/>
          <p:cNvGrpSpPr/>
          <p:nvPr/>
        </p:nvGrpSpPr>
        <p:grpSpPr>
          <a:xfrm>
            <a:off x="4762500" y="1143000"/>
            <a:ext cx="3810000" cy="1571700"/>
            <a:chOff x="0" y="0"/>
            <a:chExt cx="3810000" cy="1571700"/>
          </a:xfrm>
        </p:grpSpPr>
        <p:sp>
          <p:nvSpPr>
            <p:cNvPr id="1083" name="Google Shape;1083;p124"/>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4" name="Google Shape;1084;p124"/>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5" name="Google Shape;1085;p124"/>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insights</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Curva de aprendizaje y escalabilidad a largo plazo</a:t>
              </a:r>
              <a:endParaRPr b="0" i="0" sz="1800" u="none" strike="noStrike">
                <a:solidFill>
                  <a:srgbClr val="FFFFFF"/>
                </a:solidFill>
                <a:latin typeface="Material Icons"/>
                <a:ea typeface="Material Icons"/>
                <a:cs typeface="Material Icons"/>
                <a:sym typeface="Material Icons"/>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9" name="Shape 1089"/>
        <p:cNvGrpSpPr/>
        <p:nvPr/>
      </p:nvGrpSpPr>
      <p:grpSpPr>
        <a:xfrm>
          <a:off x="0" y="0"/>
          <a:ext cx="0" cy="0"/>
          <a:chOff x="0" y="0"/>
          <a:chExt cx="0" cy="0"/>
        </a:xfrm>
      </p:grpSpPr>
      <p:sp>
        <p:nvSpPr>
          <p:cNvPr id="1090" name="Google Shape;1090;p125"/>
          <p:cNvSpPr/>
          <p:nvPr/>
        </p:nvSpPr>
        <p:spPr>
          <a:xfrm>
            <a:off x="0" y="0"/>
            <a:ext cx="9144000" cy="857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p125"/>
          <p:cNvSpPr/>
          <p:nvPr/>
        </p:nvSpPr>
        <p:spPr>
          <a:xfrm>
            <a:off x="2400300" y="171450"/>
            <a:ext cx="4343400" cy="5145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i="0" lang="es" sz="2600" u="none" strike="noStrike">
                <a:solidFill>
                  <a:srgbClr val="FFFFFF"/>
                </a:solidFill>
                <a:latin typeface="Source Sans Pro"/>
                <a:ea typeface="Source Sans Pro"/>
                <a:cs typeface="Source Sans Pro"/>
                <a:sym typeface="Source Sans Pro"/>
              </a:rPr>
              <a:t>Conclusiones</a:t>
            </a:r>
            <a:endParaRPr b="1" i="0" sz="2600" u="none" strike="noStrike">
              <a:solidFill>
                <a:srgbClr val="FFFFFF"/>
              </a:solidFill>
              <a:latin typeface="Source Sans Pro"/>
              <a:ea typeface="Source Sans Pro"/>
              <a:cs typeface="Source Sans Pro"/>
              <a:sym typeface="Source Sans Pro"/>
            </a:endParaRPr>
          </a:p>
        </p:txBody>
      </p:sp>
      <p:grpSp>
        <p:nvGrpSpPr>
          <p:cNvPr id="1092" name="Google Shape;1092;p125"/>
          <p:cNvGrpSpPr/>
          <p:nvPr/>
        </p:nvGrpSpPr>
        <p:grpSpPr>
          <a:xfrm>
            <a:off x="571500" y="1143000"/>
            <a:ext cx="3810000" cy="1571700"/>
            <a:chOff x="0" y="0"/>
            <a:chExt cx="3810000" cy="1571700"/>
          </a:xfrm>
        </p:grpSpPr>
        <p:sp>
          <p:nvSpPr>
            <p:cNvPr id="1093" name="Google Shape;1093;p125"/>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4" name="Google Shape;1094;p125"/>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125"/>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trending_up</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Tendencia de Mercado</a:t>
              </a:r>
              <a:endParaRPr b="0" i="0" sz="1800" u="none" strike="noStrike">
                <a:solidFill>
                  <a:srgbClr val="FFFFFF"/>
                </a:solidFill>
                <a:latin typeface="Material Icons"/>
                <a:ea typeface="Material Icons"/>
                <a:cs typeface="Material Icons"/>
                <a:sym typeface="Material Icons"/>
              </a:endParaRPr>
            </a:p>
          </p:txBody>
        </p:sp>
      </p:grpSp>
      <p:grpSp>
        <p:nvGrpSpPr>
          <p:cNvPr id="1096" name="Google Shape;1096;p125"/>
          <p:cNvGrpSpPr/>
          <p:nvPr/>
        </p:nvGrpSpPr>
        <p:grpSpPr>
          <a:xfrm>
            <a:off x="4762500" y="1143000"/>
            <a:ext cx="3810000" cy="1571700"/>
            <a:chOff x="0" y="0"/>
            <a:chExt cx="3810000" cy="1571700"/>
          </a:xfrm>
        </p:grpSpPr>
        <p:sp>
          <p:nvSpPr>
            <p:cNvPr id="1097" name="Google Shape;1097;p125"/>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p125"/>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9" name="Google Shape;1099;p125"/>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insights</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Curva de aprendizaje y escalabilidad a largo plazo</a:t>
              </a:r>
              <a:endParaRPr b="0" i="0" sz="1800" u="none" strike="noStrike">
                <a:solidFill>
                  <a:srgbClr val="FFFFFF"/>
                </a:solidFill>
                <a:latin typeface="Material Icons"/>
                <a:ea typeface="Material Icons"/>
                <a:cs typeface="Material Icons"/>
                <a:sym typeface="Material Icons"/>
              </a:endParaRPr>
            </a:p>
          </p:txBody>
        </p:sp>
      </p:grpSp>
      <p:grpSp>
        <p:nvGrpSpPr>
          <p:cNvPr id="1100" name="Google Shape;1100;p125"/>
          <p:cNvGrpSpPr/>
          <p:nvPr/>
        </p:nvGrpSpPr>
        <p:grpSpPr>
          <a:xfrm>
            <a:off x="571500" y="2952750"/>
            <a:ext cx="3810000" cy="1571700"/>
            <a:chOff x="0" y="0"/>
            <a:chExt cx="3810000" cy="1571700"/>
          </a:xfrm>
        </p:grpSpPr>
        <p:sp>
          <p:nvSpPr>
            <p:cNvPr id="1101" name="Google Shape;1101;p125"/>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2" name="Google Shape;1102;p125"/>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3" name="Google Shape;1103;p125"/>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layers</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Tipo de proyecto en el que se destaca cada uno</a:t>
              </a:r>
              <a:endParaRPr b="0" i="0" sz="1800" u="none" strike="noStrike">
                <a:solidFill>
                  <a:srgbClr val="FFFFFF"/>
                </a:solidFill>
                <a:latin typeface="Material Icons"/>
                <a:ea typeface="Material Icons"/>
                <a:cs typeface="Material Icons"/>
                <a:sym typeface="Material Icons"/>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7" name="Shape 1107"/>
        <p:cNvGrpSpPr/>
        <p:nvPr/>
      </p:nvGrpSpPr>
      <p:grpSpPr>
        <a:xfrm>
          <a:off x="0" y="0"/>
          <a:ext cx="0" cy="0"/>
          <a:chOff x="0" y="0"/>
          <a:chExt cx="0" cy="0"/>
        </a:xfrm>
      </p:grpSpPr>
      <p:sp>
        <p:nvSpPr>
          <p:cNvPr id="1108" name="Google Shape;1108;p126"/>
          <p:cNvSpPr/>
          <p:nvPr/>
        </p:nvSpPr>
        <p:spPr>
          <a:xfrm>
            <a:off x="0" y="0"/>
            <a:ext cx="9144000" cy="857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9" name="Google Shape;1109;p126"/>
          <p:cNvSpPr/>
          <p:nvPr/>
        </p:nvSpPr>
        <p:spPr>
          <a:xfrm>
            <a:off x="2400300" y="171450"/>
            <a:ext cx="4343400" cy="514500"/>
          </a:xfrm>
          <a:prstGeom prst="rect">
            <a:avLst/>
          </a:prstGeom>
          <a:solidFill>
            <a:srgbClr val="000000">
              <a:alpha val="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i="0" lang="es" sz="2600" u="none" strike="noStrike">
                <a:solidFill>
                  <a:srgbClr val="FFFFFF"/>
                </a:solidFill>
                <a:latin typeface="Source Sans Pro"/>
                <a:ea typeface="Source Sans Pro"/>
                <a:cs typeface="Source Sans Pro"/>
                <a:sym typeface="Source Sans Pro"/>
              </a:rPr>
              <a:t>Conclusiones</a:t>
            </a:r>
            <a:endParaRPr b="1" i="0" sz="2600" u="none" strike="noStrike">
              <a:solidFill>
                <a:srgbClr val="FFFFFF"/>
              </a:solidFill>
              <a:latin typeface="Source Sans Pro"/>
              <a:ea typeface="Source Sans Pro"/>
              <a:cs typeface="Source Sans Pro"/>
              <a:sym typeface="Source Sans Pro"/>
            </a:endParaRPr>
          </a:p>
        </p:txBody>
      </p:sp>
      <p:grpSp>
        <p:nvGrpSpPr>
          <p:cNvPr id="1110" name="Google Shape;1110;p126"/>
          <p:cNvGrpSpPr/>
          <p:nvPr/>
        </p:nvGrpSpPr>
        <p:grpSpPr>
          <a:xfrm>
            <a:off x="571500" y="1143000"/>
            <a:ext cx="3810000" cy="1571700"/>
            <a:chOff x="0" y="0"/>
            <a:chExt cx="3810000" cy="1571700"/>
          </a:xfrm>
        </p:grpSpPr>
        <p:sp>
          <p:nvSpPr>
            <p:cNvPr id="1111" name="Google Shape;1111;p126"/>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2" name="Google Shape;1112;p126"/>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3" name="Google Shape;1113;p126"/>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trending_up</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Tendencia de Mercado</a:t>
              </a:r>
              <a:endParaRPr b="0" i="0" sz="1800" u="none" strike="noStrike">
                <a:solidFill>
                  <a:srgbClr val="FFFFFF"/>
                </a:solidFill>
                <a:latin typeface="Material Icons"/>
                <a:ea typeface="Material Icons"/>
                <a:cs typeface="Material Icons"/>
                <a:sym typeface="Material Icons"/>
              </a:endParaRPr>
            </a:p>
          </p:txBody>
        </p:sp>
      </p:grpSp>
      <p:grpSp>
        <p:nvGrpSpPr>
          <p:cNvPr id="1114" name="Google Shape;1114;p126"/>
          <p:cNvGrpSpPr/>
          <p:nvPr/>
        </p:nvGrpSpPr>
        <p:grpSpPr>
          <a:xfrm>
            <a:off x="4762500" y="1143000"/>
            <a:ext cx="3810000" cy="1571700"/>
            <a:chOff x="0" y="0"/>
            <a:chExt cx="3810000" cy="1571700"/>
          </a:xfrm>
        </p:grpSpPr>
        <p:sp>
          <p:nvSpPr>
            <p:cNvPr id="1115" name="Google Shape;1115;p126"/>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6" name="Google Shape;1116;p126"/>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7" name="Google Shape;1117;p126"/>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insights</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Curva de aprendizaje y escalabilidad a largo plazo</a:t>
              </a:r>
              <a:endParaRPr b="0" i="0" sz="1800" u="none" strike="noStrike">
                <a:solidFill>
                  <a:srgbClr val="FFFFFF"/>
                </a:solidFill>
                <a:latin typeface="Material Icons"/>
                <a:ea typeface="Material Icons"/>
                <a:cs typeface="Material Icons"/>
                <a:sym typeface="Material Icons"/>
              </a:endParaRPr>
            </a:p>
          </p:txBody>
        </p:sp>
      </p:grpSp>
      <p:grpSp>
        <p:nvGrpSpPr>
          <p:cNvPr id="1118" name="Google Shape;1118;p126"/>
          <p:cNvGrpSpPr/>
          <p:nvPr/>
        </p:nvGrpSpPr>
        <p:grpSpPr>
          <a:xfrm>
            <a:off x="571500" y="2952750"/>
            <a:ext cx="3810000" cy="1571700"/>
            <a:chOff x="0" y="0"/>
            <a:chExt cx="3810000" cy="1571700"/>
          </a:xfrm>
        </p:grpSpPr>
        <p:sp>
          <p:nvSpPr>
            <p:cNvPr id="1119" name="Google Shape;1119;p126"/>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0" name="Google Shape;1120;p126"/>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1" name="Google Shape;1121;p126"/>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layers</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Tipo de proyecto en el que se destaca cada uno</a:t>
              </a:r>
              <a:endParaRPr b="0" i="0" sz="1800" u="none" strike="noStrike">
                <a:solidFill>
                  <a:srgbClr val="FFFFFF"/>
                </a:solidFill>
                <a:latin typeface="Material Icons"/>
                <a:ea typeface="Material Icons"/>
                <a:cs typeface="Material Icons"/>
                <a:sym typeface="Material Icons"/>
              </a:endParaRPr>
            </a:p>
          </p:txBody>
        </p:sp>
      </p:grpSp>
      <p:grpSp>
        <p:nvGrpSpPr>
          <p:cNvPr id="1122" name="Google Shape;1122;p126"/>
          <p:cNvGrpSpPr/>
          <p:nvPr/>
        </p:nvGrpSpPr>
        <p:grpSpPr>
          <a:xfrm>
            <a:off x="4762500" y="2952750"/>
            <a:ext cx="3810000" cy="1571700"/>
            <a:chOff x="0" y="0"/>
            <a:chExt cx="3810000" cy="1571700"/>
          </a:xfrm>
        </p:grpSpPr>
        <p:sp>
          <p:nvSpPr>
            <p:cNvPr id="1123" name="Google Shape;1123;p126"/>
            <p:cNvSpPr/>
            <p:nvPr/>
          </p:nvSpPr>
          <p:spPr>
            <a:xfrm>
              <a:off x="0" y="0"/>
              <a:ext cx="3810000" cy="1571700"/>
            </a:xfrm>
            <a:prstGeom prst="roundRect">
              <a:avLst>
                <a:gd fmla="val 6060" name="adj"/>
              </a:avLst>
            </a:prstGeom>
            <a:solidFill>
              <a:srgbClr val="1E1E1E"/>
            </a:solidFill>
            <a:ln cap="flat" cmpd="sng" w="14300">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4" name="Google Shape;1124;p126"/>
            <p:cNvSpPr/>
            <p:nvPr/>
          </p:nvSpPr>
          <p:spPr>
            <a:xfrm>
              <a:off x="0" y="0"/>
              <a:ext cx="38100" cy="15717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5" name="Google Shape;1125;p126"/>
            <p:cNvSpPr txBox="1"/>
            <p:nvPr/>
          </p:nvSpPr>
          <p:spPr>
            <a:xfrm>
              <a:off x="228600" y="190500"/>
              <a:ext cx="3352800" cy="1190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s" sz="2800" u="none" strike="noStrike">
                  <a:solidFill>
                    <a:srgbClr val="FFFFFF"/>
                  </a:solidFill>
                  <a:latin typeface="Material Icons"/>
                  <a:ea typeface="Material Icons"/>
                  <a:cs typeface="Material Icons"/>
                  <a:sym typeface="Material Icons"/>
                </a:rPr>
                <a:t>work_outline</a:t>
              </a:r>
              <a:endParaRPr b="0" i="0" sz="2800" u="none" strike="noStrike">
                <a:solidFill>
                  <a:srgbClr val="FFFFFF"/>
                </a:solidFill>
                <a:latin typeface="Material Icons"/>
                <a:ea typeface="Material Icons"/>
                <a:cs typeface="Material Icons"/>
                <a:sym typeface="Material Icons"/>
              </a:endParaRPr>
            </a:p>
            <a:p>
              <a:pPr indent="0" lvl="0" marL="0" rtl="0" algn="l">
                <a:spcBef>
                  <a:spcPts val="600"/>
                </a:spcBef>
                <a:spcAft>
                  <a:spcPts val="0"/>
                </a:spcAft>
                <a:buNone/>
              </a:pPr>
              <a:r>
                <a:rPr b="0" i="0" lang="es" sz="1800" u="none" strike="noStrike">
                  <a:solidFill>
                    <a:srgbClr val="FFFFFF"/>
                  </a:solidFill>
                  <a:latin typeface="Source Sans Pro"/>
                  <a:ea typeface="Source Sans Pro"/>
                  <a:cs typeface="Source Sans Pro"/>
                  <a:sym typeface="Source Sans Pro"/>
                </a:rPr>
                <a:t>Mercado laboral,</a:t>
              </a:r>
              <a:endParaRPr b="0" i="0" sz="1800" u="none" strike="noStrike">
                <a:solidFill>
                  <a:srgbClr val="FFFFFF"/>
                </a:solidFill>
                <a:latin typeface="Source Sans Pro"/>
                <a:ea typeface="Source Sans Pro"/>
                <a:cs typeface="Source Sans Pro"/>
                <a:sym typeface="Source Sans Pro"/>
              </a:endParaRPr>
            </a:p>
            <a:p>
              <a:pPr indent="0" lvl="0" marL="0" rtl="0" algn="l">
                <a:spcBef>
                  <a:spcPts val="600"/>
                </a:spcBef>
                <a:spcAft>
                  <a:spcPts val="600"/>
                </a:spcAft>
                <a:buNone/>
              </a:pPr>
              <a:r>
                <a:rPr b="0" i="0" lang="es" sz="1800" u="none" strike="noStrike">
                  <a:solidFill>
                    <a:srgbClr val="FFFFFF"/>
                  </a:solidFill>
                  <a:latin typeface="Source Sans Pro"/>
                  <a:ea typeface="Source Sans Pro"/>
                  <a:cs typeface="Source Sans Pro"/>
                  <a:sym typeface="Source Sans Pro"/>
                </a:rPr>
                <a:t>¿cuál conviene más?</a:t>
              </a:r>
              <a:endParaRPr b="0" i="0" sz="1800" u="none" strike="noStrike">
                <a:solidFill>
                  <a:srgbClr val="FFFFFF"/>
                </a:solidFill>
                <a:latin typeface="Material Icons"/>
                <a:ea typeface="Material Icons"/>
                <a:cs typeface="Material Icons"/>
                <a:sym typeface="Material Icons"/>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29" name="Shape 1129"/>
        <p:cNvGrpSpPr/>
        <p:nvPr/>
      </p:nvGrpSpPr>
      <p:grpSpPr>
        <a:xfrm>
          <a:off x="0" y="0"/>
          <a:ext cx="0" cy="0"/>
          <a:chOff x="0" y="0"/>
          <a:chExt cx="0" cy="0"/>
        </a:xfrm>
      </p:grpSpPr>
      <p:sp>
        <p:nvSpPr>
          <p:cNvPr id="1130" name="Google Shape;1130;p127"/>
          <p:cNvSpPr/>
          <p:nvPr/>
        </p:nvSpPr>
        <p:spPr>
          <a:xfrm>
            <a:off x="0" y="1744025"/>
            <a:ext cx="9144000" cy="3399600"/>
          </a:xfrm>
          <a:prstGeom prst="rect">
            <a:avLst/>
          </a:prstGeom>
          <a:solidFill>
            <a:srgbClr val="1717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latin typeface="Source Sans Pro"/>
              <a:ea typeface="Source Sans Pro"/>
              <a:cs typeface="Source Sans Pro"/>
              <a:sym typeface="Source Sans Pro"/>
            </a:endParaRPr>
          </a:p>
        </p:txBody>
      </p:sp>
      <p:sp>
        <p:nvSpPr>
          <p:cNvPr id="1131" name="Google Shape;1131;p127"/>
          <p:cNvSpPr txBox="1"/>
          <p:nvPr/>
        </p:nvSpPr>
        <p:spPr>
          <a:xfrm>
            <a:off x="3074400" y="448275"/>
            <a:ext cx="2995200" cy="8772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s" sz="4500">
                <a:solidFill>
                  <a:schemeClr val="lt1"/>
                </a:solidFill>
                <a:latin typeface="Source Sans Pro"/>
                <a:ea typeface="Source Sans Pro"/>
                <a:cs typeface="Source Sans Pro"/>
                <a:sym typeface="Source Sans Pro"/>
              </a:rPr>
              <a:t>POC ORM</a:t>
            </a:r>
            <a:endParaRPr b="1" sz="4500">
              <a:solidFill>
                <a:schemeClr val="lt1"/>
              </a:solidFill>
              <a:latin typeface="Source Sans Pro"/>
              <a:ea typeface="Source Sans Pro"/>
              <a:cs typeface="Source Sans Pro"/>
              <a:sym typeface="Source Sans Pro"/>
            </a:endParaRPr>
          </a:p>
        </p:txBody>
      </p:sp>
      <p:sp>
        <p:nvSpPr>
          <p:cNvPr id="1132" name="Google Shape;1132;p127"/>
          <p:cNvSpPr txBox="1"/>
          <p:nvPr/>
        </p:nvSpPr>
        <p:spPr>
          <a:xfrm>
            <a:off x="1378625" y="3307450"/>
            <a:ext cx="2796600" cy="15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lt1"/>
                </a:solidFill>
                <a:latin typeface="Source Sans Pro"/>
                <a:ea typeface="Source Sans Pro"/>
                <a:cs typeface="Source Sans Pro"/>
                <a:sym typeface="Source Sans Pro"/>
              </a:rPr>
              <a:t>53742 - Nicolás Bolzico</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0"/>
              </a:spcAft>
              <a:buNone/>
            </a:pPr>
            <a:r>
              <a:rPr lang="es" sz="2000">
                <a:solidFill>
                  <a:schemeClr val="lt1"/>
                </a:solidFill>
                <a:latin typeface="Source Sans Pro"/>
                <a:ea typeface="Source Sans Pro"/>
                <a:cs typeface="Source Sans Pro"/>
                <a:sym typeface="Source Sans Pro"/>
              </a:rPr>
              <a:t>53952 - Martín Cabrera</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000">
                <a:solidFill>
                  <a:schemeClr val="lt1"/>
                </a:solidFill>
                <a:latin typeface="Source Sans Pro"/>
                <a:ea typeface="Source Sans Pro"/>
                <a:cs typeface="Source Sans Pro"/>
                <a:sym typeface="Source Sans Pro"/>
              </a:rPr>
              <a:t>52285 - Agustín Gregoret</a:t>
            </a:r>
            <a:endParaRPr sz="2000">
              <a:solidFill>
                <a:schemeClr val="lt1"/>
              </a:solidFill>
              <a:latin typeface="Source Sans Pro"/>
              <a:ea typeface="Source Sans Pro"/>
              <a:cs typeface="Source Sans Pro"/>
              <a:sym typeface="Source Sans Pro"/>
            </a:endParaRPr>
          </a:p>
        </p:txBody>
      </p:sp>
      <p:sp>
        <p:nvSpPr>
          <p:cNvPr id="1133" name="Google Shape;1133;p127"/>
          <p:cNvSpPr txBox="1"/>
          <p:nvPr/>
        </p:nvSpPr>
        <p:spPr>
          <a:xfrm>
            <a:off x="4851207" y="3307450"/>
            <a:ext cx="2874900" cy="1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000">
                <a:solidFill>
                  <a:schemeClr val="lt1"/>
                </a:solidFill>
                <a:latin typeface="Source Sans Pro"/>
                <a:ea typeface="Source Sans Pro"/>
                <a:cs typeface="Source Sans Pro"/>
                <a:sym typeface="Source Sans Pro"/>
              </a:rPr>
              <a:t>54326- Roque Doino</a:t>
            </a:r>
            <a:endParaRPr sz="2000">
              <a:solidFill>
                <a:schemeClr val="lt1"/>
              </a:solidFill>
              <a:latin typeface="Source Sans Pro"/>
              <a:ea typeface="Source Sans Pro"/>
              <a:cs typeface="Source Sans Pro"/>
              <a:sym typeface="Source Sans Pro"/>
            </a:endParaRPr>
          </a:p>
          <a:p>
            <a:pPr indent="0" lvl="0" marL="0" rtl="0" algn="l">
              <a:lnSpc>
                <a:spcPct val="115000"/>
              </a:lnSpc>
              <a:spcBef>
                <a:spcPts val="1200"/>
              </a:spcBef>
              <a:spcAft>
                <a:spcPts val="1200"/>
              </a:spcAft>
              <a:buNone/>
            </a:pPr>
            <a:r>
              <a:rPr lang="es" sz="2000">
                <a:solidFill>
                  <a:schemeClr val="lt1"/>
                </a:solidFill>
                <a:latin typeface="Source Sans Pro"/>
                <a:ea typeface="Source Sans Pro"/>
                <a:cs typeface="Source Sans Pro"/>
                <a:sym typeface="Source Sans Pro"/>
              </a:rPr>
              <a:t>54689- Juan Pablo Villa</a:t>
            </a:r>
            <a:endParaRPr sz="2000">
              <a:solidFill>
                <a:schemeClr val="lt1"/>
              </a:solidFill>
              <a:latin typeface="Source Sans Pro"/>
              <a:ea typeface="Source Sans Pro"/>
              <a:cs typeface="Source Sans Pro"/>
              <a:sym typeface="Source Sans Pro"/>
            </a:endParaRPr>
          </a:p>
        </p:txBody>
      </p:sp>
      <p:sp>
        <p:nvSpPr>
          <p:cNvPr id="1134" name="Google Shape;1134;p127"/>
          <p:cNvSpPr/>
          <p:nvPr/>
        </p:nvSpPr>
        <p:spPr>
          <a:xfrm>
            <a:off x="5283796" y="1956150"/>
            <a:ext cx="2009700" cy="1231200"/>
          </a:xfrm>
          <a:prstGeom prst="rect">
            <a:avLst/>
          </a:prstGeom>
          <a:noFill/>
          <a:ln cap="flat" cmpd="sng" w="38100">
            <a:solidFill>
              <a:srgbClr val="C5F74F"/>
            </a:solidFill>
            <a:prstDash val="solid"/>
            <a:round/>
            <a:headEnd len="sm" w="sm" type="none"/>
            <a:tailEnd len="sm" w="sm" type="none"/>
          </a:ln>
        </p:spPr>
        <p:txBody>
          <a:bodyPr anchorCtr="0" anchor="b"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Raleway"/>
                <a:ea typeface="Raleway"/>
                <a:cs typeface="Raleway"/>
                <a:sym typeface="Raleway"/>
              </a:rPr>
              <a:t>DRIZZLE</a:t>
            </a:r>
            <a:endParaRPr sz="3100">
              <a:solidFill>
                <a:schemeClr val="lt1"/>
              </a:solidFill>
              <a:latin typeface="Source Sans Pro"/>
              <a:ea typeface="Source Sans Pro"/>
              <a:cs typeface="Source Sans Pro"/>
              <a:sym typeface="Source Sans Pro"/>
            </a:endParaRPr>
          </a:p>
        </p:txBody>
      </p:sp>
      <p:grpSp>
        <p:nvGrpSpPr>
          <p:cNvPr id="1135" name="Google Shape;1135;p127"/>
          <p:cNvGrpSpPr/>
          <p:nvPr/>
        </p:nvGrpSpPr>
        <p:grpSpPr>
          <a:xfrm>
            <a:off x="1802978" y="1956149"/>
            <a:ext cx="1947900" cy="1231200"/>
            <a:chOff x="590925" y="1908362"/>
            <a:chExt cx="1947900" cy="1231200"/>
          </a:xfrm>
        </p:grpSpPr>
        <p:sp>
          <p:nvSpPr>
            <p:cNvPr id="1136" name="Google Shape;1136;p127"/>
            <p:cNvSpPr/>
            <p:nvPr/>
          </p:nvSpPr>
          <p:spPr>
            <a:xfrm>
              <a:off x="590925" y="1908362"/>
              <a:ext cx="1947900" cy="1231200"/>
            </a:xfrm>
            <a:prstGeom prst="rect">
              <a:avLst/>
            </a:prstGeom>
            <a:noFill/>
            <a:ln cap="flat" cmpd="sng" w="38100">
              <a:solidFill>
                <a:srgbClr val="6178F2"/>
              </a:solidFill>
              <a:prstDash val="solid"/>
              <a:round/>
              <a:headEnd len="sm" w="sm" type="none"/>
              <a:tailEnd len="sm" w="sm" type="none"/>
            </a:ln>
          </p:spPr>
          <p:txBody>
            <a:bodyPr anchorCtr="0" anchor="b" bIns="90000" lIns="91425" spcFirstLastPara="1" rIns="91425" wrap="square" tIns="91425">
              <a:noAutofit/>
            </a:bodyPr>
            <a:lstStyle/>
            <a:p>
              <a:pPr indent="0" lvl="0" marL="0" rtl="0" algn="ctr">
                <a:spcBef>
                  <a:spcPts val="0"/>
                </a:spcBef>
                <a:spcAft>
                  <a:spcPts val="0"/>
                </a:spcAft>
                <a:buNone/>
              </a:pPr>
              <a:r>
                <a:rPr b="1" lang="es" sz="3000">
                  <a:solidFill>
                    <a:schemeClr val="lt1"/>
                  </a:solidFill>
                  <a:latin typeface="Raleway"/>
                  <a:ea typeface="Raleway"/>
                  <a:cs typeface="Raleway"/>
                  <a:sym typeface="Raleway"/>
                </a:rPr>
                <a:t>PRISMA</a:t>
              </a:r>
              <a:endParaRPr sz="3100">
                <a:solidFill>
                  <a:schemeClr val="lt1"/>
                </a:solidFill>
                <a:latin typeface="Source Sans Pro"/>
                <a:ea typeface="Source Sans Pro"/>
                <a:cs typeface="Source Sans Pro"/>
                <a:sym typeface="Source Sans Pro"/>
              </a:endParaRPr>
            </a:p>
          </p:txBody>
        </p:sp>
        <p:pic>
          <p:nvPicPr>
            <p:cNvPr id="1137" name="Google Shape;1137;p127" title="images.jpg"/>
            <p:cNvPicPr preferRelativeResize="0"/>
            <p:nvPr/>
          </p:nvPicPr>
          <p:blipFill>
            <a:blip r:embed="rId3">
              <a:alphaModFix/>
            </a:blip>
            <a:stretch>
              <a:fillRect/>
            </a:stretch>
          </p:blipFill>
          <p:spPr>
            <a:xfrm>
              <a:off x="1187775" y="1925600"/>
              <a:ext cx="754200" cy="754200"/>
            </a:xfrm>
            <a:prstGeom prst="rect">
              <a:avLst/>
            </a:prstGeom>
            <a:noFill/>
            <a:ln>
              <a:noFill/>
            </a:ln>
          </p:spPr>
        </p:pic>
      </p:grpSp>
      <p:pic>
        <p:nvPicPr>
          <p:cNvPr id="1138" name="Google Shape;1138;p127"/>
          <p:cNvPicPr preferRelativeResize="0"/>
          <p:nvPr/>
        </p:nvPicPr>
        <p:blipFill>
          <a:blip r:embed="rId4">
            <a:alphaModFix/>
          </a:blip>
          <a:stretch>
            <a:fillRect/>
          </a:stretch>
        </p:blipFill>
        <p:spPr>
          <a:xfrm>
            <a:off x="5920946" y="2051025"/>
            <a:ext cx="735400" cy="603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6D38CA"/>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